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drawings/drawing1.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70" r:id="rId7"/>
    <p:sldId id="268" r:id="rId8"/>
    <p:sldId id="269" r:id="rId9"/>
    <p:sldId id="261" r:id="rId10"/>
    <p:sldId id="271" r:id="rId11"/>
    <p:sldId id="262" r:id="rId12"/>
    <p:sldId id="273" r:id="rId13"/>
    <p:sldId id="272" r:id="rId14"/>
    <p:sldId id="263" r:id="rId15"/>
    <p:sldId id="274" r:id="rId16"/>
    <p:sldId id="275" r:id="rId17"/>
    <p:sldId id="264" r:id="rId18"/>
    <p:sldId id="265" r:id="rId19"/>
    <p:sldId id="266" r:id="rId20"/>
    <p:sldId id="276" r:id="rId33"/>
  </p:sldIdLst>
  <p:sldSz cx="12192000" cy="6858000"/>
  <p:notesSz cx="6858000" cy="9144000"/>
  <p:embeddedFontLst>
    <p:embeddedFont>
      <p:font typeface="微軟正黑體" panose="020B0604030504040204" pitchFamily="34" charset="-120"/>
      <p:regular r:id="rId22"/>
      <p:bold r:id="rId23"/>
    </p:embeddedFont>
    <p:embeddedFont>
      <p:font typeface="Cambria Math" panose="02040503050406030204" pitchFamily="18" charset="0"/>
      <p:regular r:id="rId24"/>
    </p:embeddedFont>
    <p:embeddedFont>
      <p:font typeface="Calibri" panose="020F0502020204030204" pitchFamily="34" charset="0"/>
      <p:regular r:id="rId25"/>
      <p:bold r:id="rId26"/>
      <p:italic r:id="rId27"/>
      <p:boldItalic r:id="rId28"/>
    </p:embeddedFont>
    <p:embeddedFont>
      <p:font typeface="微軟正黑體" panose="020B0604030504040204" pitchFamily="34" charset="-120"/>
      <p:regular r:id="rId22"/>
      <p:bold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4D241C44-977F-4403-9CE4-F75A5EDBC839}">
          <p14:sldIdLst>
            <p14:sldId id="256"/>
            <p14:sldId id="257"/>
            <p14:sldId id="258"/>
            <p14:sldId id="259"/>
            <p14:sldId id="260"/>
            <p14:sldId id="270"/>
            <p14:sldId id="268"/>
            <p14:sldId id="269"/>
            <p14:sldId id="261"/>
            <p14:sldId id="271"/>
            <p14:sldId id="262"/>
            <p14:sldId id="273"/>
            <p14:sldId id="272"/>
          </p14:sldIdLst>
        </p14:section>
        <p14:section name="未命名的章節" id="{290F005D-4519-4B08-8B96-CEA3630E709E}">
          <p14:sldIdLst>
            <p14:sldId id="263"/>
            <p14:sldId id="274"/>
            <p14:sldId id="275"/>
            <p14:sldId id="264"/>
            <p14:sldId id="265"/>
            <p14:sldId id="26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1239"/>
    <a:srgbClr val="7BA1CE"/>
    <a:srgbClr val="FA1249"/>
    <a:srgbClr val="EEEEEE"/>
    <a:srgbClr val="1F724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539" autoAdjust="0"/>
  </p:normalViewPr>
  <p:slideViewPr>
    <p:cSldViewPr snapToGrid="0" snapToObjects="1">
      <p:cViewPr>
        <p:scale>
          <a:sx n="75" d="100"/>
          <a:sy n="75" d="100"/>
        </p:scale>
        <p:origin x="1282" y="965"/>
      </p:cViewPr>
      <p:guideLst>
        <p:guide orient="horz" pos="2160"/>
        <p:guide pos="2880"/>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C:\Users\LinKJ\Desktop\Graduation-Project\Sampling_Rate_Analysis.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C:\Users\LinKJ\Desktop\Graduation-Project\Sampling_Rate_Analysis.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C:\Users\LinKJ\Desktop\Graduation-Project\Sampling_Rate_Analysis.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file:///C:\Users\LinKJ\Desktop\Graduation-Project\Sampling_Rate_Analysis.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file:///C:\Users\LinKJ\Desktop\Graduation-Project\finaltest\Phase9_&#36890;&#36947;&#33287;denoise&#26368;&#32066;&#27770;&#31574;&#20998;&#26512;_&#35079;&#26680;&#29256;.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LinKJ\Desktop\Graduation-Project\&#26178;&#24207;&#21435;&#37325;&#28436;&#31639;&#27861;&#20778;&#21270;&#23526;&#39511;&#20998;&#26512;.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LinKJ\Desktop\Graduation-Project\&#26178;&#24207;&#21435;&#37325;&#28436;&#31639;&#27861;&#20778;&#21270;&#23526;&#39511;&#20998;&#26512;.xlsx" TargetMode="External"/></Relationships>
</file>

<file path=ppt/charts/_rels/chart8.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file:///C:\Users\LinKJ\Desktop\phase%205%20&#20998;&#26512;.xlsx" TargetMode="External"/></Relationships>
</file>

<file path=ppt/charts/_rels/chart9.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file:///C:\Users\LinKJ\Desktop\phase%205%20&#20998;&#26512;.xlsx" TargetMode="Externa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TW" sz="2400" dirty="0"/>
              <a:t>識別效率</a:t>
            </a:r>
            <a:r>
              <a:rPr lang="en-US" sz="2400" dirty="0"/>
              <a:t>:</a:t>
            </a:r>
            <a:r>
              <a:rPr lang="zh-TW" sz="2400" dirty="0"/>
              <a:t>不顯著</a:t>
            </a:r>
            <a:r>
              <a:rPr lang="en-US" sz="2400" dirty="0"/>
              <a:t>,</a:t>
            </a:r>
            <a:r>
              <a:rPr lang="zh-TW" sz="2400" dirty="0"/>
              <a:t>平均</a:t>
            </a:r>
            <a:r>
              <a:rPr lang="en-US" sz="2400" dirty="0"/>
              <a:t>75%</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p>
      </c:txPr>
    </c:title>
    <c:autoTitleDeleted val="0"/>
    <c:plotArea>
      <c:layout/>
      <c:scatterChart>
        <c:scatterStyle val="lineMarker"/>
        <c:varyColors val="0"/>
        <c:ser>
          <c:idx val="0"/>
          <c:order val="0"/>
          <c:tx>
            <c:strRef>
              <c:f>Data!$C$1</c:f>
              <c:strCache>
                <c:ptCount val="1"/>
                <c:pt idx="0">
                  <c:v>OCR總耗時(s)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dLbls>
            <c:numFmt formatCode="#,##0.0_);[Red]\(#,##0.0\)" sourceLinked="0"/>
            <c:spPr>
              <a:solidFill>
                <a:schemeClr val="lt1"/>
              </a:solidFill>
              <a:ln>
                <a:solidFill>
                  <a:schemeClr val="dk1">
                    <a:lumMod val="25000"/>
                    <a:lumOff val="75000"/>
                  </a:scheme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zh-TW"/>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layout/>
                <c15:showLeaderLines val="1"/>
                <c15:leaderLines>
                  <c:spPr>
                    <a:ln w="9525" cap="flat" cmpd="sng" algn="ctr">
                      <a:solidFill>
                        <a:schemeClr val="tx1">
                          <a:lumMod val="35000"/>
                          <a:lumOff val="65000"/>
                        </a:schemeClr>
                      </a:solidFill>
                      <a:round/>
                    </a:ln>
                    <a:effectLst/>
                  </c:spPr>
                </c15:leaderLines>
              </c:ext>
            </c:extLst>
          </c:dLbls>
          <c:xVal>
            <c:numRef>
              <c:f>Data!$A$2:$A$17</c:f>
              <c:numCache>
                <c:formatCode>General</c:formatCode>
                <c:ptCount val="16"/>
                <c:pt idx="0">
                  <c:v>0.25</c:v>
                </c:pt>
                <c:pt idx="1">
                  <c:v>0.375</c:v>
                </c:pt>
                <c:pt idx="2">
                  <c:v>0.5</c:v>
                </c:pt>
                <c:pt idx="3">
                  <c:v>0.6</c:v>
                </c:pt>
                <c:pt idx="4">
                  <c:v>0.7</c:v>
                </c:pt>
                <c:pt idx="5">
                  <c:v>0.8</c:v>
                </c:pt>
                <c:pt idx="6">
                  <c:v>0.9</c:v>
                </c:pt>
                <c:pt idx="7">
                  <c:v>1</c:v>
                </c:pt>
                <c:pt idx="8">
                  <c:v>1.1000000000000001</c:v>
                </c:pt>
                <c:pt idx="9">
                  <c:v>1.2</c:v>
                </c:pt>
                <c:pt idx="10">
                  <c:v>1.3</c:v>
                </c:pt>
                <c:pt idx="11">
                  <c:v>1.4</c:v>
                </c:pt>
                <c:pt idx="12">
                  <c:v>1.5</c:v>
                </c:pt>
                <c:pt idx="13">
                  <c:v>2</c:v>
                </c:pt>
                <c:pt idx="14">
                  <c:v>2.5</c:v>
                </c:pt>
                <c:pt idx="15">
                  <c:v>3</c:v>
                </c:pt>
              </c:numCache>
            </c:numRef>
          </c:xVal>
          <c:yVal>
            <c:numRef>
              <c:f>Data!$G$2:$G$17</c:f>
              <c:numCache>
                <c:formatCode>General</c:formatCode>
                <c:ptCount val="16"/>
                <c:pt idx="0">
                  <c:v>75.8</c:v>
                </c:pt>
                <c:pt idx="1">
                  <c:v>81.099999999999994</c:v>
                </c:pt>
                <c:pt idx="2">
                  <c:v>74</c:v>
                </c:pt>
                <c:pt idx="3">
                  <c:v>77.7</c:v>
                </c:pt>
                <c:pt idx="4">
                  <c:v>76.099999999999994</c:v>
                </c:pt>
                <c:pt idx="5">
                  <c:v>75</c:v>
                </c:pt>
                <c:pt idx="6">
                  <c:v>77.2</c:v>
                </c:pt>
                <c:pt idx="7">
                  <c:v>73.5</c:v>
                </c:pt>
                <c:pt idx="8">
                  <c:v>75.3</c:v>
                </c:pt>
                <c:pt idx="9">
                  <c:v>76.5</c:v>
                </c:pt>
                <c:pt idx="10">
                  <c:v>77.599999999999994</c:v>
                </c:pt>
                <c:pt idx="11">
                  <c:v>74.099999999999994</c:v>
                </c:pt>
                <c:pt idx="12">
                  <c:v>76</c:v>
                </c:pt>
                <c:pt idx="13">
                  <c:v>73.7</c:v>
                </c:pt>
                <c:pt idx="14">
                  <c:v>75.2</c:v>
                </c:pt>
                <c:pt idx="15">
                  <c:v>74.400000000000006</c:v>
                </c:pt>
              </c:numCache>
            </c:numRef>
          </c:yVal>
          <c:smooth val="0"/>
          <c:extLst>
            <c:ext xmlns:c16="http://schemas.microsoft.com/office/drawing/2014/chart" uri="{C3380CC4-5D6E-409C-BE32-E72D297353CC}">
              <c16:uniqueId val="{00000000-F860-43B3-BD9E-08EF5949ADE9}"/>
            </c:ext>
          </c:extLst>
        </c:ser>
        <c:dLbls>
          <c:dLblPos val="t"/>
          <c:showLegendKey val="0"/>
          <c:showVal val="1"/>
          <c:showCatName val="0"/>
          <c:showSerName val="0"/>
          <c:showPercent val="0"/>
          <c:showBubbleSize val="0"/>
        </c:dLbls>
        <c:axId val="517645544"/>
        <c:axId val="517647184"/>
      </c:scatterChart>
      <c:valAx>
        <c:axId val="51764554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zh-TW" sz="1800" dirty="0"/>
                  <a:t>取樣率</a:t>
                </a:r>
                <a:r>
                  <a:rPr lang="en-US" sz="1800" dirty="0"/>
                  <a:t>(FPS)</a:t>
                </a:r>
              </a:p>
            </c:rich>
          </c:tx>
          <c:layout>
            <c:manualLayout>
              <c:xMode val="edge"/>
              <c:yMode val="edge"/>
              <c:x val="0.39912470318253046"/>
              <c:y val="0.9265888851902973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TW"/>
            </a:p>
          </c:txPr>
        </c:title>
        <c:numFmt formatCode="General"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517647184"/>
        <c:crosses val="autoZero"/>
        <c:crossBetween val="midCat"/>
      </c:valAx>
      <c:valAx>
        <c:axId val="517647184"/>
        <c:scaling>
          <c:orientation val="minMax"/>
          <c:max val="85"/>
          <c:min val="7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vert="wordArtVertRtl" wrap="square" anchor="ctr" anchorCtr="1"/>
              <a:lstStyle/>
              <a:p>
                <a:pPr>
                  <a:defRPr sz="1000" b="0" i="0" u="none" strike="noStrike" kern="1200" baseline="0">
                    <a:solidFill>
                      <a:schemeClr val="tx1">
                        <a:lumMod val="65000"/>
                        <a:lumOff val="35000"/>
                      </a:schemeClr>
                    </a:solidFill>
                    <a:latin typeface="+mn-lt"/>
                    <a:ea typeface="+mn-ea"/>
                    <a:cs typeface="+mn-cs"/>
                  </a:defRPr>
                </a:pPr>
                <a:r>
                  <a:rPr lang="zh-TW" sz="1800" dirty="0"/>
                  <a:t>字典</a:t>
                </a:r>
                <a:r>
                  <a:rPr lang="zh-TW" sz="1800" dirty="0" smtClean="0"/>
                  <a:t>命中率</a:t>
                </a:r>
                <a:r>
                  <a:rPr lang="en-US" altLang="zh-TW" sz="1800" dirty="0" smtClean="0"/>
                  <a:t>(%)</a:t>
                </a:r>
                <a:endParaRPr lang="en-US" sz="1800" dirty="0"/>
              </a:p>
            </c:rich>
          </c:tx>
          <c:layout>
            <c:manualLayout>
              <c:xMode val="edge"/>
              <c:yMode val="edge"/>
              <c:x val="2.0923259405501618E-2"/>
              <c:y val="0.35395311075735819"/>
            </c:manualLayout>
          </c:layout>
          <c:overlay val="0"/>
          <c:spPr>
            <a:noFill/>
            <a:ln>
              <a:noFill/>
            </a:ln>
            <a:effectLst/>
          </c:spPr>
          <c:txPr>
            <a:bodyPr rot="0" spcFirstLastPara="1" vertOverflow="ellipsis" vert="wordArtVertRtl"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TW"/>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51764554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TW" sz="2400" dirty="0"/>
              <a:t>運算成本</a:t>
            </a:r>
            <a:r>
              <a:rPr lang="en-US" sz="2400" dirty="0"/>
              <a:t>:</a:t>
            </a:r>
            <a:r>
              <a:rPr lang="zh-TW" sz="2400" dirty="0"/>
              <a:t>顯著正相關</a:t>
            </a:r>
            <a:endParaRPr lang="en-US" sz="2400" dirty="0"/>
          </a:p>
        </c:rich>
      </c:tx>
      <c:layout>
        <c:manualLayout>
          <c:xMode val="edge"/>
          <c:yMode val="edge"/>
          <c:x val="0.23107344632768362"/>
          <c:y val="1.8518518518518517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p>
      </c:txPr>
    </c:title>
    <c:autoTitleDeleted val="0"/>
    <c:plotArea>
      <c:layout>
        <c:manualLayout>
          <c:layoutTarget val="inner"/>
          <c:xMode val="edge"/>
          <c:yMode val="edge"/>
          <c:x val="0.1643031727283335"/>
          <c:y val="9.4870370370370369E-2"/>
          <c:w val="0.80022794608301084"/>
          <c:h val="0.8069383202099738"/>
        </c:manualLayout>
      </c:layout>
      <c:scatterChart>
        <c:scatterStyle val="lineMarker"/>
        <c:varyColors val="0"/>
        <c:ser>
          <c:idx val="0"/>
          <c:order val="0"/>
          <c:tx>
            <c:strRef>
              <c:f>Data!$C$1</c:f>
              <c:strCache>
                <c:ptCount val="1"/>
                <c:pt idx="0">
                  <c:v>OCR總耗時(s)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5.3024316949398881E-2"/>
                  <c:y val="-3.6097258675998833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6CD3-4E4F-A767-0609F876D7FB}"/>
                </c:ext>
              </c:extLst>
            </c:dLbl>
            <c:dLbl>
              <c:idx val="1"/>
              <c:layout>
                <c:manualLayout>
                  <c:x val="-1.0291561840464927E-3"/>
                  <c:y val="3.4273111694371534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6CD3-4E4F-A767-0609F876D7FB}"/>
                </c:ext>
              </c:extLst>
            </c:dLbl>
            <c:dLbl>
              <c:idx val="2"/>
              <c:layout>
                <c:manualLayout>
                  <c:x val="-6.6023107140737017E-2"/>
                  <c:y val="-3.7949110527850688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6CD3-4E4F-A767-0609F876D7FB}"/>
                </c:ext>
              </c:extLst>
            </c:dLbl>
            <c:dLbl>
              <c:idx val="3"/>
              <c:layout>
                <c:manualLayout>
                  <c:x val="1.1969634007291605E-2"/>
                  <c:y val="2.1310148731408574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6CD3-4E4F-A767-0609F876D7FB}"/>
                </c:ext>
              </c:extLst>
            </c:dLbl>
            <c:dLbl>
              <c:idx val="4"/>
              <c:layout>
                <c:manualLayout>
                  <c:x val="-5.7357247013178285E-2"/>
                  <c:y val="-3.7949110527850688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6CD3-4E4F-A767-0609F876D7FB}"/>
                </c:ext>
              </c:extLst>
            </c:dLbl>
            <c:dLbl>
              <c:idx val="5"/>
              <c:layout>
                <c:manualLayout>
                  <c:x val="2.6528279021590273E-2"/>
                  <c:y val="4.6434820647419071E-3"/>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6CD3-4E4F-A767-0609F876D7FB}"/>
                </c:ext>
              </c:extLst>
            </c:dLbl>
            <c:dLbl>
              <c:idx val="6"/>
              <c:layout>
                <c:manualLayout>
                  <c:x val="-5.5797392190217676E-2"/>
                  <c:y val="-3.2393554972295131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6-6CD3-4E4F-A767-0609F876D7FB}"/>
                </c:ext>
              </c:extLst>
            </c:dLbl>
            <c:dLbl>
              <c:idx val="7"/>
              <c:layout>
                <c:manualLayout>
                  <c:x val="2.4361813989700592E-2"/>
                  <c:y val="4.6434820647419071E-3"/>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6CD3-4E4F-A767-0609F876D7FB}"/>
                </c:ext>
              </c:extLst>
            </c:dLbl>
            <c:dLbl>
              <c:idx val="8"/>
              <c:layout>
                <c:manualLayout>
                  <c:x val="-6.2296787285886807E-2"/>
                  <c:y val="-3.7949110527850688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8-6CD3-4E4F-A767-0609F876D7FB}"/>
                </c:ext>
              </c:extLst>
            </c:dLbl>
            <c:dLbl>
              <c:idx val="9"/>
              <c:layout>
                <c:manualLayout>
                  <c:x val="3.302767411725932E-2"/>
                  <c:y val="-9.1207349081371617E-4"/>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6CD3-4E4F-A767-0609F876D7FB}"/>
                </c:ext>
              </c:extLst>
            </c:dLbl>
            <c:dLbl>
              <c:idx val="10"/>
              <c:layout>
                <c:manualLayout>
                  <c:x val="-6.0130322253997046E-2"/>
                  <c:y val="-3.9800962379702605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A-6CD3-4E4F-A767-0609F876D7FB}"/>
                </c:ext>
              </c:extLst>
            </c:dLbl>
            <c:dLbl>
              <c:idx val="11"/>
              <c:layout>
                <c:manualLayout>
                  <c:x val="1.1363023798362414E-2"/>
                  <c:y val="6.4953339165937591E-3"/>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6CD3-4E4F-A767-0609F876D7FB}"/>
                </c:ext>
              </c:extLst>
            </c:dLbl>
            <c:dLbl>
              <c:idx val="12"/>
              <c:layout>
                <c:manualLayout>
                  <c:x val="-9.2627297732342281E-2"/>
                  <c:y val="-4.165281423155439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C-6CD3-4E4F-A767-0609F876D7FB}"/>
                </c:ext>
              </c:extLst>
            </c:dLbl>
            <c:dLbl>
              <c:idx val="13"/>
              <c:layout>
                <c:manualLayout>
                  <c:x val="-6.2296787285886807E-2"/>
                  <c:y val="-5.0912073490813649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E-6CD3-4E4F-A767-0609F876D7FB}"/>
                </c:ext>
              </c:extLst>
            </c:dLbl>
            <c:dLbl>
              <c:idx val="14"/>
              <c:layout>
                <c:manualLayout>
                  <c:x val="-7.0962647413445462E-2"/>
                  <c:y val="-3.2393554972295131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D-6CD3-4E4F-A767-0609F876D7FB}"/>
                </c:ext>
              </c:extLst>
            </c:dLbl>
            <c:numFmt formatCode="#,##0.0_);[Red]\(#,##0.0\)" sourceLinked="0"/>
            <c:spPr>
              <a:solidFill>
                <a:schemeClr val="lt1"/>
              </a:solidFill>
              <a:ln>
                <a:solidFill>
                  <a:schemeClr val="dk1">
                    <a:lumMod val="25000"/>
                    <a:lumOff val="75000"/>
                  </a:scheme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zh-TW"/>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layout/>
                <c15:showLeaderLines val="1"/>
                <c15:leaderLines>
                  <c:spPr>
                    <a:ln w="9525" cap="flat" cmpd="sng" algn="ctr">
                      <a:solidFill>
                        <a:schemeClr val="tx1">
                          <a:lumMod val="35000"/>
                          <a:lumOff val="65000"/>
                        </a:schemeClr>
                      </a:solidFill>
                      <a:round/>
                    </a:ln>
                    <a:effectLst/>
                  </c:spPr>
                </c15:leaderLines>
              </c:ext>
            </c:extLst>
          </c:dLbls>
          <c:xVal>
            <c:numRef>
              <c:f>Data!$A$2:$A$17</c:f>
              <c:numCache>
                <c:formatCode>General</c:formatCode>
                <c:ptCount val="16"/>
                <c:pt idx="0">
                  <c:v>0.25</c:v>
                </c:pt>
                <c:pt idx="1">
                  <c:v>0.375</c:v>
                </c:pt>
                <c:pt idx="2">
                  <c:v>0.5</c:v>
                </c:pt>
                <c:pt idx="3">
                  <c:v>0.6</c:v>
                </c:pt>
                <c:pt idx="4">
                  <c:v>0.7</c:v>
                </c:pt>
                <c:pt idx="5">
                  <c:v>0.8</c:v>
                </c:pt>
                <c:pt idx="6">
                  <c:v>0.9</c:v>
                </c:pt>
                <c:pt idx="7">
                  <c:v>1</c:v>
                </c:pt>
                <c:pt idx="8">
                  <c:v>1.1000000000000001</c:v>
                </c:pt>
                <c:pt idx="9">
                  <c:v>1.2</c:v>
                </c:pt>
                <c:pt idx="10">
                  <c:v>1.3</c:v>
                </c:pt>
                <c:pt idx="11">
                  <c:v>1.4</c:v>
                </c:pt>
                <c:pt idx="12">
                  <c:v>1.5</c:v>
                </c:pt>
                <c:pt idx="13">
                  <c:v>2</c:v>
                </c:pt>
                <c:pt idx="14">
                  <c:v>2.5</c:v>
                </c:pt>
                <c:pt idx="15">
                  <c:v>3</c:v>
                </c:pt>
              </c:numCache>
            </c:numRef>
          </c:xVal>
          <c:yVal>
            <c:numRef>
              <c:f>Data!$C$2:$C$17</c:f>
              <c:numCache>
                <c:formatCode>General</c:formatCode>
                <c:ptCount val="16"/>
                <c:pt idx="0">
                  <c:v>36.1</c:v>
                </c:pt>
                <c:pt idx="1">
                  <c:v>48.6</c:v>
                </c:pt>
                <c:pt idx="2">
                  <c:v>64.81</c:v>
                </c:pt>
                <c:pt idx="3">
                  <c:v>77.89</c:v>
                </c:pt>
                <c:pt idx="4">
                  <c:v>90.54</c:v>
                </c:pt>
                <c:pt idx="5">
                  <c:v>105.9</c:v>
                </c:pt>
                <c:pt idx="6">
                  <c:v>118.95</c:v>
                </c:pt>
                <c:pt idx="7">
                  <c:v>129.43</c:v>
                </c:pt>
                <c:pt idx="8">
                  <c:v>145.09</c:v>
                </c:pt>
                <c:pt idx="9">
                  <c:v>156.19999999999999</c:v>
                </c:pt>
                <c:pt idx="10">
                  <c:v>168.97</c:v>
                </c:pt>
                <c:pt idx="11">
                  <c:v>185.56</c:v>
                </c:pt>
                <c:pt idx="12">
                  <c:v>207.99</c:v>
                </c:pt>
                <c:pt idx="13">
                  <c:v>277.22000000000003</c:v>
                </c:pt>
                <c:pt idx="14">
                  <c:v>329.26</c:v>
                </c:pt>
                <c:pt idx="15">
                  <c:v>387.3</c:v>
                </c:pt>
              </c:numCache>
            </c:numRef>
          </c:yVal>
          <c:smooth val="0"/>
          <c:extLst>
            <c:ext xmlns:c16="http://schemas.microsoft.com/office/drawing/2014/chart" uri="{C3380CC4-5D6E-409C-BE32-E72D297353CC}">
              <c16:uniqueId val="{00000000-5C40-493A-8252-ABDD6D63229A}"/>
            </c:ext>
          </c:extLst>
        </c:ser>
        <c:dLbls>
          <c:dLblPos val="t"/>
          <c:showLegendKey val="0"/>
          <c:showVal val="1"/>
          <c:showCatName val="0"/>
          <c:showSerName val="0"/>
          <c:showPercent val="0"/>
          <c:showBubbleSize val="0"/>
        </c:dLbls>
        <c:axId val="517645544"/>
        <c:axId val="517647184"/>
      </c:scatterChart>
      <c:valAx>
        <c:axId val="51764554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zh-TW" sz="1800" dirty="0"/>
                  <a:t>取樣率</a:t>
                </a:r>
                <a:r>
                  <a:rPr lang="en-US" sz="1800" dirty="0"/>
                  <a:t>(FPS)</a:t>
                </a:r>
              </a:p>
            </c:rich>
          </c:tx>
          <c:layout>
            <c:manualLayout>
              <c:xMode val="edge"/>
              <c:yMode val="edge"/>
              <c:x val="0.39460492014769349"/>
              <c:y val="0.941356517935258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TW"/>
            </a:p>
          </c:txPr>
        </c:title>
        <c:numFmt formatCode="General"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517647184"/>
        <c:crosses val="autoZero"/>
        <c:crossBetween val="midCat"/>
      </c:valAx>
      <c:valAx>
        <c:axId val="5176471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vert="wordArtVertRtl" wrap="square" anchor="ctr" anchorCtr="1"/>
              <a:lstStyle/>
              <a:p>
                <a:pPr>
                  <a:defRPr sz="1000" b="0" i="0" u="none" strike="noStrike" kern="1200" baseline="0">
                    <a:solidFill>
                      <a:schemeClr val="tx1">
                        <a:lumMod val="65000"/>
                        <a:lumOff val="35000"/>
                      </a:schemeClr>
                    </a:solidFill>
                    <a:latin typeface="+mn-lt"/>
                    <a:ea typeface="+mn-ea"/>
                    <a:cs typeface="+mn-cs"/>
                  </a:defRPr>
                </a:pPr>
                <a:r>
                  <a:rPr lang="zh-TW" sz="1800" dirty="0"/>
                  <a:t>總耗時</a:t>
                </a:r>
                <a:r>
                  <a:rPr lang="en-US" sz="1800" dirty="0"/>
                  <a:t>(</a:t>
                </a:r>
                <a:r>
                  <a:rPr lang="zh-TW" sz="1800" dirty="0"/>
                  <a:t>秒</a:t>
                </a:r>
                <a:r>
                  <a:rPr lang="en-US" sz="1800" dirty="0"/>
                  <a:t>)</a:t>
                </a:r>
              </a:p>
            </c:rich>
          </c:tx>
          <c:layout>
            <c:manualLayout>
              <c:xMode val="edge"/>
              <c:yMode val="edge"/>
              <c:x val="2.0923172739000843E-2"/>
              <c:y val="0.39654578594342366"/>
            </c:manualLayout>
          </c:layout>
          <c:overlay val="0"/>
          <c:spPr>
            <a:noFill/>
            <a:ln>
              <a:noFill/>
            </a:ln>
            <a:effectLst/>
          </c:spPr>
          <c:txPr>
            <a:bodyPr rot="0" spcFirstLastPara="1" vertOverflow="ellipsis" vert="wordArtVertRtl"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TW"/>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51764554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TW" sz="2400" dirty="0"/>
              <a:t>資訊量</a:t>
            </a:r>
            <a:r>
              <a:rPr lang="en-US" sz="2400" dirty="0"/>
              <a:t>:</a:t>
            </a:r>
            <a:r>
              <a:rPr lang="zh-TW" sz="2400" dirty="0"/>
              <a:t>顯著正相關</a:t>
            </a:r>
            <a:r>
              <a:rPr lang="en-US" sz="2400" dirty="0" smtClean="0"/>
              <a:t>,</a:t>
            </a:r>
            <a:r>
              <a:rPr lang="zh-TW" sz="2400" dirty="0" smtClean="0"/>
              <a:t>邊際</a:t>
            </a:r>
            <a:r>
              <a:rPr lang="zh-TW" sz="2400" dirty="0"/>
              <a:t>效益遞減</a:t>
            </a:r>
            <a:endParaRPr lang="en-US" sz="2400" dirty="0"/>
          </a:p>
        </c:rich>
      </c:tx>
      <c:layout>
        <c:manualLayout>
          <c:xMode val="edge"/>
          <c:yMode val="edge"/>
          <c:x val="0.16520565074972063"/>
          <c:y val="1.481481481481481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p>
      </c:txPr>
    </c:title>
    <c:autoTitleDeleted val="0"/>
    <c:plotArea>
      <c:layout>
        <c:manualLayout>
          <c:layoutTarget val="inner"/>
          <c:xMode val="edge"/>
          <c:yMode val="edge"/>
          <c:x val="0.10573969524135376"/>
          <c:y val="0.10783333333333334"/>
          <c:w val="0.82913008419384526"/>
          <c:h val="0.7876698745990085"/>
        </c:manualLayout>
      </c:layout>
      <c:scatterChart>
        <c:scatterStyle val="lineMarker"/>
        <c:varyColors val="0"/>
        <c:ser>
          <c:idx val="0"/>
          <c:order val="0"/>
          <c:tx>
            <c:strRef>
              <c:f>Data!$D$2:$D$17</c:f>
              <c:strCache>
                <c:ptCount val="16"/>
                <c:pt idx="0">
                  <c:v>47</c:v>
                </c:pt>
                <c:pt idx="1">
                  <c:v>69</c:v>
                </c:pt>
                <c:pt idx="2">
                  <c:v>90</c:v>
                </c:pt>
                <c:pt idx="3">
                  <c:v>97</c:v>
                </c:pt>
                <c:pt idx="4">
                  <c:v>96</c:v>
                </c:pt>
                <c:pt idx="5">
                  <c:v>112</c:v>
                </c:pt>
                <c:pt idx="6">
                  <c:v>134</c:v>
                </c:pt>
                <c:pt idx="7">
                  <c:v>141</c:v>
                </c:pt>
                <c:pt idx="8">
                  <c:v>139</c:v>
                </c:pt>
                <c:pt idx="9">
                  <c:v>141</c:v>
                </c:pt>
                <c:pt idx="10">
                  <c:v>154</c:v>
                </c:pt>
                <c:pt idx="11">
                  <c:v>167</c:v>
                </c:pt>
                <c:pt idx="12">
                  <c:v>179</c:v>
                </c:pt>
                <c:pt idx="13">
                  <c:v>211</c:v>
                </c:pt>
                <c:pt idx="14">
                  <c:v>243</c:v>
                </c:pt>
                <c:pt idx="15">
                  <c:v>270</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2.112317042721374E-2"/>
                  <c:y val="-1.3875036453776612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809F-4CD4-9CA9-0F1854065E6A}"/>
                </c:ext>
              </c:extLst>
            </c:dLbl>
            <c:dLbl>
              <c:idx val="1"/>
              <c:layout>
                <c:manualLayout>
                  <c:x val="-7.3203929215958349E-2"/>
                  <c:y val="-2.4986147564887859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A-809F-4CD4-9CA9-0F1854065E6A}"/>
                </c:ext>
              </c:extLst>
            </c:dLbl>
            <c:dLbl>
              <c:idx val="2"/>
              <c:layout>
                <c:manualLayout>
                  <c:x val="-9.7287444018470365E-2"/>
                  <c:y val="-2.3134295713036008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809F-4CD4-9CA9-0F1854065E6A}"/>
                </c:ext>
              </c:extLst>
            </c:dLbl>
            <c:dLbl>
              <c:idx val="3"/>
              <c:layout>
                <c:manualLayout>
                  <c:x val="-6.9022728594097638E-2"/>
                  <c:y val="-5.2890347039953274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809F-4CD4-9CA9-0F1854065E6A}"/>
                </c:ext>
              </c:extLst>
            </c:dLbl>
            <c:dLbl>
              <c:idx val="4"/>
              <c:layout>
                <c:manualLayout>
                  <c:x val="4.1154654100245436E-2"/>
                  <c:y val="3.0442986293379996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809F-4CD4-9CA9-0F1854065E6A}"/>
                </c:ext>
              </c:extLst>
            </c:dLbl>
            <c:dLbl>
              <c:idx val="5"/>
              <c:layout>
                <c:manualLayout>
                  <c:x val="-9.8601071425201289E-2"/>
                  <c:y val="-6.5853310002916374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809F-4CD4-9CA9-0F1854065E6A}"/>
                </c:ext>
              </c:extLst>
            </c:dLbl>
            <c:dLbl>
              <c:idx val="6"/>
              <c:layout>
                <c:manualLayout>
                  <c:x val="1.9308057423130767E-2"/>
                  <c:y val="7.859113444152814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809F-4CD4-9CA9-0F1854065E6A}"/>
                </c:ext>
              </c:extLst>
            </c:dLbl>
            <c:dLbl>
              <c:idx val="7"/>
              <c:layout>
                <c:manualLayout>
                  <c:x val="-5.800940411675911E-2"/>
                  <c:y val="-3.9927384076990445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809F-4CD4-9CA9-0F1854065E6A}"/>
                </c:ext>
              </c:extLst>
            </c:dLbl>
            <c:dLbl>
              <c:idx val="8"/>
              <c:layout>
                <c:manualLayout>
                  <c:x val="-3.8871810388361955E-3"/>
                  <c:y val="2.8591134441528141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6-809F-4CD4-9CA9-0F1854065E6A}"/>
                </c:ext>
              </c:extLst>
            </c:dLbl>
            <c:dLbl>
              <c:idx val="9"/>
              <c:layout>
                <c:manualLayout>
                  <c:x val="-6.336413831902124E-2"/>
                  <c:y val="-7.6964421114027418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809F-4CD4-9CA9-0F1854065E6A}"/>
                </c:ext>
              </c:extLst>
            </c:dLbl>
            <c:dLbl>
              <c:idx val="10"/>
              <c:layout>
                <c:manualLayout>
                  <c:x val="2.5106867038622437E-2"/>
                  <c:y val="2.3035578885972519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8-809F-4CD4-9CA9-0F1854065E6A}"/>
                </c:ext>
              </c:extLst>
            </c:dLbl>
            <c:dLbl>
              <c:idx val="14"/>
              <c:layout>
                <c:manualLayout>
                  <c:x val="-6.7744999194055605E-2"/>
                  <c:y val="-3.0541703120443277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C-809F-4CD4-9CA9-0F1854065E6A}"/>
                </c:ext>
              </c:extLst>
            </c:dLbl>
            <c:numFmt formatCode="#,##0.0_);[Red]\(#,##0.0\)" sourceLinked="0"/>
            <c:spPr>
              <a:solidFill>
                <a:schemeClr val="lt1"/>
              </a:solidFill>
              <a:ln>
                <a:solidFill>
                  <a:schemeClr val="dk1">
                    <a:lumMod val="25000"/>
                    <a:lumOff val="75000"/>
                  </a:scheme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zh-TW"/>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layout/>
                <c15:showLeaderLines val="1"/>
                <c15:leaderLines>
                  <c:spPr>
                    <a:ln w="9525" cap="flat" cmpd="sng" algn="ctr">
                      <a:solidFill>
                        <a:schemeClr val="tx1">
                          <a:lumMod val="35000"/>
                          <a:lumOff val="65000"/>
                        </a:schemeClr>
                      </a:solidFill>
                      <a:round/>
                    </a:ln>
                    <a:effectLst/>
                  </c:spPr>
                </c15:leaderLines>
              </c:ext>
            </c:extLst>
          </c:dLbls>
          <c:xVal>
            <c:numRef>
              <c:f>Data!$A$2:$A$17</c:f>
              <c:numCache>
                <c:formatCode>General</c:formatCode>
                <c:ptCount val="16"/>
                <c:pt idx="0">
                  <c:v>0.25</c:v>
                </c:pt>
                <c:pt idx="1">
                  <c:v>0.375</c:v>
                </c:pt>
                <c:pt idx="2">
                  <c:v>0.5</c:v>
                </c:pt>
                <c:pt idx="3">
                  <c:v>0.6</c:v>
                </c:pt>
                <c:pt idx="4">
                  <c:v>0.7</c:v>
                </c:pt>
                <c:pt idx="5">
                  <c:v>0.8</c:v>
                </c:pt>
                <c:pt idx="6">
                  <c:v>0.9</c:v>
                </c:pt>
                <c:pt idx="7">
                  <c:v>1</c:v>
                </c:pt>
                <c:pt idx="8">
                  <c:v>1.1000000000000001</c:v>
                </c:pt>
                <c:pt idx="9">
                  <c:v>1.2</c:v>
                </c:pt>
                <c:pt idx="10">
                  <c:v>1.3</c:v>
                </c:pt>
                <c:pt idx="11">
                  <c:v>1.4</c:v>
                </c:pt>
                <c:pt idx="12">
                  <c:v>1.5</c:v>
                </c:pt>
                <c:pt idx="13">
                  <c:v>2</c:v>
                </c:pt>
                <c:pt idx="14">
                  <c:v>2.5</c:v>
                </c:pt>
                <c:pt idx="15">
                  <c:v>3</c:v>
                </c:pt>
              </c:numCache>
            </c:numRef>
          </c:xVal>
          <c:yVal>
            <c:numRef>
              <c:f>Data!$D$2:$D$17</c:f>
              <c:numCache>
                <c:formatCode>General</c:formatCode>
                <c:ptCount val="16"/>
                <c:pt idx="0">
                  <c:v>47</c:v>
                </c:pt>
                <c:pt idx="1">
                  <c:v>69</c:v>
                </c:pt>
                <c:pt idx="2">
                  <c:v>90</c:v>
                </c:pt>
                <c:pt idx="3">
                  <c:v>97</c:v>
                </c:pt>
                <c:pt idx="4">
                  <c:v>96</c:v>
                </c:pt>
                <c:pt idx="5">
                  <c:v>112</c:v>
                </c:pt>
                <c:pt idx="6">
                  <c:v>134</c:v>
                </c:pt>
                <c:pt idx="7">
                  <c:v>141</c:v>
                </c:pt>
                <c:pt idx="8">
                  <c:v>139</c:v>
                </c:pt>
                <c:pt idx="9">
                  <c:v>141</c:v>
                </c:pt>
                <c:pt idx="10">
                  <c:v>154</c:v>
                </c:pt>
                <c:pt idx="11">
                  <c:v>167</c:v>
                </c:pt>
                <c:pt idx="12">
                  <c:v>179</c:v>
                </c:pt>
                <c:pt idx="13">
                  <c:v>211</c:v>
                </c:pt>
                <c:pt idx="14">
                  <c:v>243</c:v>
                </c:pt>
                <c:pt idx="15">
                  <c:v>270</c:v>
                </c:pt>
              </c:numCache>
            </c:numRef>
          </c:yVal>
          <c:smooth val="0"/>
          <c:extLst>
            <c:ext xmlns:c16="http://schemas.microsoft.com/office/drawing/2014/chart" uri="{C3380CC4-5D6E-409C-BE32-E72D297353CC}">
              <c16:uniqueId val="{00000000-809F-4CD4-9CA9-0F1854065E6A}"/>
            </c:ext>
          </c:extLst>
        </c:ser>
        <c:dLbls>
          <c:dLblPos val="t"/>
          <c:showLegendKey val="0"/>
          <c:showVal val="1"/>
          <c:showCatName val="0"/>
          <c:showSerName val="0"/>
          <c:showPercent val="0"/>
          <c:showBubbleSize val="0"/>
        </c:dLbls>
        <c:axId val="517645544"/>
        <c:axId val="517647184"/>
      </c:scatterChart>
      <c:valAx>
        <c:axId val="51764554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zh-TW" sz="1800" dirty="0"/>
                  <a:t>取樣率</a:t>
                </a:r>
                <a:r>
                  <a:rPr lang="en-US" sz="1800" dirty="0"/>
                  <a:t>(FPS)</a:t>
                </a:r>
              </a:p>
            </c:rich>
          </c:tx>
          <c:layout>
            <c:manualLayout>
              <c:xMode val="edge"/>
              <c:yMode val="edge"/>
              <c:x val="0.39912476024737936"/>
              <c:y val="0.9339491105278506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TW"/>
            </a:p>
          </c:txPr>
        </c:title>
        <c:numFmt formatCode="General"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517647184"/>
        <c:crosses val="autoZero"/>
        <c:crossBetween val="midCat"/>
      </c:valAx>
      <c:valAx>
        <c:axId val="5176471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vert="wordArtVertRtl" wrap="square" anchor="ctr" anchorCtr="1"/>
              <a:lstStyle/>
              <a:p>
                <a:pPr>
                  <a:defRPr sz="1000" b="0" i="0" u="none" strike="noStrike" kern="1200" baseline="0">
                    <a:solidFill>
                      <a:schemeClr val="tx1">
                        <a:lumMod val="65000"/>
                        <a:lumOff val="35000"/>
                      </a:schemeClr>
                    </a:solidFill>
                    <a:latin typeface="+mn-lt"/>
                    <a:ea typeface="+mn-ea"/>
                    <a:cs typeface="+mn-cs"/>
                  </a:defRPr>
                </a:pPr>
                <a:r>
                  <a:rPr lang="zh-TW" sz="1800" dirty="0"/>
                  <a:t>去重後句數</a:t>
                </a:r>
                <a:r>
                  <a:rPr lang="en-US" sz="1800" dirty="0"/>
                  <a:t>(</a:t>
                </a:r>
                <a:r>
                  <a:rPr lang="zh-TW" sz="1800" dirty="0"/>
                  <a:t>句</a:t>
                </a:r>
                <a:r>
                  <a:rPr lang="en-US" sz="1800" dirty="0"/>
                  <a:t>)</a:t>
                </a:r>
              </a:p>
            </c:rich>
          </c:tx>
          <c:layout>
            <c:manualLayout>
              <c:xMode val="edge"/>
              <c:yMode val="edge"/>
              <c:x val="1.4538604736424516E-4"/>
              <c:y val="0.35318358121901428"/>
            </c:manualLayout>
          </c:layout>
          <c:overlay val="0"/>
          <c:spPr>
            <a:noFill/>
            <a:ln>
              <a:noFill/>
            </a:ln>
            <a:effectLst/>
          </c:spPr>
          <c:txPr>
            <a:bodyPr rot="0" spcFirstLastPara="1" vertOverflow="ellipsis" vert="wordArtVertRtl"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TW"/>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51764554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sz="1400" b="0" i="0" u="none" strike="noStrike" kern="1200" spc="0" baseline="0">
                <a:solidFill>
                  <a:prstClr val="black">
                    <a:lumMod val="65000"/>
                    <a:lumOff val="35000"/>
                  </a:prstClr>
                </a:solidFill>
                <a:latin typeface="+mn-lt"/>
                <a:ea typeface="+mn-ea"/>
                <a:cs typeface="+mn-cs"/>
              </a:defRPr>
            </a:pPr>
            <a:r>
              <a:rPr lang="zh-TW" sz="2400" b="0" i="0" u="none" strike="noStrike" kern="1200" spc="0" baseline="0" dirty="0">
                <a:solidFill>
                  <a:prstClr val="black">
                    <a:lumMod val="65000"/>
                    <a:lumOff val="35000"/>
                  </a:prstClr>
                </a:solidFill>
                <a:latin typeface="+mn-lt"/>
                <a:ea typeface="+mn-ea"/>
                <a:cs typeface="+mn-cs"/>
              </a:rPr>
              <a:t>效益</a:t>
            </a:r>
            <a:r>
              <a:rPr lang="en-US" sz="2400" b="0" i="0" u="none" strike="noStrike" kern="1200" spc="0" baseline="0" dirty="0">
                <a:solidFill>
                  <a:prstClr val="black">
                    <a:lumMod val="65000"/>
                    <a:lumOff val="35000"/>
                  </a:prstClr>
                </a:solidFill>
                <a:latin typeface="+mn-lt"/>
                <a:ea typeface="+mn-ea"/>
                <a:cs typeface="+mn-cs"/>
              </a:rPr>
              <a:t>/</a:t>
            </a:r>
            <a:r>
              <a:rPr lang="zh-TW" sz="2400" b="0" i="0" u="none" strike="noStrike" kern="1200" spc="0" baseline="0" dirty="0">
                <a:solidFill>
                  <a:prstClr val="black">
                    <a:lumMod val="65000"/>
                    <a:lumOff val="35000"/>
                  </a:prstClr>
                </a:solidFill>
                <a:latin typeface="+mn-lt"/>
                <a:ea typeface="+mn-ea"/>
                <a:cs typeface="+mn-cs"/>
              </a:rPr>
              <a:t>代價 比例</a:t>
            </a:r>
            <a:endParaRPr lang="en-US" sz="2400" b="0" i="0" u="none" strike="noStrike" kern="1200" spc="0" baseline="0" dirty="0">
              <a:solidFill>
                <a:prstClr val="black">
                  <a:lumMod val="65000"/>
                  <a:lumOff val="35000"/>
                </a:prstClr>
              </a:solidFill>
              <a:latin typeface="+mn-lt"/>
              <a:ea typeface="+mn-ea"/>
              <a:cs typeface="+mn-cs"/>
            </a:endParaRPr>
          </a:p>
        </c:rich>
      </c:tx>
      <c:layout>
        <c:manualLayout>
          <c:xMode val="edge"/>
          <c:yMode val="edge"/>
          <c:x val="0.42574475065616796"/>
          <c:y val="2.7805360143636215E-2"/>
        </c:manualLayout>
      </c:layout>
      <c:overlay val="0"/>
      <c:spPr>
        <a:noFill/>
        <a:ln>
          <a:noFill/>
        </a:ln>
        <a:effectLst/>
      </c:spPr>
      <c:txPr>
        <a:bodyPr rot="0" spcFirstLastPara="1" vertOverflow="ellipsis" vert="horz" wrap="square" anchor="ctr" anchorCtr="1"/>
        <a:lstStyle/>
        <a:p>
          <a:pPr algn="ctr" rtl="0">
            <a:defRPr sz="1400" b="0" i="0" u="none" strike="noStrike" kern="1200" spc="0" baseline="0">
              <a:solidFill>
                <a:prstClr val="black">
                  <a:lumMod val="65000"/>
                  <a:lumOff val="35000"/>
                </a:prstClr>
              </a:solidFill>
              <a:latin typeface="+mn-lt"/>
              <a:ea typeface="+mn-ea"/>
              <a:cs typeface="+mn-cs"/>
            </a:defRPr>
          </a:pPr>
          <a:endParaRPr lang="zh-TW"/>
        </a:p>
      </c:txPr>
    </c:title>
    <c:autoTitleDeleted val="0"/>
    <c:plotArea>
      <c:layout>
        <c:manualLayout>
          <c:layoutTarget val="inner"/>
          <c:xMode val="edge"/>
          <c:yMode val="edge"/>
          <c:x val="7.0223097112860886E-2"/>
          <c:y val="0.10423302672511095"/>
          <c:w val="0.89988631889763782"/>
          <c:h val="0.7874590381797516"/>
        </c:manualLayout>
      </c:layout>
      <c:scatterChart>
        <c:scatterStyle val="lineMarker"/>
        <c:varyColors val="0"/>
        <c:ser>
          <c:idx val="0"/>
          <c:order val="0"/>
          <c:tx>
            <c:strRef>
              <c:f>Data!$C$1</c:f>
              <c:strCache>
                <c:ptCount val="1"/>
                <c:pt idx="0">
                  <c:v>OCR總耗時(s)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dLbls>
            <c:dLbl>
              <c:idx val="4"/>
              <c:layout>
                <c:manualLayout>
                  <c:x val="-5.8525344488188975E-2"/>
                  <c:y val="-2.8932170538958375E-3"/>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250B-4498-9404-7DE0CE8BFA86}"/>
                </c:ext>
              </c:extLst>
            </c:dLbl>
            <c:dLbl>
              <c:idx val="6"/>
              <c:layout>
                <c:manualLayout>
                  <c:x val="-2.2006643700787441E-2"/>
                  <c:y val="-3.8113339902501743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250B-4498-9404-7DE0CE8BFA86}"/>
                </c:ext>
              </c:extLst>
            </c:dLbl>
            <c:dLbl>
              <c:idx val="7"/>
              <c:layout>
                <c:manualLayout>
                  <c:x val="-1.4322424540682452E-2"/>
                  <c:y val="-3.440595855001688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250B-4498-9404-7DE0CE8BFA86}"/>
                </c:ext>
              </c:extLst>
            </c:dLbl>
            <c:dLbl>
              <c:idx val="8"/>
              <c:layout>
                <c:manualLayout>
                  <c:x val="-6.2254183070866144E-2"/>
                  <c:y val="1.9351071061013133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250B-4498-9404-7DE0CE8BFA86}"/>
                </c:ext>
              </c:extLst>
            </c:dLbl>
            <c:dLbl>
              <c:idx val="9"/>
              <c:layout>
                <c:manualLayout>
                  <c:x val="-3.222703412073491E-2"/>
                  <c:y val="3.6034287147194796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250B-4498-9404-7DE0CE8BFA86}"/>
                </c:ext>
              </c:extLst>
            </c:dLbl>
            <c:dLbl>
              <c:idx val="10"/>
              <c:layout>
                <c:manualLayout>
                  <c:x val="-2.7803723753280839E-2"/>
                  <c:y val="-3.9967030578744123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6-250B-4498-9404-7DE0CE8BFA86}"/>
                </c:ext>
              </c:extLst>
            </c:dLbl>
            <c:dLbl>
              <c:idx val="11"/>
              <c:layout>
                <c:manualLayout>
                  <c:x val="-1.6828483396097226E-2"/>
                  <c:y val="-4.738179328371378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250B-4498-9404-7DE0CE8BFA86}"/>
                </c:ext>
              </c:extLst>
            </c:dLbl>
            <c:dLbl>
              <c:idx val="12"/>
              <c:layout>
                <c:manualLayout>
                  <c:x val="-9.8689304461942254E-3"/>
                  <c:y val="-2.6991195845047222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8-250B-4498-9404-7DE0CE8BFA86}"/>
                </c:ext>
              </c:extLst>
            </c:dLbl>
            <c:numFmt formatCode="#,##0.00_);[Red]\(#,##0.00\)" sourceLinked="0"/>
            <c:spPr>
              <a:solidFill>
                <a:schemeClr val="lt1"/>
              </a:solidFill>
              <a:ln>
                <a:solidFill>
                  <a:schemeClr val="dk1">
                    <a:lumMod val="25000"/>
                    <a:lumOff val="75000"/>
                  </a:scheme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zh-TW"/>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layout/>
                <c15:showLeaderLines val="1"/>
                <c15:leaderLines>
                  <c:spPr>
                    <a:ln w="9525" cap="flat" cmpd="sng" algn="ctr">
                      <a:solidFill>
                        <a:schemeClr val="tx1">
                          <a:lumMod val="35000"/>
                          <a:lumOff val="65000"/>
                        </a:schemeClr>
                      </a:solidFill>
                      <a:round/>
                    </a:ln>
                    <a:effectLst/>
                  </c:spPr>
                </c15:leaderLines>
              </c:ext>
            </c:extLst>
          </c:dLbls>
          <c:xVal>
            <c:numRef>
              <c:f>Data!$A$2:$A$17</c:f>
              <c:numCache>
                <c:formatCode>General</c:formatCode>
                <c:ptCount val="16"/>
                <c:pt idx="0">
                  <c:v>0.25</c:v>
                </c:pt>
                <c:pt idx="1">
                  <c:v>0.375</c:v>
                </c:pt>
                <c:pt idx="2">
                  <c:v>0.5</c:v>
                </c:pt>
                <c:pt idx="3">
                  <c:v>0.6</c:v>
                </c:pt>
                <c:pt idx="4">
                  <c:v>0.7</c:v>
                </c:pt>
                <c:pt idx="5">
                  <c:v>0.8</c:v>
                </c:pt>
                <c:pt idx="6">
                  <c:v>0.9</c:v>
                </c:pt>
                <c:pt idx="7">
                  <c:v>1</c:v>
                </c:pt>
                <c:pt idx="8">
                  <c:v>1.1000000000000001</c:v>
                </c:pt>
                <c:pt idx="9">
                  <c:v>1.2</c:v>
                </c:pt>
                <c:pt idx="10">
                  <c:v>1.3</c:v>
                </c:pt>
                <c:pt idx="11">
                  <c:v>1.4</c:v>
                </c:pt>
                <c:pt idx="12">
                  <c:v>1.5</c:v>
                </c:pt>
                <c:pt idx="13">
                  <c:v>2</c:v>
                </c:pt>
                <c:pt idx="14">
                  <c:v>2.5</c:v>
                </c:pt>
                <c:pt idx="15">
                  <c:v>3</c:v>
                </c:pt>
              </c:numCache>
            </c:numRef>
          </c:xVal>
          <c:yVal>
            <c:numRef>
              <c:f>Data!$H$2:$H$17</c:f>
              <c:numCache>
                <c:formatCode>General</c:formatCode>
                <c:ptCount val="16"/>
                <c:pt idx="0">
                  <c:v>1.3019390581717452</c:v>
                </c:pt>
                <c:pt idx="1">
                  <c:v>1.419753086419753</c:v>
                </c:pt>
                <c:pt idx="2">
                  <c:v>1.3886745872550532</c:v>
                </c:pt>
                <c:pt idx="3">
                  <c:v>1.2453460007703172</c:v>
                </c:pt>
                <c:pt idx="4">
                  <c:v>1.0603048376408217</c:v>
                </c:pt>
                <c:pt idx="5">
                  <c:v>1.0576015108593011</c:v>
                </c:pt>
                <c:pt idx="6">
                  <c:v>1.126523749474569</c:v>
                </c:pt>
                <c:pt idx="7">
                  <c:v>1.0893919493162327</c:v>
                </c:pt>
                <c:pt idx="8">
                  <c:v>0.95802605279481701</c:v>
                </c:pt>
                <c:pt idx="9">
                  <c:v>0.90268886043533936</c:v>
                </c:pt>
                <c:pt idx="10">
                  <c:v>0.91140439131206719</c:v>
                </c:pt>
                <c:pt idx="11">
                  <c:v>0.89997844363009272</c:v>
                </c:pt>
                <c:pt idx="12">
                  <c:v>0.86061829895668063</c:v>
                </c:pt>
                <c:pt idx="13">
                  <c:v>0.76112834571820209</c:v>
                </c:pt>
                <c:pt idx="14">
                  <c:v>0.73801858713478707</c:v>
                </c:pt>
                <c:pt idx="15">
                  <c:v>0.69713400464756003</c:v>
                </c:pt>
              </c:numCache>
            </c:numRef>
          </c:yVal>
          <c:smooth val="0"/>
          <c:extLst>
            <c:ext xmlns:c16="http://schemas.microsoft.com/office/drawing/2014/chart" uri="{C3380CC4-5D6E-409C-BE32-E72D297353CC}">
              <c16:uniqueId val="{00000000-250B-4498-9404-7DE0CE8BFA86}"/>
            </c:ext>
          </c:extLst>
        </c:ser>
        <c:dLbls>
          <c:dLblPos val="t"/>
          <c:showLegendKey val="0"/>
          <c:showVal val="1"/>
          <c:showCatName val="0"/>
          <c:showSerName val="0"/>
          <c:showPercent val="0"/>
          <c:showBubbleSize val="0"/>
        </c:dLbls>
        <c:axId val="517645544"/>
        <c:axId val="517647184"/>
      </c:scatterChart>
      <c:valAx>
        <c:axId val="51764554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lgn="ctr" rtl="0">
                  <a:defRPr sz="1000" b="0" i="0" u="none" strike="noStrike" kern="1200" baseline="0">
                    <a:solidFill>
                      <a:prstClr val="black">
                        <a:lumMod val="65000"/>
                        <a:lumOff val="35000"/>
                      </a:prstClr>
                    </a:solidFill>
                    <a:latin typeface="+mn-lt"/>
                    <a:ea typeface="+mn-ea"/>
                    <a:cs typeface="+mn-cs"/>
                  </a:defRPr>
                </a:pPr>
                <a:r>
                  <a:rPr lang="zh-TW" sz="1800" b="0" i="0" u="none" strike="noStrike" kern="1200" baseline="0" dirty="0">
                    <a:solidFill>
                      <a:prstClr val="black">
                        <a:lumMod val="65000"/>
                        <a:lumOff val="35000"/>
                      </a:prstClr>
                    </a:solidFill>
                    <a:latin typeface="+mn-lt"/>
                    <a:ea typeface="+mn-ea"/>
                    <a:cs typeface="+mn-cs"/>
                  </a:rPr>
                  <a:t>取樣率</a:t>
                </a:r>
                <a:r>
                  <a:rPr lang="en-US" sz="1800" b="0" i="0" u="none" strike="noStrike" kern="1200" baseline="0" dirty="0">
                    <a:solidFill>
                      <a:prstClr val="black">
                        <a:lumMod val="65000"/>
                        <a:lumOff val="35000"/>
                      </a:prstClr>
                    </a:solidFill>
                    <a:latin typeface="+mn-lt"/>
                    <a:ea typeface="+mn-ea"/>
                    <a:cs typeface="+mn-cs"/>
                  </a:rPr>
                  <a:t>(FPS)</a:t>
                </a:r>
              </a:p>
            </c:rich>
          </c:tx>
          <c:layout>
            <c:manualLayout>
              <c:xMode val="edge"/>
              <c:yMode val="edge"/>
              <c:x val="0.4553746719160105"/>
              <c:y val="0.93027116283475719"/>
            </c:manualLayout>
          </c:layout>
          <c:overlay val="0"/>
          <c:spPr>
            <a:noFill/>
            <a:ln>
              <a:noFill/>
            </a:ln>
            <a:effectLst/>
          </c:spPr>
          <c:txPr>
            <a:bodyPr rot="0" spcFirstLastPara="1" vertOverflow="ellipsis" vert="horz" wrap="square" anchor="ctr" anchorCtr="1"/>
            <a:lstStyle/>
            <a:p>
              <a:pPr algn="ctr" rtl="0">
                <a:defRPr sz="1000" b="0" i="0" u="none" strike="noStrike" kern="1200" baseline="0">
                  <a:solidFill>
                    <a:prstClr val="black">
                      <a:lumMod val="65000"/>
                      <a:lumOff val="35000"/>
                    </a:prstClr>
                  </a:solidFill>
                  <a:latin typeface="+mn-lt"/>
                  <a:ea typeface="+mn-ea"/>
                  <a:cs typeface="+mn-cs"/>
                </a:defRPr>
              </a:pPr>
              <a:endParaRPr lang="zh-TW"/>
            </a:p>
          </c:txPr>
        </c:title>
        <c:numFmt formatCode="General"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517647184"/>
        <c:crosses val="autoZero"/>
        <c:crossBetween val="midCat"/>
      </c:valAx>
      <c:valAx>
        <c:axId val="5176471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vert="wordArtVertRtl" wrap="square" anchor="ctr" anchorCtr="1"/>
              <a:lstStyle/>
              <a:p>
                <a:pPr algn="ctr" rtl="0">
                  <a:defRPr sz="1000" b="0" i="0" u="none" strike="noStrike" kern="1200" baseline="0">
                    <a:solidFill>
                      <a:prstClr val="black">
                        <a:lumMod val="65000"/>
                        <a:lumOff val="35000"/>
                      </a:prstClr>
                    </a:solidFill>
                    <a:latin typeface="+mn-lt"/>
                    <a:ea typeface="+mn-ea"/>
                    <a:cs typeface="+mn-cs"/>
                  </a:defRPr>
                </a:pPr>
                <a:r>
                  <a:rPr lang="zh-TW" sz="1800" b="0" i="0" u="none" strike="noStrike" kern="1200" baseline="0" dirty="0">
                    <a:solidFill>
                      <a:prstClr val="black">
                        <a:lumMod val="65000"/>
                        <a:lumOff val="35000"/>
                      </a:prstClr>
                    </a:solidFill>
                    <a:latin typeface="+mn-lt"/>
                    <a:ea typeface="+mn-ea"/>
                    <a:cs typeface="+mn-cs"/>
                  </a:rPr>
                  <a:t>單位時間句數</a:t>
                </a:r>
                <a:r>
                  <a:rPr lang="en-US" sz="1800" b="0" i="0" u="none" strike="noStrike" kern="1200" baseline="0" dirty="0">
                    <a:solidFill>
                      <a:prstClr val="black">
                        <a:lumMod val="65000"/>
                        <a:lumOff val="35000"/>
                      </a:prstClr>
                    </a:solidFill>
                    <a:latin typeface="+mn-lt"/>
                    <a:ea typeface="+mn-ea"/>
                    <a:cs typeface="+mn-cs"/>
                  </a:rPr>
                  <a:t>(</a:t>
                </a:r>
                <a:r>
                  <a:rPr lang="zh-TW" sz="1800" b="0" i="0" u="none" strike="noStrike" kern="1200" baseline="0" dirty="0">
                    <a:solidFill>
                      <a:prstClr val="black">
                        <a:lumMod val="65000"/>
                        <a:lumOff val="35000"/>
                      </a:prstClr>
                    </a:solidFill>
                    <a:latin typeface="+mn-lt"/>
                    <a:ea typeface="+mn-ea"/>
                    <a:cs typeface="+mn-cs"/>
                  </a:rPr>
                  <a:t>句</a:t>
                </a:r>
                <a:r>
                  <a:rPr lang="en-US" sz="1800" b="0" i="0" u="none" strike="noStrike" kern="1200" baseline="0" dirty="0">
                    <a:solidFill>
                      <a:prstClr val="black">
                        <a:lumMod val="65000"/>
                        <a:lumOff val="35000"/>
                      </a:prstClr>
                    </a:solidFill>
                    <a:latin typeface="+mn-lt"/>
                    <a:ea typeface="+mn-ea"/>
                    <a:cs typeface="+mn-cs"/>
                  </a:rPr>
                  <a:t>/s)</a:t>
                </a:r>
              </a:p>
            </c:rich>
          </c:tx>
          <c:layout>
            <c:manualLayout>
              <c:xMode val="edge"/>
              <c:yMode val="edge"/>
              <c:x val="1.2289780183727034E-2"/>
              <c:y val="0.38467117497862052"/>
            </c:manualLayout>
          </c:layout>
          <c:overlay val="0"/>
          <c:spPr>
            <a:noFill/>
            <a:ln>
              <a:noFill/>
            </a:ln>
            <a:effectLst/>
          </c:spPr>
          <c:txPr>
            <a:bodyPr rot="0" spcFirstLastPara="1" vertOverflow="ellipsis" vert="wordArtVertRtl" wrap="square" anchor="ctr" anchorCtr="1"/>
            <a:lstStyle/>
            <a:p>
              <a:pPr algn="ctr" rtl="0">
                <a:defRPr sz="1000" b="0" i="0" u="none" strike="noStrike" kern="1200" baseline="0">
                  <a:solidFill>
                    <a:prstClr val="black">
                      <a:lumMod val="65000"/>
                      <a:lumOff val="35000"/>
                    </a:prstClr>
                  </a:solidFill>
                  <a:latin typeface="+mn-lt"/>
                  <a:ea typeface="+mn-ea"/>
                  <a:cs typeface="+mn-cs"/>
                </a:defRPr>
              </a:pPr>
              <a:endParaRPr lang="zh-TW"/>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51764554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TW" dirty="0"/>
              <a:t>耗時差異</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p>
      </c:txPr>
    </c:title>
    <c:autoTitleDeleted val="0"/>
    <c:plotArea>
      <c:layout/>
      <c:barChart>
        <c:barDir val="col"/>
        <c:grouping val="stacked"/>
        <c:varyColors val="0"/>
        <c:ser>
          <c:idx val="0"/>
          <c:order val="0"/>
          <c:tx>
            <c:strRef>
              <c:f>Denoise開關評估!$H$6</c:f>
              <c:strCache>
                <c:ptCount val="1"/>
                <c:pt idx="0">
                  <c:v>Phase1 擷取(秒)</c:v>
                </c:pt>
              </c:strCache>
            </c:strRef>
          </c:tx>
          <c:spPr>
            <a:solidFill>
              <a:schemeClr val="accent1"/>
            </a:solidFill>
            <a:ln>
              <a:noFill/>
            </a:ln>
            <a:effectLst/>
          </c:spPr>
          <c:invertIfNegative val="0"/>
          <c:cat>
            <c:strRef>
              <c:f>Denoise開關評估!$G$7:$G$8</c:f>
              <c:strCache>
                <c:ptCount val="2"/>
                <c:pt idx="0">
                  <c:v>denoise_on</c:v>
                </c:pt>
                <c:pt idx="1">
                  <c:v>denoise_off</c:v>
                </c:pt>
              </c:strCache>
            </c:strRef>
          </c:cat>
          <c:val>
            <c:numRef>
              <c:f>Denoise開關評估!$H$7:$H$8</c:f>
              <c:numCache>
                <c:formatCode>General</c:formatCode>
                <c:ptCount val="2"/>
                <c:pt idx="0">
                  <c:v>27.85</c:v>
                </c:pt>
                <c:pt idx="1">
                  <c:v>27.85</c:v>
                </c:pt>
              </c:numCache>
            </c:numRef>
          </c:val>
          <c:extLst>
            <c:ext xmlns:c16="http://schemas.microsoft.com/office/drawing/2014/chart" uri="{C3380CC4-5D6E-409C-BE32-E72D297353CC}">
              <c16:uniqueId val="{00000000-7C58-4BD0-AFEE-088581FAA6C8}"/>
            </c:ext>
          </c:extLst>
        </c:ser>
        <c:ser>
          <c:idx val="1"/>
          <c:order val="1"/>
          <c:tx>
            <c:strRef>
              <c:f>Denoise開關評估!$I$6</c:f>
              <c:strCache>
                <c:ptCount val="1"/>
                <c:pt idx="0">
                  <c:v>Phase2 前處理(秒)</c:v>
                </c:pt>
              </c:strCache>
            </c:strRef>
          </c:tx>
          <c:spPr>
            <a:solidFill>
              <a:schemeClr val="accent2"/>
            </a:solidFill>
            <a:ln>
              <a:noFill/>
            </a:ln>
            <a:effectLst/>
          </c:spPr>
          <c:invertIfNegative val="0"/>
          <c:cat>
            <c:strRef>
              <c:f>Denoise開關評估!$G$7:$G$8</c:f>
              <c:strCache>
                <c:ptCount val="2"/>
                <c:pt idx="0">
                  <c:v>denoise_on</c:v>
                </c:pt>
                <c:pt idx="1">
                  <c:v>denoise_off</c:v>
                </c:pt>
              </c:strCache>
            </c:strRef>
          </c:cat>
          <c:val>
            <c:numRef>
              <c:f>Denoise開關評估!$I$7:$I$8</c:f>
              <c:numCache>
                <c:formatCode>General</c:formatCode>
                <c:ptCount val="2"/>
                <c:pt idx="0">
                  <c:v>122.82</c:v>
                </c:pt>
                <c:pt idx="1">
                  <c:v>11.85</c:v>
                </c:pt>
              </c:numCache>
            </c:numRef>
          </c:val>
          <c:extLst>
            <c:ext xmlns:c16="http://schemas.microsoft.com/office/drawing/2014/chart" uri="{C3380CC4-5D6E-409C-BE32-E72D297353CC}">
              <c16:uniqueId val="{00000001-7C58-4BD0-AFEE-088581FAA6C8}"/>
            </c:ext>
          </c:extLst>
        </c:ser>
        <c:ser>
          <c:idx val="2"/>
          <c:order val="2"/>
          <c:tx>
            <c:strRef>
              <c:f>Denoise開關評估!$J$6</c:f>
              <c:strCache>
                <c:ptCount val="1"/>
                <c:pt idx="0">
                  <c:v>Phase3 OCR(秒)</c:v>
                </c:pt>
              </c:strCache>
            </c:strRef>
          </c:tx>
          <c:spPr>
            <a:solidFill>
              <a:schemeClr val="accent3"/>
            </a:solidFill>
            <a:ln>
              <a:noFill/>
            </a:ln>
            <a:effectLst/>
          </c:spPr>
          <c:invertIfNegative val="0"/>
          <c:cat>
            <c:strRef>
              <c:f>Denoise開關評估!$G$7:$G$8</c:f>
              <c:strCache>
                <c:ptCount val="2"/>
                <c:pt idx="0">
                  <c:v>denoise_on</c:v>
                </c:pt>
                <c:pt idx="1">
                  <c:v>denoise_off</c:v>
                </c:pt>
              </c:strCache>
            </c:strRef>
          </c:cat>
          <c:val>
            <c:numRef>
              <c:f>Denoise開關評估!$J$7:$J$8</c:f>
              <c:numCache>
                <c:formatCode>General</c:formatCode>
                <c:ptCount val="2"/>
                <c:pt idx="0">
                  <c:v>206.83</c:v>
                </c:pt>
                <c:pt idx="1">
                  <c:v>206.32</c:v>
                </c:pt>
              </c:numCache>
            </c:numRef>
          </c:val>
          <c:extLst>
            <c:ext xmlns:c16="http://schemas.microsoft.com/office/drawing/2014/chart" uri="{C3380CC4-5D6E-409C-BE32-E72D297353CC}">
              <c16:uniqueId val="{00000002-7C58-4BD0-AFEE-088581FAA6C8}"/>
            </c:ext>
          </c:extLst>
        </c:ser>
        <c:dLbls>
          <c:showLegendKey val="0"/>
          <c:showVal val="0"/>
          <c:showCatName val="0"/>
          <c:showSerName val="0"/>
          <c:showPercent val="0"/>
          <c:showBubbleSize val="0"/>
        </c:dLbls>
        <c:gapWidth val="150"/>
        <c:overlap val="100"/>
        <c:axId val="491949656"/>
        <c:axId val="491949984"/>
      </c:barChart>
      <c:catAx>
        <c:axId val="491949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491949984"/>
        <c:crosses val="autoZero"/>
        <c:auto val="1"/>
        <c:lblAlgn val="ctr"/>
        <c:lblOffset val="100"/>
        <c:noMultiLvlLbl val="0"/>
      </c:catAx>
      <c:valAx>
        <c:axId val="4919499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vert="eaVert" wrap="square" anchor="ctr" anchorCtr="1"/>
              <a:lstStyle/>
              <a:p>
                <a:pPr>
                  <a:defRPr sz="1000" b="0" i="0" u="none" strike="noStrike" kern="1200" baseline="0">
                    <a:solidFill>
                      <a:schemeClr val="tx1">
                        <a:lumMod val="65000"/>
                        <a:lumOff val="35000"/>
                      </a:schemeClr>
                    </a:solidFill>
                    <a:latin typeface="+mn-lt"/>
                    <a:ea typeface="+mn-ea"/>
                    <a:cs typeface="+mn-cs"/>
                  </a:defRPr>
                </a:pPr>
                <a:r>
                  <a:rPr lang="zh-TW" dirty="0"/>
                  <a:t>處理時間</a:t>
                </a:r>
                <a:r>
                  <a:rPr lang="en-US" dirty="0"/>
                  <a:t>(</a:t>
                </a:r>
                <a:r>
                  <a:rPr lang="zh-TW" dirty="0"/>
                  <a:t>秒</a:t>
                </a:r>
                <a:r>
                  <a:rPr lang="en-US" dirty="0"/>
                  <a:t>)</a:t>
                </a:r>
                <a:endParaRPr lang="zh-TW" dirty="0"/>
              </a:p>
            </c:rich>
          </c:tx>
          <c:layout/>
          <c:overlay val="0"/>
          <c:spPr>
            <a:noFill/>
            <a:ln>
              <a:noFill/>
            </a:ln>
            <a:effectLst/>
          </c:spPr>
          <c:txPr>
            <a:bodyPr rot="0" spcFirstLastPara="1" vertOverflow="ellipsis" vert="eaVert"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TW"/>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49194965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b="1" baseline="0">
                <a:latin typeface="Microsoft JhengHei"/>
              </a:defRPr>
            </a:pPr>
            <a:r>
              <a:rPr lang="zh-TW" altLang="en-US" sz="1200" b="1" baseline="0" dirty="0">
                <a:latin typeface="Microsoft JhengHei"/>
              </a:rPr>
              <a:t>優化前後</a:t>
            </a:r>
            <a:r>
              <a:rPr lang="en-US" sz="1200" b="1" baseline="0" dirty="0" err="1">
                <a:latin typeface="Microsoft JhengHei"/>
              </a:rPr>
              <a:t>輸出筆數對比</a:t>
            </a:r>
            <a:endParaRPr lang="en-US" sz="1200" b="1" baseline="0" dirty="0">
              <a:latin typeface="Microsoft JhengHei"/>
            </a:endParaRPr>
          </a:p>
        </c:rich>
      </c:tx>
      <c:layout/>
      <c:overlay val="0"/>
    </c:title>
    <c:autoTitleDeleted val="0"/>
    <c:plotArea>
      <c:layout/>
      <c:barChart>
        <c:barDir val="col"/>
        <c:grouping val="clustered"/>
        <c:varyColors val="0"/>
        <c:ser>
          <c:idx val="0"/>
          <c:order val="0"/>
          <c:tx>
            <c:strRef>
              <c:f>效能視覺化圖表!$B$5</c:f>
              <c:strCache>
                <c:ptCount val="1"/>
                <c:pt idx="0">
                  <c:v>原始方案</c:v>
                </c:pt>
              </c:strCache>
            </c:strRef>
          </c:tx>
          <c:spPr>
            <a:solidFill>
              <a:srgbClr val="C00000"/>
            </a:solidFill>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效能視覺化圖表!$A$6:$A$8</c:f>
              <c:strCache>
                <c:ptCount val="3"/>
                <c:pt idx="0">
                  <c:v>資料集A (3,326 筆)</c:v>
                </c:pt>
                <c:pt idx="1">
                  <c:v>資料集B (2,569 筆)</c:v>
                </c:pt>
                <c:pt idx="2">
                  <c:v>Top 5 高頻字彙辨識結果(筆)</c:v>
                </c:pt>
              </c:strCache>
            </c:strRef>
          </c:cat>
          <c:val>
            <c:numRef>
              <c:f>效能視覺化圖表!$B$6:$B$8</c:f>
              <c:numCache>
                <c:formatCode>#,##0</c:formatCode>
                <c:ptCount val="3"/>
                <c:pt idx="0">
                  <c:v>3180</c:v>
                </c:pt>
                <c:pt idx="1">
                  <c:v>2443</c:v>
                </c:pt>
                <c:pt idx="2">
                  <c:v>54</c:v>
                </c:pt>
              </c:numCache>
            </c:numRef>
          </c:val>
          <c:extLst>
            <c:ext xmlns:c16="http://schemas.microsoft.com/office/drawing/2014/chart" uri="{C3380CC4-5D6E-409C-BE32-E72D297353CC}">
              <c16:uniqueId val="{00000000-149B-4613-B88E-7B989A1C5CE8}"/>
            </c:ext>
          </c:extLst>
        </c:ser>
        <c:ser>
          <c:idx val="1"/>
          <c:order val="1"/>
          <c:tx>
            <c:strRef>
              <c:f>效能視覺化圖表!$C$5</c:f>
              <c:strCache>
                <c:ptCount val="1"/>
                <c:pt idx="0">
                  <c:v>優化方案</c:v>
                </c:pt>
              </c:strCache>
            </c:strRef>
          </c:tx>
          <c:spPr>
            <a:solidFill>
              <a:srgbClr val="375623"/>
            </a:solidFill>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效能視覺化圖表!$A$6:$A$8</c:f>
              <c:strCache>
                <c:ptCount val="3"/>
                <c:pt idx="0">
                  <c:v>資料集A (3,326 筆)</c:v>
                </c:pt>
                <c:pt idx="1">
                  <c:v>資料集B (2,569 筆)</c:v>
                </c:pt>
                <c:pt idx="2">
                  <c:v>Top 5 高頻字彙辨識結果(筆)</c:v>
                </c:pt>
              </c:strCache>
            </c:strRef>
          </c:cat>
          <c:val>
            <c:numRef>
              <c:f>效能視覺化圖表!$C$6:$C$8</c:f>
              <c:numCache>
                <c:formatCode>#,##0</c:formatCode>
                <c:ptCount val="3"/>
                <c:pt idx="0">
                  <c:v>145</c:v>
                </c:pt>
                <c:pt idx="1">
                  <c:v>225</c:v>
                </c:pt>
                <c:pt idx="2">
                  <c:v>1.2</c:v>
                </c:pt>
              </c:numCache>
            </c:numRef>
          </c:val>
          <c:extLst>
            <c:ext xmlns:c16="http://schemas.microsoft.com/office/drawing/2014/chart" uri="{C3380CC4-5D6E-409C-BE32-E72D297353CC}">
              <c16:uniqueId val="{00000001-149B-4613-B88E-7B989A1C5CE8}"/>
            </c:ext>
          </c:extLst>
        </c:ser>
        <c:dLbls>
          <c:dLblPos val="outEnd"/>
          <c:showLegendKey val="0"/>
          <c:showVal val="1"/>
          <c:showCatName val="0"/>
          <c:showSerName val="0"/>
          <c:showPercent val="0"/>
          <c:showBubbleSize val="0"/>
        </c:dLbls>
        <c:gapWidth val="150"/>
        <c:axId val="50010001"/>
        <c:axId val="50010002"/>
      </c:barChart>
      <c:catAx>
        <c:axId val="50010001"/>
        <c:scaling>
          <c:orientation val="minMax"/>
        </c:scaling>
        <c:delete val="0"/>
        <c:axPos val="b"/>
        <c:numFmt formatCode="General" sourceLinked="0"/>
        <c:majorTickMark val="out"/>
        <c:minorTickMark val="none"/>
        <c:tickLblPos val="nextTo"/>
        <c:crossAx val="50010002"/>
        <c:crosses val="autoZero"/>
        <c:auto val="1"/>
        <c:lblAlgn val="ctr"/>
        <c:lblOffset val="100"/>
        <c:noMultiLvlLbl val="0"/>
      </c:catAx>
      <c:valAx>
        <c:axId val="50010002"/>
        <c:scaling>
          <c:orientation val="minMax"/>
        </c:scaling>
        <c:delete val="0"/>
        <c:axPos val="l"/>
        <c:majorGridlines/>
        <c:title>
          <c:tx>
            <c:rich>
              <a:bodyPr rot="0" vert="eaVert"/>
              <a:lstStyle/>
              <a:p>
                <a:pPr>
                  <a:defRPr sz="1000" baseline="0">
                    <a:latin typeface="Microsoft JhengHei"/>
                  </a:defRPr>
                </a:pPr>
                <a:r>
                  <a:rPr lang="en-US" sz="1000" baseline="0">
                    <a:latin typeface="Microsoft JhengHei"/>
                  </a:rPr>
                  <a:t>輸出筆數 (筆)</a:t>
                </a:r>
              </a:p>
            </c:rich>
          </c:tx>
          <c:layout/>
          <c:overlay val="0"/>
        </c:title>
        <c:numFmt formatCode="#,##0" sourceLinked="1"/>
        <c:majorTickMark val="out"/>
        <c:minorTickMark val="none"/>
        <c:tickLblPos val="nextTo"/>
        <c:crossAx val="50010001"/>
        <c:crosses val="autoZero"/>
        <c:crossBetween val="between"/>
      </c:valAx>
    </c:plotArea>
    <c:legend>
      <c:legendPos val="t"/>
      <c:layout/>
      <c:overlay val="0"/>
    </c:legend>
    <c:plotVisOnly val="1"/>
    <c:dispBlanksAs val="gap"/>
    <c:showDLblsOverMax val="0"/>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b="1" baseline="0">
                <a:latin typeface="Microsoft JhengHei"/>
              </a:defRPr>
            </a:pPr>
            <a:r>
              <a:rPr lang="en-US" sz="1200" b="1" baseline="0">
                <a:latin typeface="Microsoft JhengHei"/>
              </a:rPr>
              <a:t>品質指標比對 (%)</a:t>
            </a:r>
          </a:p>
        </c:rich>
      </c:tx>
      <c:layout/>
      <c:overlay val="0"/>
    </c:title>
    <c:autoTitleDeleted val="0"/>
    <c:plotArea>
      <c:layout/>
      <c:barChart>
        <c:barDir val="col"/>
        <c:grouping val="clustered"/>
        <c:varyColors val="0"/>
        <c:ser>
          <c:idx val="0"/>
          <c:order val="0"/>
          <c:tx>
            <c:strRef>
              <c:f>效能視覺化圖表!$B$11</c:f>
              <c:strCache>
                <c:ptCount val="1"/>
                <c:pt idx="0">
                  <c:v>原始方案</c:v>
                </c:pt>
              </c:strCache>
            </c:strRef>
          </c:tx>
          <c:spPr>
            <a:solidFill>
              <a:srgbClr val="ED7D31"/>
            </a:solidFill>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效能視覺化圖表!$A$12:$A$14</c:f>
              <c:strCache>
                <c:ptCount val="3"/>
                <c:pt idx="0">
                  <c:v>無效字段佔比</c:v>
                </c:pt>
                <c:pt idx="1">
                  <c:v>多影格字段合成率</c:v>
                </c:pt>
                <c:pt idx="2">
                  <c:v>冗餘字段壓縮率</c:v>
                </c:pt>
              </c:strCache>
            </c:strRef>
          </c:cat>
          <c:val>
            <c:numRef>
              <c:f>效能視覺化圖表!$B$12:$B$14</c:f>
              <c:numCache>
                <c:formatCode>0.0%</c:formatCode>
                <c:ptCount val="3"/>
                <c:pt idx="0">
                  <c:v>0.99180000000000001</c:v>
                </c:pt>
                <c:pt idx="1">
                  <c:v>7.7999999999999996E-3</c:v>
                </c:pt>
                <c:pt idx="2">
                  <c:v>4.9000000000000002E-2</c:v>
                </c:pt>
              </c:numCache>
            </c:numRef>
          </c:val>
          <c:extLst>
            <c:ext xmlns:c16="http://schemas.microsoft.com/office/drawing/2014/chart" uri="{C3380CC4-5D6E-409C-BE32-E72D297353CC}">
              <c16:uniqueId val="{00000000-C5C0-4328-B018-6DEB5BAC4D9E}"/>
            </c:ext>
          </c:extLst>
        </c:ser>
        <c:ser>
          <c:idx val="1"/>
          <c:order val="1"/>
          <c:tx>
            <c:strRef>
              <c:f>效能視覺化圖表!$C$11</c:f>
              <c:strCache>
                <c:ptCount val="1"/>
                <c:pt idx="0">
                  <c:v>優化方案</c:v>
                </c:pt>
              </c:strCache>
            </c:strRef>
          </c:tx>
          <c:spPr>
            <a:solidFill>
              <a:srgbClr val="4472C4"/>
            </a:solidFill>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效能視覺化圖表!$A$12:$A$14</c:f>
              <c:strCache>
                <c:ptCount val="3"/>
                <c:pt idx="0">
                  <c:v>無效字段佔比</c:v>
                </c:pt>
                <c:pt idx="1">
                  <c:v>多影格字段合成率</c:v>
                </c:pt>
                <c:pt idx="2">
                  <c:v>冗餘字段壓縮率</c:v>
                </c:pt>
              </c:strCache>
            </c:strRef>
          </c:cat>
          <c:val>
            <c:numRef>
              <c:f>效能視覺化圖表!$C$12:$C$14</c:f>
              <c:numCache>
                <c:formatCode>0.0%</c:formatCode>
                <c:ptCount val="3"/>
                <c:pt idx="0">
                  <c:v>0.16439999999999999</c:v>
                </c:pt>
                <c:pt idx="1">
                  <c:v>0.83560000000000001</c:v>
                </c:pt>
                <c:pt idx="2">
                  <c:v>0.91239999999999999</c:v>
                </c:pt>
              </c:numCache>
            </c:numRef>
          </c:val>
          <c:extLst>
            <c:ext xmlns:c16="http://schemas.microsoft.com/office/drawing/2014/chart" uri="{C3380CC4-5D6E-409C-BE32-E72D297353CC}">
              <c16:uniqueId val="{00000001-C5C0-4328-B018-6DEB5BAC4D9E}"/>
            </c:ext>
          </c:extLst>
        </c:ser>
        <c:dLbls>
          <c:dLblPos val="outEnd"/>
          <c:showLegendKey val="0"/>
          <c:showVal val="1"/>
          <c:showCatName val="0"/>
          <c:showSerName val="0"/>
          <c:showPercent val="0"/>
          <c:showBubbleSize val="0"/>
        </c:dLbls>
        <c:gapWidth val="150"/>
        <c:axId val="50020001"/>
        <c:axId val="50020002"/>
      </c:barChart>
      <c:catAx>
        <c:axId val="50020001"/>
        <c:scaling>
          <c:orientation val="minMax"/>
        </c:scaling>
        <c:delete val="0"/>
        <c:axPos val="b"/>
        <c:numFmt formatCode="General" sourceLinked="0"/>
        <c:majorTickMark val="out"/>
        <c:minorTickMark val="none"/>
        <c:tickLblPos val="nextTo"/>
        <c:crossAx val="50020002"/>
        <c:crosses val="autoZero"/>
        <c:auto val="1"/>
        <c:lblAlgn val="ctr"/>
        <c:lblOffset val="100"/>
        <c:noMultiLvlLbl val="0"/>
      </c:catAx>
      <c:valAx>
        <c:axId val="50020002"/>
        <c:scaling>
          <c:orientation val="minMax"/>
          <c:max val="1"/>
        </c:scaling>
        <c:delete val="0"/>
        <c:axPos val="l"/>
        <c:majorGridlines/>
        <c:title>
          <c:tx>
            <c:rich>
              <a:bodyPr rot="0" vert="eaVert"/>
              <a:lstStyle/>
              <a:p>
                <a:pPr>
                  <a:defRPr sz="1000" baseline="0">
                    <a:latin typeface="Microsoft JhengHei"/>
                  </a:defRPr>
                </a:pPr>
                <a:r>
                  <a:rPr lang="en-US" sz="1000" baseline="0">
                    <a:latin typeface="Microsoft JhengHei"/>
                  </a:rPr>
                  <a:t>百分比 (%)</a:t>
                </a:r>
              </a:p>
            </c:rich>
          </c:tx>
          <c:layout/>
          <c:overlay val="0"/>
        </c:title>
        <c:numFmt formatCode="0.0%" sourceLinked="1"/>
        <c:majorTickMark val="out"/>
        <c:minorTickMark val="none"/>
        <c:tickLblPos val="nextTo"/>
        <c:crossAx val="50020001"/>
        <c:crosses val="autoZero"/>
        <c:crossBetween val="between"/>
      </c:valAx>
    </c:plotArea>
    <c:legend>
      <c:legendPos val="t"/>
      <c:layout/>
      <c:overlay val="0"/>
    </c:legend>
    <c:plotVisOnly val="1"/>
    <c:dispBlanksAs val="gap"/>
    <c:showDLblsOverMax val="0"/>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TW" sz="1400" b="0" i="0" u="none" strike="noStrike" baseline="0" dirty="0"/>
              <a:t>SLA </a:t>
            </a:r>
            <a:r>
              <a:rPr lang="zh-TW" altLang="en-US" sz="1400" b="0" i="0" u="none" strike="noStrike" baseline="0" dirty="0"/>
              <a:t>合規性分佈圖 </a:t>
            </a:r>
            <a:endParaRPr lang="zh-TW" altLang="en-US"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p>
      </c:txPr>
    </c:title>
    <c:autoTitleDeleted val="0"/>
    <c:plotArea>
      <c:layout/>
      <c:barChart>
        <c:barDir val="col"/>
        <c:grouping val="clustered"/>
        <c:varyColors val="0"/>
        <c:ser>
          <c:idx val="0"/>
          <c:order val="0"/>
          <c:tx>
            <c:strRef>
              <c:f>工作表1!$K$1</c:f>
              <c:strCache>
                <c:ptCount val="1"/>
                <c:pt idx="0">
                  <c:v>A</c:v>
                </c:pt>
              </c:strCache>
            </c:strRef>
          </c:tx>
          <c:spPr>
            <a:solidFill>
              <a:schemeClr val="accent1"/>
            </a:solidFill>
            <a:ln>
              <a:noFill/>
            </a:ln>
            <a:effectLst/>
          </c:spPr>
          <c:invertIfNegative val="0"/>
          <c:dPt>
            <c:idx val="3"/>
            <c:invertIfNegative val="0"/>
            <c:bubble3D val="0"/>
            <c:spPr>
              <a:solidFill>
                <a:srgbClr val="C00000"/>
              </a:solidFill>
              <a:ln>
                <a:noFill/>
              </a:ln>
              <a:effectLst/>
            </c:spPr>
            <c:extLst>
              <c:ext xmlns:c16="http://schemas.microsoft.com/office/drawing/2014/chart" uri="{C3380CC4-5D6E-409C-BE32-E72D297353CC}">
                <c16:uniqueId val="{00000001-30F8-40C5-9806-B4250D10B3D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工作表1!$J$2:$J$6</c:f>
              <c:strCache>
                <c:ptCount val="5"/>
                <c:pt idx="0">
                  <c:v>Channel 1 - Komoran</c:v>
                </c:pt>
                <c:pt idx="1">
                  <c:v>Channel 1 - Mecab</c:v>
                </c:pt>
                <c:pt idx="2">
                  <c:v>Channel 1 - Okt</c:v>
                </c:pt>
                <c:pt idx="3">
                  <c:v>Channel 2 (純 LLM)</c:v>
                </c:pt>
                <c:pt idx="4">
                  <c:v>Channel 3 (混合)</c:v>
                </c:pt>
              </c:strCache>
            </c:strRef>
          </c:cat>
          <c:val>
            <c:numRef>
              <c:f>工作表1!$K$2:$K$6</c:f>
              <c:numCache>
                <c:formatCode>General</c:formatCode>
                <c:ptCount val="5"/>
                <c:pt idx="0">
                  <c:v>0.63</c:v>
                </c:pt>
                <c:pt idx="1">
                  <c:v>0.63</c:v>
                </c:pt>
                <c:pt idx="2">
                  <c:v>0.62</c:v>
                </c:pt>
                <c:pt idx="3">
                  <c:v>1.36</c:v>
                </c:pt>
                <c:pt idx="4">
                  <c:v>0.71</c:v>
                </c:pt>
              </c:numCache>
            </c:numRef>
          </c:val>
          <c:extLst>
            <c:ext xmlns:c16="http://schemas.microsoft.com/office/drawing/2014/chart" uri="{C3380CC4-5D6E-409C-BE32-E72D297353CC}">
              <c16:uniqueId val="{00000002-30F8-40C5-9806-B4250D10B3D2}"/>
            </c:ext>
          </c:extLst>
        </c:ser>
        <c:ser>
          <c:idx val="1"/>
          <c:order val="1"/>
          <c:tx>
            <c:strRef>
              <c:f>工作表1!$L$1</c:f>
              <c:strCache>
                <c:ptCount val="1"/>
                <c:pt idx="0">
                  <c:v>B</c:v>
                </c:pt>
              </c:strCache>
            </c:strRef>
          </c:tx>
          <c:spPr>
            <a:solidFill>
              <a:schemeClr val="accent2"/>
            </a:solidFill>
            <a:ln>
              <a:noFill/>
            </a:ln>
            <a:effectLst/>
          </c:spPr>
          <c:invertIfNegative val="0"/>
          <c:dPt>
            <c:idx val="3"/>
            <c:invertIfNegative val="0"/>
            <c:bubble3D val="0"/>
            <c:spPr>
              <a:solidFill>
                <a:srgbClr val="C00000"/>
              </a:solidFill>
              <a:ln>
                <a:noFill/>
              </a:ln>
              <a:effectLst/>
            </c:spPr>
            <c:extLst>
              <c:ext xmlns:c16="http://schemas.microsoft.com/office/drawing/2014/chart" uri="{C3380CC4-5D6E-409C-BE32-E72D297353CC}">
                <c16:uniqueId val="{00000004-30F8-40C5-9806-B4250D10B3D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工作表1!$J$2:$J$6</c:f>
              <c:strCache>
                <c:ptCount val="5"/>
                <c:pt idx="0">
                  <c:v>Channel 1 - Komoran</c:v>
                </c:pt>
                <c:pt idx="1">
                  <c:v>Channel 1 - Mecab</c:v>
                </c:pt>
                <c:pt idx="2">
                  <c:v>Channel 1 - Okt</c:v>
                </c:pt>
                <c:pt idx="3">
                  <c:v>Channel 2 (純 LLM)</c:v>
                </c:pt>
                <c:pt idx="4">
                  <c:v>Channel 3 (混合)</c:v>
                </c:pt>
              </c:strCache>
            </c:strRef>
          </c:cat>
          <c:val>
            <c:numRef>
              <c:f>工作表1!$L$2:$L$6</c:f>
              <c:numCache>
                <c:formatCode>General</c:formatCode>
                <c:ptCount val="5"/>
                <c:pt idx="0">
                  <c:v>0.71</c:v>
                </c:pt>
                <c:pt idx="1">
                  <c:v>0.71</c:v>
                </c:pt>
                <c:pt idx="2">
                  <c:v>0.7</c:v>
                </c:pt>
                <c:pt idx="3">
                  <c:v>2.33</c:v>
                </c:pt>
                <c:pt idx="4">
                  <c:v>0.88</c:v>
                </c:pt>
              </c:numCache>
            </c:numRef>
          </c:val>
          <c:extLst>
            <c:ext xmlns:c16="http://schemas.microsoft.com/office/drawing/2014/chart" uri="{C3380CC4-5D6E-409C-BE32-E72D297353CC}">
              <c16:uniqueId val="{00000005-30F8-40C5-9806-B4250D10B3D2}"/>
            </c:ext>
          </c:extLst>
        </c:ser>
        <c:ser>
          <c:idx val="2"/>
          <c:order val="2"/>
          <c:tx>
            <c:strRef>
              <c:f>工作表1!$M$1</c:f>
              <c:strCache>
                <c:ptCount val="1"/>
                <c:pt idx="0">
                  <c:v>平均</c:v>
                </c:pt>
              </c:strCache>
            </c:strRef>
          </c:tx>
          <c:spPr>
            <a:solidFill>
              <a:schemeClr val="accent3"/>
            </a:solidFill>
            <a:ln>
              <a:noFill/>
            </a:ln>
            <a:effectLst/>
          </c:spPr>
          <c:invertIfNegative val="0"/>
          <c:dPt>
            <c:idx val="3"/>
            <c:invertIfNegative val="0"/>
            <c:bubble3D val="0"/>
            <c:spPr>
              <a:solidFill>
                <a:srgbClr val="C00000"/>
              </a:solidFill>
              <a:ln>
                <a:noFill/>
              </a:ln>
              <a:effectLst/>
            </c:spPr>
            <c:extLst>
              <c:ext xmlns:c16="http://schemas.microsoft.com/office/drawing/2014/chart" uri="{C3380CC4-5D6E-409C-BE32-E72D297353CC}">
                <c16:uniqueId val="{00000007-30F8-40C5-9806-B4250D10B3D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工作表1!$J$2:$J$6</c:f>
              <c:strCache>
                <c:ptCount val="5"/>
                <c:pt idx="0">
                  <c:v>Channel 1 - Komoran</c:v>
                </c:pt>
                <c:pt idx="1">
                  <c:v>Channel 1 - Mecab</c:v>
                </c:pt>
                <c:pt idx="2">
                  <c:v>Channel 1 - Okt</c:v>
                </c:pt>
                <c:pt idx="3">
                  <c:v>Channel 2 (純 LLM)</c:v>
                </c:pt>
                <c:pt idx="4">
                  <c:v>Channel 3 (混合)</c:v>
                </c:pt>
              </c:strCache>
            </c:strRef>
          </c:cat>
          <c:val>
            <c:numRef>
              <c:f>工作表1!$M$2:$M$6</c:f>
              <c:numCache>
                <c:formatCode>General</c:formatCode>
                <c:ptCount val="5"/>
                <c:pt idx="0">
                  <c:v>0.66999999999999993</c:v>
                </c:pt>
                <c:pt idx="1">
                  <c:v>0.66999999999999993</c:v>
                </c:pt>
                <c:pt idx="2">
                  <c:v>0.65999999999999992</c:v>
                </c:pt>
                <c:pt idx="3">
                  <c:v>1.8450000000000002</c:v>
                </c:pt>
                <c:pt idx="4">
                  <c:v>0.79499999999999993</c:v>
                </c:pt>
              </c:numCache>
            </c:numRef>
          </c:val>
          <c:extLst>
            <c:ext xmlns:c16="http://schemas.microsoft.com/office/drawing/2014/chart" uri="{C3380CC4-5D6E-409C-BE32-E72D297353CC}">
              <c16:uniqueId val="{00000008-30F8-40C5-9806-B4250D10B3D2}"/>
            </c:ext>
          </c:extLst>
        </c:ser>
        <c:dLbls>
          <c:showLegendKey val="0"/>
          <c:showVal val="1"/>
          <c:showCatName val="0"/>
          <c:showSerName val="0"/>
          <c:showPercent val="0"/>
          <c:showBubbleSize val="0"/>
        </c:dLbls>
        <c:gapWidth val="219"/>
        <c:axId val="576516920"/>
        <c:axId val="576517576"/>
      </c:barChart>
      <c:lineChart>
        <c:grouping val="standard"/>
        <c:varyColors val="0"/>
        <c:ser>
          <c:idx val="3"/>
          <c:order val="3"/>
          <c:tx>
            <c:strRef>
              <c:f>工作表1!$N$1</c:f>
              <c:strCache>
                <c:ptCount val="1"/>
                <c:pt idx="0">
                  <c:v>閾值 Y=1.0</c:v>
                </c:pt>
              </c:strCache>
            </c:strRef>
          </c:tx>
          <c:spPr>
            <a:ln w="25400" cap="rnd">
              <a:solidFill>
                <a:srgbClr val="FF0000"/>
              </a:solidFill>
              <a:prstDash val="dash"/>
              <a:round/>
            </a:ln>
            <a:effectLst/>
          </c:spPr>
          <c:marker>
            <c:symbol val="none"/>
          </c:marker>
          <c:dPt>
            <c:idx val="4"/>
            <c:marker>
              <c:symbol val="none"/>
            </c:marker>
            <c:bubble3D val="0"/>
            <c:spPr>
              <a:ln w="25400" cap="rnd">
                <a:solidFill>
                  <a:srgbClr val="FF0000"/>
                </a:solidFill>
                <a:prstDash val="dash"/>
                <a:round/>
                <a:tailEnd type="none"/>
              </a:ln>
              <a:effectLst/>
            </c:spPr>
            <c:extLst>
              <c:ext xmlns:c16="http://schemas.microsoft.com/office/drawing/2014/chart" uri="{C3380CC4-5D6E-409C-BE32-E72D297353CC}">
                <c16:uniqueId val="{0000000A-30F8-40C5-9806-B4250D10B3D2}"/>
              </c:ext>
            </c:extLst>
          </c:dPt>
          <c:dLbls>
            <c:delete val="1"/>
          </c:dLbls>
          <c:cat>
            <c:strRef>
              <c:f>工作表1!$J$2:$J$6</c:f>
              <c:strCache>
                <c:ptCount val="5"/>
                <c:pt idx="0">
                  <c:v>Channel 1 - Komoran</c:v>
                </c:pt>
                <c:pt idx="1">
                  <c:v>Channel 1 - Mecab</c:v>
                </c:pt>
                <c:pt idx="2">
                  <c:v>Channel 1 - Okt</c:v>
                </c:pt>
                <c:pt idx="3">
                  <c:v>Channel 2 (純 LLM)</c:v>
                </c:pt>
                <c:pt idx="4">
                  <c:v>Channel 3 (混合)</c:v>
                </c:pt>
              </c:strCache>
            </c:strRef>
          </c:cat>
          <c:val>
            <c:numRef>
              <c:f>工作表1!$N$2:$N$6</c:f>
              <c:numCache>
                <c:formatCode>General</c:formatCode>
                <c:ptCount val="5"/>
                <c:pt idx="0">
                  <c:v>1</c:v>
                </c:pt>
                <c:pt idx="1">
                  <c:v>1</c:v>
                </c:pt>
                <c:pt idx="2">
                  <c:v>1</c:v>
                </c:pt>
                <c:pt idx="3">
                  <c:v>1</c:v>
                </c:pt>
                <c:pt idx="4">
                  <c:v>1</c:v>
                </c:pt>
              </c:numCache>
            </c:numRef>
          </c:val>
          <c:smooth val="0"/>
          <c:extLst>
            <c:ext xmlns:c16="http://schemas.microsoft.com/office/drawing/2014/chart" uri="{C3380CC4-5D6E-409C-BE32-E72D297353CC}">
              <c16:uniqueId val="{0000000B-30F8-40C5-9806-B4250D10B3D2}"/>
            </c:ext>
          </c:extLst>
        </c:ser>
        <c:dLbls>
          <c:showLegendKey val="0"/>
          <c:showVal val="1"/>
          <c:showCatName val="0"/>
          <c:showSerName val="0"/>
          <c:showPercent val="0"/>
          <c:showBubbleSize val="0"/>
        </c:dLbls>
        <c:marker val="1"/>
        <c:smooth val="0"/>
        <c:axId val="576516920"/>
        <c:axId val="576517576"/>
      </c:lineChart>
      <c:catAx>
        <c:axId val="5765169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576517576"/>
        <c:crosses val="autoZero"/>
        <c:auto val="1"/>
        <c:lblAlgn val="ctr"/>
        <c:lblOffset val="100"/>
        <c:noMultiLvlLbl val="0"/>
      </c:catAx>
      <c:valAx>
        <c:axId val="5765175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576516920"/>
        <c:crosses val="autoZero"/>
        <c:crossBetween val="between"/>
      </c:valAx>
      <c:spPr>
        <a:noFill/>
        <a:ln>
          <a:noFill/>
        </a:ln>
        <a:effectLst/>
      </c:spPr>
    </c:plotArea>
    <c:legend>
      <c:legendPos val="tr"/>
      <c:layout>
        <c:manualLayout>
          <c:xMode val="edge"/>
          <c:yMode val="edge"/>
          <c:x val="0.77648895926361183"/>
          <c:y val="0.12189106903368101"/>
          <c:w val="0.21067787093334195"/>
          <c:h val="0.22932719448937056"/>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chart>
  <c:spPr>
    <a:solidFill>
      <a:schemeClr val="bg1"/>
    </a:solidFill>
    <a:ln w="12700" cap="flat" cmpd="sng" algn="ctr">
      <a:solidFill>
        <a:schemeClr val="tx1">
          <a:lumMod val="15000"/>
          <a:lumOff val="85000"/>
        </a:schemeClr>
      </a:solidFill>
      <a:round/>
    </a:ln>
    <a:effectLst/>
  </c:spPr>
  <c:txPr>
    <a:bodyPr/>
    <a:lstStyle/>
    <a:p>
      <a:pPr>
        <a:defRPr/>
      </a:pPr>
      <a:endParaRPr lang="zh-TW"/>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TW" altLang="en-US" sz="1400" b="0" i="0" u="none" strike="noStrike" baseline="0" dirty="0"/>
              <a:t>成本</a:t>
            </a:r>
            <a:r>
              <a:rPr lang="zh-TW" altLang="en-US" sz="1400" b="0" i="0" u="none" strike="noStrike" baseline="0" dirty="0" smtClean="0"/>
              <a:t>效益</a:t>
            </a:r>
            <a:endParaRPr lang="zh-TW" altLang="en-US"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p>
      </c:txPr>
    </c:title>
    <c:autoTitleDeleted val="0"/>
    <c:plotArea>
      <c:layout/>
      <c:bubbleChart>
        <c:varyColors val="0"/>
        <c:ser>
          <c:idx val="0"/>
          <c:order val="0"/>
          <c:spPr>
            <a:solidFill>
              <a:schemeClr val="accent1">
                <a:alpha val="75000"/>
              </a:schemeClr>
            </a:solidFill>
            <a:ln>
              <a:solidFill>
                <a:schemeClr val="accent1">
                  <a:alpha val="40000"/>
                </a:schemeClr>
              </a:solidFill>
            </a:ln>
            <a:effectLst/>
          </c:spPr>
          <c:invertIfNegative val="0"/>
          <c:dPt>
            <c:idx val="0"/>
            <c:invertIfNegative val="0"/>
            <c:bubble3D val="0"/>
            <c:spPr>
              <a:solidFill>
                <a:schemeClr val="accent3">
                  <a:lumMod val="75000"/>
                  <a:alpha val="70000"/>
                </a:schemeClr>
              </a:solidFill>
              <a:ln>
                <a:noFill/>
              </a:ln>
              <a:effectLst/>
            </c:spPr>
            <c:extLst>
              <c:ext xmlns:c16="http://schemas.microsoft.com/office/drawing/2014/chart" uri="{C3380CC4-5D6E-409C-BE32-E72D297353CC}">
                <c16:uniqueId val="{00000000-545A-4E6E-A3DC-97EFA9BEA42C}"/>
              </c:ext>
            </c:extLst>
          </c:dPt>
          <c:dPt>
            <c:idx val="1"/>
            <c:invertIfNegative val="0"/>
            <c:bubble3D val="0"/>
            <c:spPr>
              <a:solidFill>
                <a:schemeClr val="accent1">
                  <a:alpha val="75000"/>
                </a:schemeClr>
              </a:solidFill>
              <a:ln>
                <a:noFill/>
              </a:ln>
              <a:effectLst/>
            </c:spPr>
            <c:extLst>
              <c:ext xmlns:c16="http://schemas.microsoft.com/office/drawing/2014/chart" uri="{C3380CC4-5D6E-409C-BE32-E72D297353CC}">
                <c16:uniqueId val="{00000001-545A-4E6E-A3DC-97EFA9BEA42C}"/>
              </c:ext>
            </c:extLst>
          </c:dPt>
          <c:dPt>
            <c:idx val="2"/>
            <c:invertIfNegative val="0"/>
            <c:bubble3D val="0"/>
            <c:spPr>
              <a:solidFill>
                <a:schemeClr val="accent6">
                  <a:lumMod val="75000"/>
                  <a:alpha val="70000"/>
                </a:schemeClr>
              </a:solidFill>
              <a:ln>
                <a:noFill/>
              </a:ln>
              <a:effectLst/>
            </c:spPr>
            <c:extLst>
              <c:ext xmlns:c16="http://schemas.microsoft.com/office/drawing/2014/chart" uri="{C3380CC4-5D6E-409C-BE32-E72D297353CC}">
                <c16:uniqueId val="{00000002-545A-4E6E-A3DC-97EFA9BEA42C}"/>
              </c:ext>
            </c:extLst>
          </c:dPt>
          <c:dPt>
            <c:idx val="3"/>
            <c:invertIfNegative val="0"/>
            <c:bubble3D val="0"/>
            <c:spPr>
              <a:solidFill>
                <a:srgbClr val="C00000"/>
              </a:solidFill>
              <a:ln>
                <a:solidFill>
                  <a:schemeClr val="accent1">
                    <a:alpha val="40000"/>
                  </a:schemeClr>
                </a:solidFill>
              </a:ln>
              <a:effectLst/>
            </c:spPr>
            <c:extLst>
              <c:ext xmlns:c16="http://schemas.microsoft.com/office/drawing/2014/chart" uri="{C3380CC4-5D6E-409C-BE32-E72D297353CC}">
                <c16:uniqueId val="{00000003-545A-4E6E-A3DC-97EFA9BEA42C}"/>
              </c:ext>
            </c:extLst>
          </c:dPt>
          <c:dPt>
            <c:idx val="4"/>
            <c:invertIfNegative val="0"/>
            <c:bubble3D val="0"/>
            <c:spPr>
              <a:solidFill>
                <a:srgbClr val="FA1239">
                  <a:alpha val="70000"/>
                </a:srgbClr>
              </a:solidFill>
              <a:ln>
                <a:noFill/>
              </a:ln>
              <a:effectLst/>
            </c:spPr>
            <c:extLst>
              <c:ext xmlns:c16="http://schemas.microsoft.com/office/drawing/2014/chart" uri="{C3380CC4-5D6E-409C-BE32-E72D297353CC}">
                <c16:uniqueId val="{00000004-545A-4E6E-A3DC-97EFA9BEA42C}"/>
              </c:ext>
            </c:extLst>
          </c:dPt>
          <c:dLbls>
            <c:dLbl>
              <c:idx val="0"/>
              <c:layout>
                <c:manualLayout>
                  <c:x val="-0.15914795669729881"/>
                  <c:y val="-0.12824155151808908"/>
                </c:manualLayout>
              </c:layout>
              <c:tx>
                <c:rich>
                  <a:bodyPr/>
                  <a:lstStyle/>
                  <a:p>
                    <a:fld id="{71C2FFEF-B000-413A-A87C-970B27D52EBC}" type="CELLRANGE">
                      <a:rPr lang="en-US" altLang="zh-TW"/>
                      <a:pPr/>
                      <a:t>[CELLRANGE]</a:t>
                    </a:fld>
                    <a:r>
                      <a:rPr lang="en-US" altLang="zh-TW" baseline="0"/>
                      <a:t>, </a:t>
                    </a:r>
                    <a:fld id="{79D08987-34D2-4AFE-BB66-B3E9C5B2BF42}" type="YVALUE">
                      <a:rPr lang="en-US" altLang="zh-TW" baseline="0"/>
                      <a:pPr/>
                      <a:t>[Y 值]</a:t>
                    </a:fld>
                    <a:endParaRPr lang="en-US" altLang="zh-TW" baseline="0"/>
                  </a:p>
                </c:rich>
              </c:tx>
              <c:dLblPos val="r"/>
              <c:showLegendKey val="0"/>
              <c:showVal val="1"/>
              <c:showCatName val="0"/>
              <c:showSerName val="0"/>
              <c:showPercent val="0"/>
              <c:showBubbleSize val="0"/>
              <c:extLst>
                <c:ext xmlns:c15="http://schemas.microsoft.com/office/drawing/2012/chart" uri="{CE6537A1-D6FC-4f65-9D91-7224C49458BB}">
                  <c15:layout>
                    <c:manualLayout>
                      <c:w val="0.25871466861598436"/>
                      <c:h val="8.6545717335315769E-2"/>
                    </c:manualLayout>
                  </c15:layout>
                  <c15:dlblFieldTable/>
                  <c15:showDataLabelsRange val="1"/>
                </c:ext>
                <c:ext xmlns:c16="http://schemas.microsoft.com/office/drawing/2014/chart" uri="{C3380CC4-5D6E-409C-BE32-E72D297353CC}">
                  <c16:uniqueId val="{00000000-545A-4E6E-A3DC-97EFA9BEA42C}"/>
                </c:ext>
              </c:extLst>
            </c:dLbl>
            <c:dLbl>
              <c:idx val="1"/>
              <c:layout>
                <c:manualLayout>
                  <c:x val="1.3262322472848788E-2"/>
                  <c:y val="-9.0115684850549063E-2"/>
                </c:manualLayout>
              </c:layout>
              <c:tx>
                <c:rich>
                  <a:bodyPr/>
                  <a:lstStyle/>
                  <a:p>
                    <a:fld id="{F2E5584D-464E-41CC-9B03-B741F180C236}" type="CELLRANGE">
                      <a:rPr lang="en-US" altLang="zh-TW"/>
                      <a:pPr/>
                      <a:t>[CELLRANGE]</a:t>
                    </a:fld>
                    <a:r>
                      <a:rPr lang="en-US" altLang="zh-TW" baseline="0"/>
                      <a:t>, </a:t>
                    </a:r>
                    <a:fld id="{259383A5-2008-4A3C-8E1D-1BDAC17882A2}" type="YVALUE">
                      <a:rPr lang="en-US" altLang="zh-TW" baseline="0"/>
                      <a:pPr/>
                      <a:t>[Y 值]</a:t>
                    </a:fld>
                    <a:endParaRPr lang="en-US" altLang="zh-TW" baseline="0"/>
                  </a:p>
                </c:rich>
              </c:tx>
              <c:dLblPos val="r"/>
              <c:showLegendKey val="0"/>
              <c:showVal val="1"/>
              <c:showCatName val="0"/>
              <c:showSerName val="0"/>
              <c:showPercent val="0"/>
              <c:showBubbleSize val="0"/>
              <c:extLst>
                <c:ext xmlns:c15="http://schemas.microsoft.com/office/drawing/2012/chart" uri="{CE6537A1-D6FC-4f65-9D91-7224C49458BB}">
                  <c15:layout>
                    <c:manualLayout>
                      <c:w val="0.21778943887496519"/>
                      <c:h val="8.6545717335315769E-2"/>
                    </c:manualLayout>
                  </c15:layout>
                  <c15:dlblFieldTable/>
                  <c15:showDataLabelsRange val="1"/>
                </c:ext>
                <c:ext xmlns:c16="http://schemas.microsoft.com/office/drawing/2014/chart" uri="{C3380CC4-5D6E-409C-BE32-E72D297353CC}">
                  <c16:uniqueId val="{00000001-545A-4E6E-A3DC-97EFA9BEA42C}"/>
                </c:ext>
              </c:extLst>
            </c:dLbl>
            <c:dLbl>
              <c:idx val="2"/>
              <c:layout>
                <c:manualLayout>
                  <c:x val="-7.073238652186023E-2"/>
                  <c:y val="0.11091161212375268"/>
                </c:manualLayout>
              </c:layout>
              <c:tx>
                <c:rich>
                  <a:bodyPr/>
                  <a:lstStyle/>
                  <a:p>
                    <a:fld id="{6B301D34-7245-44B1-B116-70BD17E21E6F}" type="CELLRANGE">
                      <a:rPr lang="en-US" altLang="zh-TW"/>
                      <a:pPr/>
                      <a:t>[CELLRANGE]</a:t>
                    </a:fld>
                    <a:r>
                      <a:rPr lang="en-US" altLang="zh-TW" baseline="0"/>
                      <a:t>, </a:t>
                    </a:r>
                    <a:fld id="{54D08C67-AA6F-4287-84D3-2100558A582C}" type="YVALUE">
                      <a:rPr lang="en-US" altLang="zh-TW" baseline="0"/>
                      <a:pPr/>
                      <a:t>[Y 值]</a:t>
                    </a:fld>
                    <a:endParaRPr lang="en-US" altLang="zh-TW" baseline="0"/>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1"/>
                </c:ext>
                <c:ext xmlns:c16="http://schemas.microsoft.com/office/drawing/2014/chart" uri="{C3380CC4-5D6E-409C-BE32-E72D297353CC}">
                  <c16:uniqueId val="{00000002-545A-4E6E-A3DC-97EFA9BEA42C}"/>
                </c:ext>
              </c:extLst>
            </c:dLbl>
            <c:dLbl>
              <c:idx val="3"/>
              <c:layout>
                <c:manualLayout>
                  <c:x val="-5.3049289891395152E-2"/>
                  <c:y val="-0.10051364848715087"/>
                </c:manualLayout>
              </c:layout>
              <c:tx>
                <c:rich>
                  <a:bodyPr/>
                  <a:lstStyle/>
                  <a:p>
                    <a:fld id="{0EDB6F38-4CDD-4092-A972-1CF6F8DCDCB2}" type="CELLRANGE">
                      <a:rPr lang="en-US" altLang="zh-TW"/>
                      <a:pPr/>
                      <a:t>[CELLRANGE]</a:t>
                    </a:fld>
                    <a:r>
                      <a:rPr lang="en-US" altLang="zh-TW" baseline="0"/>
                      <a:t>, </a:t>
                    </a:r>
                    <a:fld id="{3D942C44-F590-4B09-B63C-981E0652E027}" type="YVALUE">
                      <a:rPr lang="en-US" altLang="zh-TW" baseline="0"/>
                      <a:pPr/>
                      <a:t>[Y 值]</a:t>
                    </a:fld>
                    <a:endParaRPr lang="en-US" altLang="zh-TW" baseline="0"/>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1"/>
                </c:ext>
                <c:ext xmlns:c16="http://schemas.microsoft.com/office/drawing/2014/chart" uri="{C3380CC4-5D6E-409C-BE32-E72D297353CC}">
                  <c16:uniqueId val="{00000003-545A-4E6E-A3DC-97EFA9BEA42C}"/>
                </c:ext>
              </c:extLst>
            </c:dLbl>
            <c:dLbl>
              <c:idx val="4"/>
              <c:layout>
                <c:manualLayout>
                  <c:x val="-1.5472709551656919E-2"/>
                  <c:y val="8.3183709092814515E-2"/>
                </c:manualLayout>
              </c:layout>
              <c:tx>
                <c:rich>
                  <a:bodyPr/>
                  <a:lstStyle/>
                  <a:p>
                    <a:fld id="{B0B6FF51-8912-4A9C-A929-3CF7695A4B8C}" type="CELLRANGE">
                      <a:rPr lang="en-US" altLang="zh-TW"/>
                      <a:pPr/>
                      <a:t>[CELLRANGE]</a:t>
                    </a:fld>
                    <a:r>
                      <a:rPr lang="en-US" altLang="zh-TW" baseline="0"/>
                      <a:t>, </a:t>
                    </a:r>
                    <a:fld id="{E2A710AB-12CD-41DC-B1BC-0F4D31BF39E8}" type="YVALUE">
                      <a:rPr lang="en-US" altLang="zh-TW" baseline="0"/>
                      <a:pPr/>
                      <a:t>[Y 值]</a:t>
                    </a:fld>
                    <a:endParaRPr lang="en-US" altLang="zh-TW" baseline="0"/>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1"/>
                </c:ext>
                <c:ext xmlns:c16="http://schemas.microsoft.com/office/drawing/2014/chart" uri="{C3380CC4-5D6E-409C-BE32-E72D297353CC}">
                  <c16:uniqueId val="{00000004-545A-4E6E-A3DC-97EFA9BEA42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r"/>
            <c:showLegendKey val="0"/>
            <c:showVal val="1"/>
            <c:showCatName val="0"/>
            <c:showSerName val="0"/>
            <c:showPercent val="0"/>
            <c:showBubbleSize val="0"/>
            <c:showLeaderLines val="0"/>
            <c:extLst>
              <c:ext xmlns:c15="http://schemas.microsoft.com/office/drawing/2012/chart" uri="{CE6537A1-D6FC-4f65-9D91-7224C49458BB}">
                <c15:layout/>
                <c15:showDataLabelsRange val="1"/>
                <c15:showLeaderLines val="1"/>
                <c15:leaderLines>
                  <c:spPr>
                    <a:ln w="9525" cap="flat" cmpd="sng" algn="ctr">
                      <a:solidFill>
                        <a:schemeClr val="tx1">
                          <a:lumMod val="35000"/>
                          <a:lumOff val="65000"/>
                        </a:schemeClr>
                      </a:solidFill>
                      <a:round/>
                    </a:ln>
                    <a:effectLst/>
                  </c:spPr>
                </c15:leaderLines>
              </c:ext>
            </c:extLst>
          </c:dLbls>
          <c:xVal>
            <c:numRef>
              <c:f>工作表1!$K$11:$K$15</c:f>
              <c:numCache>
                <c:formatCode>General</c:formatCode>
                <c:ptCount val="5"/>
                <c:pt idx="0">
                  <c:v>0.67</c:v>
                </c:pt>
                <c:pt idx="1">
                  <c:v>0.67</c:v>
                </c:pt>
                <c:pt idx="2">
                  <c:v>0.66</c:v>
                </c:pt>
                <c:pt idx="3">
                  <c:v>1.845</c:v>
                </c:pt>
                <c:pt idx="4">
                  <c:v>0.79500000000000004</c:v>
                </c:pt>
              </c:numCache>
            </c:numRef>
          </c:xVal>
          <c:yVal>
            <c:numRef>
              <c:f>工作表1!$L$11:$L$15</c:f>
              <c:numCache>
                <c:formatCode>General</c:formatCode>
                <c:ptCount val="5"/>
                <c:pt idx="0">
                  <c:v>84.3</c:v>
                </c:pt>
                <c:pt idx="1">
                  <c:v>80.7</c:v>
                </c:pt>
                <c:pt idx="2">
                  <c:v>74.900000000000006</c:v>
                </c:pt>
                <c:pt idx="3">
                  <c:v>31.1</c:v>
                </c:pt>
                <c:pt idx="4">
                  <c:v>81.099999999999994</c:v>
                </c:pt>
              </c:numCache>
            </c:numRef>
          </c:yVal>
          <c:bubbleSize>
            <c:numRef>
              <c:f>工作表1!$M$11:$M$15</c:f>
              <c:numCache>
                <c:formatCode>General</c:formatCode>
                <c:ptCount val="5"/>
                <c:pt idx="0">
                  <c:v>3713</c:v>
                </c:pt>
                <c:pt idx="1">
                  <c:v>3252</c:v>
                </c:pt>
                <c:pt idx="2">
                  <c:v>2609</c:v>
                </c:pt>
                <c:pt idx="3">
                  <c:v>422</c:v>
                </c:pt>
                <c:pt idx="4">
                  <c:v>3271</c:v>
                </c:pt>
              </c:numCache>
            </c:numRef>
          </c:bubbleSize>
          <c:bubble3D val="0"/>
          <c:extLst>
            <c:ext xmlns:c15="http://schemas.microsoft.com/office/drawing/2012/chart" uri="{02D57815-91ED-43cb-92C2-25804820EDAC}">
              <c15:datalabelsRange>
                <c15:f>工作表1!$J$11:$J$15</c15:f>
                <c15:dlblRangeCache>
                  <c:ptCount val="5"/>
                  <c:pt idx="0">
                    <c:v>Channel 1 - Komoran</c:v>
                  </c:pt>
                  <c:pt idx="1">
                    <c:v>Channel 1 - Mecab</c:v>
                  </c:pt>
                  <c:pt idx="2">
                    <c:v>Channel 1 - Okt</c:v>
                  </c:pt>
                  <c:pt idx="3">
                    <c:v>Channel 2 (LLM)</c:v>
                  </c:pt>
                  <c:pt idx="4">
                    <c:v>Channel 3 (混合)</c:v>
                  </c:pt>
                </c15:dlblRangeCache>
              </c15:datalabelsRange>
            </c:ext>
            <c:ext xmlns:c16="http://schemas.microsoft.com/office/drawing/2014/chart" uri="{C3380CC4-5D6E-409C-BE32-E72D297353CC}">
              <c16:uniqueId val="{00000005-545A-4E6E-A3DC-97EFA9BEA42C}"/>
            </c:ext>
          </c:extLst>
        </c:ser>
        <c:dLbls>
          <c:dLblPos val="r"/>
          <c:showLegendKey val="0"/>
          <c:showVal val="1"/>
          <c:showCatName val="0"/>
          <c:showSerName val="0"/>
          <c:showPercent val="0"/>
          <c:showBubbleSize val="0"/>
        </c:dLbls>
        <c:bubbleScale val="50"/>
        <c:showNegBubbles val="0"/>
        <c:axId val="560050904"/>
        <c:axId val="560049264"/>
      </c:bubbleChart>
      <c:valAx>
        <c:axId val="560050904"/>
        <c:scaling>
          <c:orientation val="minMax"/>
          <c:max val="1.9"/>
          <c:min val="0.5"/>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zh-TW" altLang="en-US" sz="1000" b="0" i="0" u="none" strike="noStrike" baseline="0" dirty="0"/>
                  <a:t>平均時間預算比</a:t>
                </a:r>
                <a:endParaRPr lang="zh-TW" altLang="en-US" dirty="0"/>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TW"/>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560049264"/>
        <c:crosses val="autoZero"/>
        <c:crossBetween val="midCat"/>
      </c:valAx>
      <c:valAx>
        <c:axId val="560049264"/>
        <c:scaling>
          <c:orientation val="minMax"/>
          <c:max val="92"/>
          <c:min val="25"/>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vert="eaVert" wrap="square" anchor="ctr" anchorCtr="1"/>
              <a:lstStyle/>
              <a:p>
                <a:pPr>
                  <a:defRPr sz="1000" b="0" i="0" u="none" strike="noStrike" kern="1200" baseline="0">
                    <a:solidFill>
                      <a:schemeClr val="tx1">
                        <a:lumMod val="65000"/>
                        <a:lumOff val="35000"/>
                      </a:schemeClr>
                    </a:solidFill>
                    <a:latin typeface="+mn-lt"/>
                    <a:ea typeface="+mn-ea"/>
                    <a:cs typeface="+mn-cs"/>
                  </a:defRPr>
                </a:pPr>
                <a:r>
                  <a:rPr lang="zh-TW" altLang="en-US" sz="1000" b="0" i="0" u="none" strike="noStrike" baseline="0" dirty="0"/>
                  <a:t>平均有效準確率 </a:t>
                </a:r>
                <a:r>
                  <a:rPr lang="en-US" altLang="zh-TW" sz="1000" b="0" i="0" u="none" strike="noStrike" baseline="0" dirty="0"/>
                  <a:t>(%)</a:t>
                </a:r>
                <a:endParaRPr lang="zh-TW" altLang="en-US" dirty="0"/>
              </a:p>
            </c:rich>
          </c:tx>
          <c:layout/>
          <c:overlay val="0"/>
          <c:spPr>
            <a:noFill/>
            <a:ln>
              <a:noFill/>
            </a:ln>
            <a:effectLst/>
          </c:spPr>
          <c:txPr>
            <a:bodyPr rot="0" spcFirstLastPara="1" vertOverflow="ellipsis" vert="eaVert"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TW"/>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560050904"/>
        <c:crosses val="autoZero"/>
        <c:crossBetween val="midCat"/>
        <c:majorUnit val="10"/>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0.39627</cdr:x>
      <cdr:y>0.09492</cdr:y>
    </cdr:from>
    <cdr:to>
      <cdr:x>0.39627</cdr:x>
      <cdr:y>0.87603</cdr:y>
    </cdr:to>
    <cdr:cxnSp macro="">
      <cdr:nvCxnSpPr>
        <cdr:cNvPr id="5" name="直線接點 4" title="X = 1.0"/>
        <cdr:cNvCxnSpPr/>
      </cdr:nvCxnSpPr>
      <cdr:spPr>
        <a:xfrm xmlns:a="http://schemas.openxmlformats.org/drawingml/2006/main" flipH="1" flipV="1">
          <a:off x="2729439" y="437449"/>
          <a:ext cx="0" cy="3600000"/>
        </a:xfrm>
        <a:prstGeom xmlns:a="http://schemas.openxmlformats.org/drawingml/2006/main" prst="line">
          <a:avLst/>
        </a:prstGeom>
        <a:ln xmlns:a="http://schemas.openxmlformats.org/drawingml/2006/main" w="19050">
          <a:solidFill>
            <a:srgbClr val="FF0000"/>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0.34721</cdr:x>
      <cdr:y>0.89029</cdr:y>
    </cdr:from>
    <cdr:to>
      <cdr:x>0.45174</cdr:x>
      <cdr:y>0.9593</cdr:y>
    </cdr:to>
    <cdr:sp macro="" textlink="">
      <cdr:nvSpPr>
        <cdr:cNvPr id="6" name="文字方塊 5"/>
        <cdr:cNvSpPr txBox="1"/>
      </cdr:nvSpPr>
      <cdr:spPr>
        <a:xfrm xmlns:a="http://schemas.openxmlformats.org/drawingml/2006/main">
          <a:off x="2391509" y="4103208"/>
          <a:ext cx="720000" cy="318052"/>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altLang="zh-TW" sz="1100">
              <a:solidFill>
                <a:srgbClr val="FF0000"/>
              </a:solidFill>
            </a:rPr>
            <a:t>X = 1.0</a:t>
          </a:r>
          <a:endParaRPr lang="zh-TW" altLang="en-US" sz="1100">
            <a:solidFill>
              <a:srgbClr val="FF0000"/>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dirty="0"/>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C5E9C6-4F51-4599-8DEA-64FF093434C4}" type="datetimeFigureOut">
              <a:rPr lang="zh-TW" altLang="en-US" smtClean="0"/>
              <a:t>2026/10/14</a:t>
            </a:fld>
            <a:endParaRPr lang="zh-TW" altLang="en-US" dirty="0"/>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dirty="0"/>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dirty="0" smtClean="0"/>
              <a:t>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dirty="0"/>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ED217B-F26A-49C5-8C15-643A2B2BC492}" type="slidenum">
              <a:rPr lang="zh-TW" altLang="en-US" smtClean="0"/>
              <a:t>‹#›</a:t>
            </a:fld>
            <a:endParaRPr lang="zh-TW" altLang="en-US" dirty="0"/>
          </a:p>
        </p:txBody>
      </p:sp>
    </p:spTree>
    <p:extLst>
      <p:ext uri="{BB962C8B-B14F-4D97-AF65-F5344CB8AC3E}">
        <p14:creationId xmlns:p14="http://schemas.microsoft.com/office/powerpoint/2010/main" val="4251187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6ED217B-F26A-49C5-8C15-643A2B2BC492}" type="slidenum">
              <a:rPr lang="zh-TW" altLang="en-US" smtClean="0"/>
              <a:t>5</a:t>
            </a:fld>
            <a:endParaRPr lang="zh-TW" altLang="en-US"/>
          </a:p>
        </p:txBody>
      </p:sp>
    </p:spTree>
    <p:extLst>
      <p:ext uri="{BB962C8B-B14F-4D97-AF65-F5344CB8AC3E}">
        <p14:creationId xmlns:p14="http://schemas.microsoft.com/office/powerpoint/2010/main" val="2823136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6ED217B-F26A-49C5-8C15-643A2B2BC492}" type="slidenum">
              <a:rPr lang="zh-TW" altLang="en-US" smtClean="0"/>
              <a:t>6</a:t>
            </a:fld>
            <a:endParaRPr lang="zh-TW" altLang="en-US"/>
          </a:p>
        </p:txBody>
      </p:sp>
    </p:spTree>
    <p:extLst>
      <p:ext uri="{BB962C8B-B14F-4D97-AF65-F5344CB8AC3E}">
        <p14:creationId xmlns:p14="http://schemas.microsoft.com/office/powerpoint/2010/main" val="714224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6ED217B-F26A-49C5-8C15-643A2B2BC492}" type="slidenum">
              <a:rPr lang="zh-TW" altLang="en-US" smtClean="0"/>
              <a:t>7</a:t>
            </a:fld>
            <a:endParaRPr lang="zh-TW" altLang="en-US"/>
          </a:p>
        </p:txBody>
      </p:sp>
    </p:spTree>
    <p:extLst>
      <p:ext uri="{BB962C8B-B14F-4D97-AF65-F5344CB8AC3E}">
        <p14:creationId xmlns:p14="http://schemas.microsoft.com/office/powerpoint/2010/main" val="1103894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6ED217B-F26A-49C5-8C15-643A2B2BC492}" type="slidenum">
              <a:rPr lang="zh-TW" altLang="en-US" smtClean="0"/>
              <a:t>8</a:t>
            </a:fld>
            <a:endParaRPr lang="zh-TW" altLang="en-US"/>
          </a:p>
        </p:txBody>
      </p:sp>
    </p:spTree>
    <p:extLst>
      <p:ext uri="{BB962C8B-B14F-4D97-AF65-F5344CB8AC3E}">
        <p14:creationId xmlns:p14="http://schemas.microsoft.com/office/powerpoint/2010/main" val="3285600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6ED217B-F26A-49C5-8C15-643A2B2BC492}" type="slidenum">
              <a:rPr lang="zh-TW" altLang="en-US" smtClean="0"/>
              <a:t>10</a:t>
            </a:fld>
            <a:endParaRPr lang="zh-TW" altLang="en-US"/>
          </a:p>
        </p:txBody>
      </p:sp>
    </p:spTree>
    <p:extLst>
      <p:ext uri="{BB962C8B-B14F-4D97-AF65-F5344CB8AC3E}">
        <p14:creationId xmlns:p14="http://schemas.microsoft.com/office/powerpoint/2010/main" val="3483576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6ED217B-F26A-49C5-8C15-643A2B2BC492}" type="slidenum">
              <a:rPr lang="zh-TW" altLang="en-US" smtClean="0"/>
              <a:t>16</a:t>
            </a:fld>
            <a:endParaRPr lang="zh-TW" altLang="en-US"/>
          </a:p>
        </p:txBody>
      </p:sp>
    </p:spTree>
    <p:extLst>
      <p:ext uri="{BB962C8B-B14F-4D97-AF65-F5344CB8AC3E}">
        <p14:creationId xmlns:p14="http://schemas.microsoft.com/office/powerpoint/2010/main" val="1774833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chart" Target="../charts/char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6.png"/><Relationship Id="rId4" Type="http://schemas.openxmlformats.org/officeDocument/2006/relationships/chart" Target="../charts/chart8.xml"/><Relationship Id="rId5" Type="http://schemas.openxmlformats.org/officeDocument/2006/relationships/chart" Target="../charts/char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6217290" y="-1"/>
            <a:ext cx="5962650" cy="68580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4000" y="1303145"/>
            <a:ext cx="6408000" cy="4251707"/>
          </a:xfrm>
          <a:prstGeom prst="roundRect">
            <a:avLst>
              <a:gd name="adj" fmla="val 10998"/>
            </a:avLst>
          </a:prstGeom>
          <a:noFill/>
          <a:ln>
            <a:noFill/>
          </a:ln>
          <a:effectLst>
            <a:outerShdw blurRad="50800" dist="38100" dir="2700000" algn="tl" rotWithShape="0">
              <a:prstClr val="black">
                <a:alpha val="40000"/>
              </a:prstClr>
            </a:outerShdw>
            <a:softEdge rad="76200"/>
          </a:effectLst>
        </p:spPr>
      </p:pic>
      <p:sp>
        <p:nvSpPr>
          <p:cNvPr id="2" name="Rounded Rectangle 1"/>
          <p:cNvSpPr/>
          <p:nvPr/>
        </p:nvSpPr>
        <p:spPr>
          <a:xfrm>
            <a:off x="2311161" y="1037285"/>
            <a:ext cx="2533278" cy="840528"/>
          </a:xfrm>
          <a:prstGeom prst="roundRect">
            <a:avLst>
              <a:gd name="adj" fmla="val 33189"/>
            </a:avLst>
          </a:prstGeom>
          <a:solidFill>
            <a:srgbClr val="1E293B">
              <a:alpha val="40000"/>
            </a:srgbClr>
          </a:solidFill>
          <a:ln>
            <a:noFill/>
          </a:ln>
          <a:effectLst>
            <a:softEdge rad="1016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762000" y="4778573"/>
            <a:ext cx="60960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762000" y="2546151"/>
            <a:ext cx="5700712" cy="1282402"/>
          </a:xfrm>
          <a:prstGeom prst="rect">
            <a:avLst/>
          </a:prstGeom>
          <a:noFill/>
        </p:spPr>
        <p:txBody>
          <a:bodyPr wrap="square" lIns="0" tIns="0" rIns="0" bIns="0" anchor="t">
            <a:spAutoFit/>
          </a:bodyPr>
          <a:lstStyle/>
          <a:p>
            <a:pPr algn="l">
              <a:lnSpc>
                <a:spcPts val="5040"/>
              </a:lnSpc>
            </a:pPr>
            <a:r>
              <a:rPr lang="zh-TW" altLang="en-US" sz="4200" b="1" i="0" u="none" dirty="0" smtClean="0">
                <a:solidFill>
                  <a:srgbClr val="F8FAFC"/>
                </a:solidFill>
                <a:latin typeface="微軟正黑體" panose="020B0604030504040204" pitchFamily="34" charset="-120"/>
                <a:ea typeface="微軟正黑體" panose="020B0604030504040204" pitchFamily="34" charset="-120"/>
              </a:rPr>
              <a:t>語言學習</a:t>
            </a:r>
            <a:endParaRPr lang="en-US" altLang="zh-TW" sz="4200" b="1" i="0" u="none" dirty="0" smtClean="0">
              <a:solidFill>
                <a:srgbClr val="F8FAFC"/>
              </a:solidFill>
              <a:latin typeface="微軟正黑體" panose="020B0604030504040204" pitchFamily="34" charset="-120"/>
              <a:ea typeface="微軟正黑體" panose="020B0604030504040204" pitchFamily="34" charset="-120"/>
            </a:endParaRPr>
          </a:p>
          <a:p>
            <a:pPr algn="l">
              <a:lnSpc>
                <a:spcPts val="5040"/>
              </a:lnSpc>
            </a:pPr>
            <a:r>
              <a:rPr lang="zh-TW" altLang="en-US" sz="4200" b="1" i="0" u="none" dirty="0" smtClean="0">
                <a:solidFill>
                  <a:srgbClr val="F8FAFC"/>
                </a:solidFill>
                <a:latin typeface="微軟正黑體" panose="020B0604030504040204" pitchFamily="34" charset="-120"/>
                <a:ea typeface="微軟正黑體" panose="020B0604030504040204" pitchFamily="34" charset="-120"/>
              </a:rPr>
              <a:t>影片字幕抓取工具</a:t>
            </a:r>
            <a:endParaRPr lang="zh-TW" altLang="en-US" sz="4200" b="1" i="0" u="none" dirty="0">
              <a:solidFill>
                <a:srgbClr val="F8FAFC"/>
              </a:solidFill>
              <a:latin typeface="微軟正黑體" panose="020B0604030504040204" pitchFamily="34" charset="-120"/>
              <a:ea typeface="微軟正黑體" panose="020B0604030504040204" pitchFamily="34" charset="-120"/>
            </a:endParaRPr>
          </a:p>
        </p:txBody>
      </p:sp>
      <p:sp>
        <p:nvSpPr>
          <p:cNvPr id="8" name="TextBox 7"/>
          <p:cNvSpPr txBox="1"/>
          <p:nvPr/>
        </p:nvSpPr>
        <p:spPr>
          <a:xfrm>
            <a:off x="762000" y="4054673"/>
            <a:ext cx="2077492" cy="312650"/>
          </a:xfrm>
          <a:prstGeom prst="rect">
            <a:avLst/>
          </a:prstGeom>
          <a:noFill/>
        </p:spPr>
        <p:txBody>
          <a:bodyPr wrap="none" lIns="0" tIns="0" rIns="0" bIns="0" anchor="t">
            <a:spAutoFit/>
          </a:bodyPr>
          <a:lstStyle/>
          <a:p>
            <a:pPr algn="l">
              <a:lnSpc>
                <a:spcPts val="2700"/>
              </a:lnSpc>
            </a:pPr>
            <a:r>
              <a:rPr sz="1800" b="0" i="0" u="none" dirty="0" err="1" smtClean="0">
                <a:solidFill>
                  <a:srgbClr val="94A3B8"/>
                </a:solidFill>
                <a:latin typeface="微軟正黑體" panose="020B0604030504040204" pitchFamily="34" charset="-120"/>
                <a:ea typeface="微軟正黑體" panose="020B0604030504040204" pitchFamily="34" charset="-120"/>
              </a:rPr>
              <a:t>架構介紹與</a:t>
            </a:r>
            <a:r>
              <a:rPr lang="zh-TW" altLang="en-US" sz="1800" b="0" i="0" u="none" dirty="0" smtClean="0">
                <a:solidFill>
                  <a:srgbClr val="94A3B8"/>
                </a:solidFill>
                <a:latin typeface="微軟正黑體" panose="020B0604030504040204" pitchFamily="34" charset="-120"/>
                <a:ea typeface="微軟正黑體" panose="020B0604030504040204" pitchFamily="34" charset="-120"/>
              </a:rPr>
              <a:t>開發</a:t>
            </a:r>
            <a:r>
              <a:rPr sz="1800" b="0" i="0" u="none" dirty="0" err="1" smtClean="0">
                <a:solidFill>
                  <a:srgbClr val="94A3B8"/>
                </a:solidFill>
                <a:latin typeface="微軟正黑體" panose="020B0604030504040204" pitchFamily="34" charset="-120"/>
                <a:ea typeface="微軟正黑體" panose="020B0604030504040204" pitchFamily="34" charset="-120"/>
              </a:rPr>
              <a:t>報告</a:t>
            </a:r>
            <a:endParaRPr sz="1800" b="0" i="0" u="none" dirty="0">
              <a:solidFill>
                <a:srgbClr val="94A3B8"/>
              </a:solidFill>
              <a:latin typeface="微軟正黑體" panose="020B0604030504040204" pitchFamily="34" charset="-120"/>
              <a:ea typeface="微軟正黑體" panose="020B0604030504040204" pitchFamily="34" charset="-12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1802159"/>
            <a:ext cx="2200275" cy="276225"/>
          </a:xfrm>
          <a:prstGeom prst="roundRect">
            <a:avLst>
              <a:gd name="adj" fmla="val 13793"/>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 name="群組 14"/>
          <p:cNvGrpSpPr/>
          <p:nvPr/>
        </p:nvGrpSpPr>
        <p:grpSpPr>
          <a:xfrm>
            <a:off x="6324600" y="3152268"/>
            <a:ext cx="5143500" cy="1767780"/>
            <a:chOff x="6286500" y="3288059"/>
            <a:chExt cx="5143500" cy="1767780"/>
          </a:xfrm>
        </p:grpSpPr>
        <p:grpSp>
          <p:nvGrpSpPr>
            <p:cNvPr id="13" name="群組 12"/>
            <p:cNvGrpSpPr/>
            <p:nvPr/>
          </p:nvGrpSpPr>
          <p:grpSpPr>
            <a:xfrm>
              <a:off x="6286500" y="3288059"/>
              <a:ext cx="5143500" cy="1767780"/>
              <a:chOff x="6286500" y="3288059"/>
              <a:chExt cx="5143500" cy="1767780"/>
            </a:xfrm>
          </p:grpSpPr>
          <p:sp>
            <p:nvSpPr>
              <p:cNvPr id="4" name="Rounded Rectangle 3"/>
              <p:cNvSpPr/>
              <p:nvPr/>
            </p:nvSpPr>
            <p:spPr>
              <a:xfrm>
                <a:off x="6286500" y="3288059"/>
                <a:ext cx="5143500" cy="1767780"/>
              </a:xfrm>
              <a:prstGeom prst="roundRect">
                <a:avLst>
                  <a:gd name="adj" fmla="val 646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286500" y="3288059"/>
                <a:ext cx="38100" cy="176778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1" name="TextBox 10"/>
            <p:cNvSpPr txBox="1"/>
            <p:nvPr/>
          </p:nvSpPr>
          <p:spPr>
            <a:xfrm>
              <a:off x="6705600" y="3669059"/>
              <a:ext cx="461665" cy="276999"/>
            </a:xfrm>
            <a:prstGeom prst="rect">
              <a:avLst/>
            </a:prstGeom>
            <a:noFill/>
          </p:spPr>
          <p:txBody>
            <a:bodyPr wrap="none" lIns="0" tIns="0" rIns="0" bIns="0" anchor="t">
              <a:spAutoFit/>
            </a:bodyPr>
            <a:lstStyle/>
            <a:p>
              <a:pPr algn="l"/>
              <a:r>
                <a:rPr sz="1800" b="1" i="0" u="none" dirty="0" err="1" smtClean="0">
                  <a:solidFill>
                    <a:srgbClr val="0F172A"/>
                  </a:solidFill>
                  <a:latin typeface="微軟正黑體" panose="020B0604030504040204" pitchFamily="34" charset="-120"/>
                </a:rPr>
                <a:t>需求</a:t>
              </a:r>
              <a:endParaRPr sz="1800" b="1" i="0" u="none" dirty="0">
                <a:solidFill>
                  <a:srgbClr val="0F172A"/>
                </a:solidFill>
                <a:latin typeface="微軟正黑體" panose="020B0604030504040204" pitchFamily="34" charset="-120"/>
              </a:endParaRPr>
            </a:p>
          </p:txBody>
        </p:sp>
        <p:sp>
          <p:nvSpPr>
            <p:cNvPr id="12" name="TextBox 11"/>
            <p:cNvSpPr txBox="1"/>
            <p:nvPr/>
          </p:nvSpPr>
          <p:spPr>
            <a:xfrm>
              <a:off x="6705600" y="4126259"/>
              <a:ext cx="4438650" cy="533479"/>
            </a:xfrm>
            <a:prstGeom prst="rect">
              <a:avLst/>
            </a:prstGeom>
            <a:noFill/>
          </p:spPr>
          <p:txBody>
            <a:bodyPr wrap="square" lIns="0" tIns="0" rIns="0" bIns="0" anchor="t">
              <a:spAutoFit/>
            </a:bodyPr>
            <a:lstStyle/>
            <a:p>
              <a:pPr algn="l">
                <a:lnSpc>
                  <a:spcPts val="2160"/>
                </a:lnSpc>
              </a:pPr>
              <a:r>
                <a:rPr sz="1350" b="0" i="0" u="none" dirty="0" err="1">
                  <a:solidFill>
                    <a:srgbClr val="475569"/>
                  </a:solidFill>
                  <a:latin typeface="微軟正黑體" panose="020B0604030504040204" pitchFamily="34" charset="-120"/>
                </a:rPr>
                <a:t>擺脫環境依賴，僅憑影片與內嵌原生硬字幕，即可自動化製作單字卡</a:t>
              </a:r>
              <a:r>
                <a:rPr sz="1350" b="0" i="0" u="none" dirty="0">
                  <a:solidFill>
                    <a:srgbClr val="475569"/>
                  </a:solidFill>
                  <a:latin typeface="微軟正黑體" panose="020B0604030504040204" pitchFamily="34" charset="-120"/>
                </a:rPr>
                <a:t>。</a:t>
              </a:r>
            </a:p>
          </p:txBody>
        </p:sp>
      </p:grpSp>
      <p:grpSp>
        <p:nvGrpSpPr>
          <p:cNvPr id="14" name="群組 13"/>
          <p:cNvGrpSpPr/>
          <p:nvPr/>
        </p:nvGrpSpPr>
        <p:grpSpPr>
          <a:xfrm>
            <a:off x="607368" y="3152268"/>
            <a:ext cx="5143500" cy="1767780"/>
            <a:chOff x="762000" y="3288059"/>
            <a:chExt cx="5143500" cy="1767780"/>
          </a:xfrm>
        </p:grpSpPr>
        <p:grpSp>
          <p:nvGrpSpPr>
            <p:cNvPr id="7" name="群組 6"/>
            <p:cNvGrpSpPr/>
            <p:nvPr/>
          </p:nvGrpSpPr>
          <p:grpSpPr>
            <a:xfrm>
              <a:off x="762000" y="3288059"/>
              <a:ext cx="5143500" cy="1767780"/>
              <a:chOff x="762000" y="3288059"/>
              <a:chExt cx="5143500" cy="1767780"/>
            </a:xfrm>
          </p:grpSpPr>
          <p:sp>
            <p:nvSpPr>
              <p:cNvPr id="3" name="Rounded Rectangle 2"/>
              <p:cNvSpPr/>
              <p:nvPr/>
            </p:nvSpPr>
            <p:spPr>
              <a:xfrm>
                <a:off x="762000" y="3288059"/>
                <a:ext cx="5143500" cy="1767780"/>
              </a:xfrm>
              <a:prstGeom prst="roundRect">
                <a:avLst>
                  <a:gd name="adj" fmla="val 646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3288059"/>
                <a:ext cx="38100" cy="176778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9" name="TextBox 8"/>
            <p:cNvSpPr txBox="1"/>
            <p:nvPr/>
          </p:nvSpPr>
          <p:spPr>
            <a:xfrm>
              <a:off x="1181100" y="3669059"/>
              <a:ext cx="461665" cy="276999"/>
            </a:xfrm>
            <a:prstGeom prst="rect">
              <a:avLst/>
            </a:prstGeom>
            <a:noFill/>
          </p:spPr>
          <p:txBody>
            <a:bodyPr wrap="none" lIns="0" tIns="0" rIns="0" bIns="0" anchor="t">
              <a:spAutoFit/>
            </a:bodyPr>
            <a:lstStyle/>
            <a:p>
              <a:pPr algn="l"/>
              <a:r>
                <a:rPr sz="1800" b="1" i="0" u="none" dirty="0" err="1" smtClean="0">
                  <a:solidFill>
                    <a:srgbClr val="0F172A"/>
                  </a:solidFill>
                  <a:latin typeface="微軟正黑體" panose="020B0604030504040204" pitchFamily="34" charset="-120"/>
                </a:rPr>
                <a:t>痛點</a:t>
              </a:r>
              <a:endParaRPr sz="1800" b="1" i="0" u="none" dirty="0">
                <a:solidFill>
                  <a:srgbClr val="0F172A"/>
                </a:solidFill>
                <a:latin typeface="微軟正黑體" panose="020B0604030504040204" pitchFamily="34" charset="-120"/>
              </a:endParaRPr>
            </a:p>
          </p:txBody>
        </p:sp>
        <p:sp>
          <p:nvSpPr>
            <p:cNvPr id="10" name="TextBox 9"/>
            <p:cNvSpPr txBox="1"/>
            <p:nvPr/>
          </p:nvSpPr>
          <p:spPr>
            <a:xfrm>
              <a:off x="1181100" y="4126259"/>
              <a:ext cx="4438650" cy="533479"/>
            </a:xfrm>
            <a:prstGeom prst="rect">
              <a:avLst/>
            </a:prstGeom>
            <a:noFill/>
          </p:spPr>
          <p:txBody>
            <a:bodyPr wrap="square" lIns="0" tIns="0" rIns="0" bIns="0" anchor="t">
              <a:spAutoFit/>
            </a:bodyPr>
            <a:lstStyle/>
            <a:p>
              <a:pPr algn="l">
                <a:lnSpc>
                  <a:spcPts val="2160"/>
                </a:lnSpc>
              </a:pPr>
              <a:r>
                <a:rPr sz="1350" b="0" i="0" u="none" dirty="0" err="1">
                  <a:solidFill>
                    <a:srgbClr val="475569"/>
                  </a:solidFill>
                  <a:latin typeface="微軟正黑體" panose="020B0604030504040204" pitchFamily="34" charset="-120"/>
                </a:rPr>
                <a:t>現有工具高度依賴平台</a:t>
              </a:r>
              <a:r>
                <a:rPr sz="1350" b="0" i="0" u="none" dirty="0">
                  <a:solidFill>
                    <a:srgbClr val="475569"/>
                  </a:solidFill>
                  <a:latin typeface="微軟正黑體" panose="020B0604030504040204" pitchFamily="34" charset="-120"/>
                </a:rPr>
                <a:t> CC </a:t>
              </a:r>
              <a:r>
                <a:rPr sz="1350" b="0" i="0" u="none" dirty="0" err="1">
                  <a:solidFill>
                    <a:srgbClr val="475569"/>
                  </a:solidFill>
                  <a:latin typeface="微軟正黑體" panose="020B0604030504040204" pitchFamily="34" charset="-120"/>
                </a:rPr>
                <a:t>軟字幕，無法處理自帶原生硬字幕的影視內容</a:t>
              </a:r>
              <a:r>
                <a:rPr sz="1350" b="0" i="0" u="none" dirty="0">
                  <a:solidFill>
                    <a:srgbClr val="475569"/>
                  </a:solidFill>
                  <a:latin typeface="微軟正黑體" panose="020B0604030504040204" pitchFamily="34" charset="-120"/>
                </a:rPr>
                <a:t>。</a:t>
              </a:r>
            </a:p>
          </p:txBody>
        </p:sp>
      </p:grpSp>
      <p:sp>
        <p:nvSpPr>
          <p:cNvPr id="16" name="Rounded Rectangle 15"/>
          <p:cNvSpPr/>
          <p:nvPr/>
        </p:nvSpPr>
        <p:spPr>
          <a:xfrm>
            <a:off x="607368" y="5050000"/>
            <a:ext cx="10860000" cy="148000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ctr">
              <a:spcAft>
                <a:spcPts val="300"/>
              </a:spcAft>
              <a:defRPr sz="1150" b="1">
                <a:solidFill>
                  <a:srgbClr val="1E40AF"/>
                </a:solidFill>
                <a:latin typeface="微軟正黑體"/>
              </a:defRPr>
            </a:pPr>
            <a:r>
              <a:t>📚 學術實證與研究動機 (Academic &amp; Empirical Grounding)</a:t>
            </a:r>
          </a:p>
          <a:p>
            <a:pPr>
              <a:lnSpc>
                <a:spcPct val="115000"/>
              </a:lnSpc>
              <a:spcAft>
                <a:spcPts val="200"/>
              </a:spcAft>
              <a:defRPr sz="950">
                <a:solidFill>
                  <a:srgbClr val="1E293B"/>
                </a:solidFill>
                <a:latin typeface="微軟正黑體"/>
              </a:defRPr>
            </a:pPr>
            <a:r>
              <a:t>• 原生硬字幕痛點背書：ACM CSCW 2026 (Ko &amp; Lee) 對 1.9 萬部韓語 YouTube 視訊（7,100 萬影格）實證指出，東亞影音 90%+ 核心情境與敘事強調皆以原生硬字幕與花字（Telop）呈現，現存無障礙軟字幕工具（CC/ASR）完全無法感知像素級文字。</a:t>
            </a:r>
          </a:p>
          <a:p>
            <a:pPr>
              <a:lnSpc>
                <a:spcPct val="115000"/>
              </a:lnSpc>
              <a:spcAft>
                <a:spcPts val="200"/>
              </a:spcAft>
              <a:defRPr sz="950">
                <a:solidFill>
                  <a:srgbClr val="1E293B"/>
                </a:solidFill>
                <a:latin typeface="微軟正黑體"/>
              </a:defRPr>
            </a:pPr>
            <a:r>
              <a:t>• 視覺解構學習成效：ACM CHI 2022 (Kim et al., FitVid) 實證從已渲染像素中逆向解構文字與版面元件，能有效降低學習者認知負荷並大幅提升學習召回率，確立自原生畫面抓取硬字幕製作單字卡之核心價值。</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762000" y="762000"/>
            <a:ext cx="1771650" cy="276225"/>
          </a:xfrm>
          <a:prstGeom prst="roundRect">
            <a:avLst>
              <a:gd name="adj" fmla="val 13793"/>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762000" y="3171825"/>
            <a:ext cx="3403550" cy="2000250"/>
          </a:xfrm>
          <a:prstGeom prst="roundRect">
            <a:avLst>
              <a:gd name="adj" fmla="val 57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ounded Rectangle 3"/>
          <p:cNvSpPr/>
          <p:nvPr/>
        </p:nvSpPr>
        <p:spPr>
          <a:xfrm>
            <a:off x="4394150" y="3171825"/>
            <a:ext cx="3403550" cy="2000250"/>
          </a:xfrm>
          <a:prstGeom prst="roundRect">
            <a:avLst>
              <a:gd name="adj" fmla="val 57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Rounded Rectangle 4"/>
          <p:cNvSpPr/>
          <p:nvPr/>
        </p:nvSpPr>
        <p:spPr>
          <a:xfrm>
            <a:off x="8026300" y="3171825"/>
            <a:ext cx="3403550" cy="2000250"/>
          </a:xfrm>
          <a:prstGeom prst="roundRect">
            <a:avLst>
              <a:gd name="adj" fmla="val 57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6" name="Picture 5" descr="image.png"/>
          <p:cNvPicPr>
            <a:picLocks noChangeAspect="1"/>
          </p:cNvPicPr>
          <p:nvPr/>
        </p:nvPicPr>
        <p:blipFill>
          <a:blip r:embed="rId2"/>
          <a:stretch>
            <a:fillRect/>
          </a:stretch>
        </p:blipFill>
        <p:spPr>
          <a:xfrm>
            <a:off x="1104900" y="3514725"/>
            <a:ext cx="266700" cy="266700"/>
          </a:xfrm>
          <a:prstGeom prst="rect">
            <a:avLst/>
          </a:prstGeom>
        </p:spPr>
      </p:pic>
      <p:pic>
        <p:nvPicPr>
          <p:cNvPr id="7" name="Picture 6" descr="image.png"/>
          <p:cNvPicPr>
            <a:picLocks noChangeAspect="1"/>
          </p:cNvPicPr>
          <p:nvPr/>
        </p:nvPicPr>
        <p:blipFill>
          <a:blip r:embed="rId3"/>
          <a:stretch>
            <a:fillRect/>
          </a:stretch>
        </p:blipFill>
        <p:spPr>
          <a:xfrm>
            <a:off x="4737050" y="3514725"/>
            <a:ext cx="304800" cy="266700"/>
          </a:xfrm>
          <a:prstGeom prst="rect">
            <a:avLst/>
          </a:prstGeom>
        </p:spPr>
      </p:pic>
      <p:pic>
        <p:nvPicPr>
          <p:cNvPr id="8" name="Picture 7" descr="image.png"/>
          <p:cNvPicPr>
            <a:picLocks noChangeAspect="1"/>
          </p:cNvPicPr>
          <p:nvPr/>
        </p:nvPicPr>
        <p:blipFill>
          <a:blip r:embed="rId4"/>
          <a:stretch>
            <a:fillRect/>
          </a:stretch>
        </p:blipFill>
        <p:spPr>
          <a:xfrm>
            <a:off x="8369200" y="3514725"/>
            <a:ext cx="266700" cy="266700"/>
          </a:xfrm>
          <a:prstGeom prst="rect">
            <a:avLst/>
          </a:prstGeom>
        </p:spPr>
      </p:pic>
      <p:sp>
        <p:nvSpPr>
          <p:cNvPr id="9" name="TextBox 8"/>
          <p:cNvSpPr txBox="1"/>
          <p:nvPr/>
        </p:nvSpPr>
        <p:spPr>
          <a:xfrm>
            <a:off x="876300" y="819150"/>
            <a:ext cx="1638300" cy="161925"/>
          </a:xfrm>
          <a:prstGeom prst="rect">
            <a:avLst/>
          </a:prstGeom>
          <a:noFill/>
        </p:spPr>
        <p:txBody>
          <a:bodyPr wrap="square" lIns="0" tIns="0" rIns="0" bIns="0" anchor="t">
            <a:spAutoFit/>
          </a:bodyPr>
          <a:lstStyle/>
          <a:p>
            <a:pPr algn="l"/>
            <a:endParaRPr sz="1050" b="1" i="0" u="none" dirty="0">
              <a:solidFill>
                <a:srgbClr val="334155"/>
              </a:solidFill>
              <a:latin typeface="微軟正黑體" panose="020B0604030504040204" pitchFamily="34" charset="-120"/>
            </a:endParaRPr>
          </a:p>
        </p:txBody>
      </p:sp>
      <p:sp>
        <p:nvSpPr>
          <p:cNvPr id="10" name="TextBox 9"/>
          <p:cNvSpPr txBox="1"/>
          <p:nvPr/>
        </p:nvSpPr>
        <p:spPr>
          <a:xfrm>
            <a:off x="762000" y="1266825"/>
            <a:ext cx="1538883" cy="461665"/>
          </a:xfrm>
          <a:prstGeom prst="rect">
            <a:avLst/>
          </a:prstGeom>
          <a:noFill/>
        </p:spPr>
        <p:txBody>
          <a:bodyPr wrap="none" lIns="0" tIns="0" rIns="0" bIns="0" anchor="t">
            <a:spAutoFit/>
          </a:bodyPr>
          <a:lstStyle/>
          <a:p>
            <a:pPr algn="l"/>
            <a:r>
              <a:rPr sz="3000" b="1" i="0" u="none" dirty="0" err="1">
                <a:solidFill>
                  <a:srgbClr val="0F172A"/>
                </a:solidFill>
                <a:latin typeface="微軟正黑體" panose="020B0604030504040204" pitchFamily="34" charset="-120"/>
                <a:ea typeface="微軟正黑體" panose="020B0604030504040204" pitchFamily="34" charset="-120"/>
              </a:rPr>
              <a:t>開發概念</a:t>
            </a:r>
            <a:endParaRPr sz="3000" b="1" i="0" u="none" dirty="0">
              <a:solidFill>
                <a:srgbClr val="0F172A"/>
              </a:solidFill>
              <a:latin typeface="微軟正黑體" panose="020B0604030504040204" pitchFamily="34" charset="-120"/>
              <a:ea typeface="微軟正黑體" panose="020B0604030504040204" pitchFamily="34" charset="-120"/>
            </a:endParaRPr>
          </a:p>
        </p:txBody>
      </p:sp>
      <p:sp>
        <p:nvSpPr>
          <p:cNvPr id="11" name="TextBox 10"/>
          <p:cNvSpPr txBox="1"/>
          <p:nvPr/>
        </p:nvSpPr>
        <p:spPr>
          <a:xfrm>
            <a:off x="1104900" y="3971925"/>
            <a:ext cx="1503617" cy="253916"/>
          </a:xfrm>
          <a:prstGeom prst="rect">
            <a:avLst/>
          </a:prstGeom>
          <a:noFill/>
        </p:spPr>
        <p:txBody>
          <a:bodyPr wrap="none" lIns="0" tIns="0" rIns="0" bIns="0" anchor="t">
            <a:spAutoFit/>
          </a:bodyPr>
          <a:lstStyle/>
          <a:p>
            <a:pPr algn="l"/>
            <a:r>
              <a:rPr sz="1650" b="1" i="0" u="none">
                <a:solidFill>
                  <a:srgbClr val="0F172A"/>
                </a:solidFill>
                <a:latin typeface="微軟正黑體" panose="020B0604030504040204" pitchFamily="34" charset="-120"/>
                <a:ea typeface="微軟正黑體" panose="020B0604030504040204" pitchFamily="34" charset="-120"/>
              </a:rPr>
              <a:t>1. 由外而內收斂</a:t>
            </a:r>
          </a:p>
        </p:txBody>
      </p:sp>
      <p:sp>
        <p:nvSpPr>
          <p:cNvPr id="12" name="TextBox 11"/>
          <p:cNvSpPr txBox="1"/>
          <p:nvPr/>
        </p:nvSpPr>
        <p:spPr>
          <a:xfrm>
            <a:off x="1104900" y="4371975"/>
            <a:ext cx="2813000" cy="439287"/>
          </a:xfrm>
          <a:prstGeom prst="rect">
            <a:avLst/>
          </a:prstGeom>
          <a:noFill/>
        </p:spPr>
        <p:txBody>
          <a:bodyPr wrap="square" lIns="0" tIns="0" rIns="0" bIns="0" anchor="t">
            <a:spAutoFit/>
          </a:bodyPr>
          <a:lstStyle/>
          <a:p>
            <a:pPr algn="l">
              <a:lnSpc>
                <a:spcPts val="1800"/>
              </a:lnSpc>
            </a:pPr>
            <a:r>
              <a:rPr sz="1200" b="0" i="0" u="none">
                <a:solidFill>
                  <a:srgbClr val="475569"/>
                </a:solidFill>
                <a:latin typeface="微軟正黑體" panose="020B0604030504040204" pitchFamily="34" charset="-120"/>
                <a:ea typeface="微軟正黑體" panose="020B0604030504040204" pitchFamily="34" charset="-120"/>
              </a:rPr>
              <a:t>拒絕盲目假設，由實驗數據反向固化技術規格。</a:t>
            </a:r>
          </a:p>
        </p:txBody>
      </p:sp>
      <p:sp>
        <p:nvSpPr>
          <p:cNvPr id="13" name="TextBox 12"/>
          <p:cNvSpPr txBox="1"/>
          <p:nvPr/>
        </p:nvSpPr>
        <p:spPr>
          <a:xfrm>
            <a:off x="4737050" y="3971925"/>
            <a:ext cx="1292020" cy="253916"/>
          </a:xfrm>
          <a:prstGeom prst="rect">
            <a:avLst/>
          </a:prstGeom>
          <a:noFill/>
        </p:spPr>
        <p:txBody>
          <a:bodyPr wrap="none" lIns="0" tIns="0" rIns="0" bIns="0" anchor="t">
            <a:spAutoFit/>
          </a:bodyPr>
          <a:lstStyle/>
          <a:p>
            <a:pPr algn="l"/>
            <a:r>
              <a:rPr sz="1650" b="1" i="0" u="none">
                <a:solidFill>
                  <a:srgbClr val="0F172A"/>
                </a:solidFill>
                <a:latin typeface="微軟正黑體" panose="020B0604030504040204" pitchFamily="34" charset="-120"/>
                <a:ea typeface="微軟正黑體" panose="020B0604030504040204" pitchFamily="34" charset="-120"/>
              </a:rPr>
              <a:t>2. 功能模組化</a:t>
            </a:r>
          </a:p>
        </p:txBody>
      </p:sp>
      <p:sp>
        <p:nvSpPr>
          <p:cNvPr id="14" name="TextBox 13"/>
          <p:cNvSpPr txBox="1"/>
          <p:nvPr/>
        </p:nvSpPr>
        <p:spPr>
          <a:xfrm>
            <a:off x="4737050" y="4371975"/>
            <a:ext cx="2813000" cy="439287"/>
          </a:xfrm>
          <a:prstGeom prst="rect">
            <a:avLst/>
          </a:prstGeom>
          <a:noFill/>
        </p:spPr>
        <p:txBody>
          <a:bodyPr wrap="square" lIns="0" tIns="0" rIns="0" bIns="0" anchor="t">
            <a:spAutoFit/>
          </a:bodyPr>
          <a:lstStyle/>
          <a:p>
            <a:pPr algn="l">
              <a:lnSpc>
                <a:spcPts val="1800"/>
              </a:lnSpc>
            </a:pPr>
            <a:r>
              <a:rPr sz="1200" b="0" i="0" u="none">
                <a:solidFill>
                  <a:srgbClr val="475569"/>
                </a:solidFill>
                <a:latin typeface="微軟正黑體" panose="020B0604030504040204" pitchFamily="34" charset="-120"/>
                <a:ea typeface="微軟正黑體" panose="020B0604030504040204" pitchFamily="34" charset="-120"/>
              </a:rPr>
              <a:t>功能獨立切分，增減或修改模組不引發連鎖牽連。</a:t>
            </a:r>
          </a:p>
        </p:txBody>
      </p:sp>
      <p:sp>
        <p:nvSpPr>
          <p:cNvPr id="15" name="TextBox 14"/>
          <p:cNvSpPr txBox="1"/>
          <p:nvPr/>
        </p:nvSpPr>
        <p:spPr>
          <a:xfrm>
            <a:off x="8369200" y="3971925"/>
            <a:ext cx="1251946" cy="253916"/>
          </a:xfrm>
          <a:prstGeom prst="rect">
            <a:avLst/>
          </a:prstGeom>
          <a:noFill/>
        </p:spPr>
        <p:txBody>
          <a:bodyPr wrap="none" lIns="0" tIns="0" rIns="0" bIns="0" anchor="t">
            <a:spAutoFit/>
          </a:bodyPr>
          <a:lstStyle/>
          <a:p>
            <a:pPr algn="l"/>
            <a:r>
              <a:rPr sz="1650" b="1" i="0" u="none">
                <a:solidFill>
                  <a:srgbClr val="0F172A"/>
                </a:solidFill>
                <a:latin typeface="微軟正黑體" panose="020B0604030504040204" pitchFamily="34" charset="-120"/>
                <a:ea typeface="微軟正黑體" panose="020B0604030504040204" pitchFamily="34" charset="-120"/>
              </a:rPr>
              <a:t>3. I/O 標準化</a:t>
            </a:r>
          </a:p>
        </p:txBody>
      </p:sp>
      <p:sp>
        <p:nvSpPr>
          <p:cNvPr id="16" name="TextBox 15"/>
          <p:cNvSpPr txBox="1"/>
          <p:nvPr/>
        </p:nvSpPr>
        <p:spPr>
          <a:xfrm>
            <a:off x="8369200" y="4371975"/>
            <a:ext cx="2813000" cy="208455"/>
          </a:xfrm>
          <a:prstGeom prst="rect">
            <a:avLst/>
          </a:prstGeom>
          <a:noFill/>
        </p:spPr>
        <p:txBody>
          <a:bodyPr wrap="square" lIns="0" tIns="0" rIns="0" bIns="0" anchor="t">
            <a:spAutoFit/>
          </a:bodyPr>
          <a:lstStyle/>
          <a:p>
            <a:pPr algn="l">
              <a:lnSpc>
                <a:spcPts val="1800"/>
              </a:lnSpc>
            </a:pPr>
            <a:r>
              <a:rPr sz="1200" b="0" i="0" u="none">
                <a:solidFill>
                  <a:srgbClr val="475569"/>
                </a:solidFill>
                <a:latin typeface="微軟正黑體" panose="020B0604030504040204" pitchFamily="34" charset="-120"/>
                <a:ea typeface="微軟正黑體" panose="020B0604030504040204" pitchFamily="34" charset="-120"/>
              </a:rPr>
              <a:t>統一介面並外置設定檔，杜絕寫死魔數。</a:t>
            </a:r>
          </a:p>
        </p:txBody>
      </p:sp>
      <p:sp>
        <p:nvSpPr>
          <p:cNvPr id="17" name="Rounded Rectangle 16"/>
          <p:cNvSpPr/>
          <p:nvPr/>
        </p:nvSpPr>
        <p:spPr>
          <a:xfrm>
            <a:off x="762000" y="5280000"/>
            <a:ext cx="10668000" cy="1250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ctr">
              <a:spcAft>
                <a:spcPts val="300"/>
              </a:spcAft>
              <a:defRPr sz="1150" b="1">
                <a:solidFill>
                  <a:srgbClr val="0F172A"/>
                </a:solidFill>
                <a:latin typeface="微軟正黑體"/>
              </a:defRPr>
            </a:pPr>
            <a:r>
              <a:t>📚 智慧輔助語言學習 (ICALL) 系統架構典範</a:t>
            </a:r>
          </a:p>
          <a:p>
            <a:pPr>
              <a:lnSpc>
                <a:spcPct val="115000"/>
              </a:lnSpc>
              <a:spcAft>
                <a:spcPts val="200"/>
              </a:spcAft>
              <a:defRPr sz="950">
                <a:solidFill>
                  <a:srgbClr val="334155"/>
                </a:solidFill>
                <a:latin typeface="微軟正黑體"/>
              </a:defRPr>
            </a:pPr>
            <a:r>
              <a:t>• 元件重用哲學：計算語言學國際會議 SLTC / CALL (Volodina et al., 2012)《Waste not, want not: Towards a system architecture for ICALL based on NLP component re-use》指出：智慧外語學習系統應奠基於「成熟 NLP 元件高度重用與標準化介面解耦」，拒絕重複造輪子，方能以最低工程代價實現工業級穩定之學習工具。</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1890712"/>
            <a:ext cx="2028825" cy="276225"/>
          </a:xfrm>
          <a:prstGeom prst="roundRect">
            <a:avLst>
              <a:gd name="adj" fmla="val 13793"/>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762000" y="3986212"/>
            <a:ext cx="10668000" cy="38100"/>
          </a:xfrm>
          <a:prstGeom prst="rect">
            <a:avLst/>
          </a:prstGeom>
        </p:spPr>
      </p:pic>
      <p:sp>
        <p:nvSpPr>
          <p:cNvPr id="4" name="TextBox 3"/>
          <p:cNvSpPr txBox="1"/>
          <p:nvPr/>
        </p:nvSpPr>
        <p:spPr>
          <a:xfrm>
            <a:off x="876300" y="1947862"/>
            <a:ext cx="1895475" cy="161925"/>
          </a:xfrm>
          <a:prstGeom prst="rect">
            <a:avLst/>
          </a:prstGeom>
          <a:noFill/>
        </p:spPr>
        <p:txBody>
          <a:bodyPr wrap="square" lIns="0" tIns="0" rIns="0" bIns="0" anchor="t">
            <a:spAutoFit/>
          </a:bodyPr>
          <a:lstStyle/>
          <a:p>
            <a:pPr algn="l"/>
            <a:r>
              <a:rPr sz="1050" b="1" i="0" u="none">
                <a:solidFill>
                  <a:srgbClr val="334155"/>
                </a:solidFill>
                <a:latin typeface="微軟正黑體" panose="020B0604030504040204" pitchFamily="34" charset="-120"/>
                <a:ea typeface="微軟正黑體" panose="020B0604030504040204" pitchFamily="34" charset="-120"/>
              </a:rPr>
              <a:t>SYSTEM ARCHITECTURE</a:t>
            </a:r>
          </a:p>
        </p:txBody>
      </p:sp>
      <p:sp>
        <p:nvSpPr>
          <p:cNvPr id="5" name="TextBox 4"/>
          <p:cNvSpPr txBox="1"/>
          <p:nvPr/>
        </p:nvSpPr>
        <p:spPr>
          <a:xfrm>
            <a:off x="762000" y="2395537"/>
            <a:ext cx="3077766" cy="461665"/>
          </a:xfrm>
          <a:prstGeom prst="rect">
            <a:avLst/>
          </a:prstGeom>
          <a:noFill/>
        </p:spPr>
        <p:txBody>
          <a:bodyPr wrap="none" lIns="0" tIns="0" rIns="0" bIns="0" anchor="t">
            <a:spAutoFit/>
          </a:bodyPr>
          <a:lstStyle/>
          <a:p>
            <a:pPr algn="l"/>
            <a:r>
              <a:rPr sz="3000" b="1" i="0" u="none" dirty="0" err="1">
                <a:solidFill>
                  <a:srgbClr val="0F172A"/>
                </a:solidFill>
                <a:latin typeface="微軟正黑體" panose="020B0604030504040204" pitchFamily="34" charset="-120"/>
                <a:ea typeface="微軟正黑體" panose="020B0604030504040204" pitchFamily="34" charset="-120"/>
              </a:rPr>
              <a:t>系統架構與資料流</a:t>
            </a:r>
            <a:endParaRPr sz="3000" b="1" i="0" u="none" dirty="0">
              <a:solidFill>
                <a:srgbClr val="0F172A"/>
              </a:solidFill>
              <a:latin typeface="微軟正黑體" panose="020B0604030504040204" pitchFamily="34" charset="-120"/>
              <a:ea typeface="微軟正黑體" panose="020B0604030504040204" pitchFamily="34" charset="-120"/>
            </a:endParaRPr>
          </a:p>
        </p:txBody>
      </p:sp>
      <p:pic>
        <p:nvPicPr>
          <p:cNvPr id="6" name="Picture 5" descr="image.png"/>
          <p:cNvPicPr>
            <a:picLocks noChangeAspect="1"/>
          </p:cNvPicPr>
          <p:nvPr/>
        </p:nvPicPr>
        <p:blipFill>
          <a:blip r:embed="rId3"/>
          <a:stretch>
            <a:fillRect/>
          </a:stretch>
        </p:blipFill>
        <p:spPr>
          <a:xfrm>
            <a:off x="1219200" y="3681412"/>
            <a:ext cx="609600" cy="609600"/>
          </a:xfrm>
          <a:prstGeom prst="rect">
            <a:avLst/>
          </a:prstGeom>
        </p:spPr>
      </p:pic>
      <p:pic>
        <p:nvPicPr>
          <p:cNvPr id="7" name="Picture 6" descr="image.png"/>
          <p:cNvPicPr>
            <a:picLocks noChangeAspect="1"/>
          </p:cNvPicPr>
          <p:nvPr/>
        </p:nvPicPr>
        <p:blipFill>
          <a:blip r:embed="rId3"/>
          <a:stretch>
            <a:fillRect/>
          </a:stretch>
        </p:blipFill>
        <p:spPr>
          <a:xfrm>
            <a:off x="3505200" y="3681412"/>
            <a:ext cx="609600" cy="609600"/>
          </a:xfrm>
          <a:prstGeom prst="rect">
            <a:avLst/>
          </a:prstGeom>
        </p:spPr>
      </p:pic>
      <p:pic>
        <p:nvPicPr>
          <p:cNvPr id="8" name="Picture 7" descr="image.png"/>
          <p:cNvPicPr>
            <a:picLocks noChangeAspect="1"/>
          </p:cNvPicPr>
          <p:nvPr/>
        </p:nvPicPr>
        <p:blipFill>
          <a:blip r:embed="rId4"/>
          <a:stretch>
            <a:fillRect/>
          </a:stretch>
        </p:blipFill>
        <p:spPr>
          <a:xfrm>
            <a:off x="5791200" y="3681412"/>
            <a:ext cx="609600" cy="609600"/>
          </a:xfrm>
          <a:prstGeom prst="rect">
            <a:avLst/>
          </a:prstGeom>
        </p:spPr>
      </p:pic>
      <p:pic>
        <p:nvPicPr>
          <p:cNvPr id="9" name="Picture 8" descr="image.png"/>
          <p:cNvPicPr>
            <a:picLocks noChangeAspect="1"/>
          </p:cNvPicPr>
          <p:nvPr/>
        </p:nvPicPr>
        <p:blipFill>
          <a:blip r:embed="rId3"/>
          <a:stretch>
            <a:fillRect/>
          </a:stretch>
        </p:blipFill>
        <p:spPr>
          <a:xfrm>
            <a:off x="8077200" y="3681412"/>
            <a:ext cx="609600" cy="609600"/>
          </a:xfrm>
          <a:prstGeom prst="rect">
            <a:avLst/>
          </a:prstGeom>
        </p:spPr>
      </p:pic>
      <p:pic>
        <p:nvPicPr>
          <p:cNvPr id="10" name="Picture 9" descr="image.png"/>
          <p:cNvPicPr>
            <a:picLocks noChangeAspect="1"/>
          </p:cNvPicPr>
          <p:nvPr/>
        </p:nvPicPr>
        <p:blipFill>
          <a:blip r:embed="rId5"/>
          <a:stretch>
            <a:fillRect/>
          </a:stretch>
        </p:blipFill>
        <p:spPr>
          <a:xfrm>
            <a:off x="10363200" y="3681412"/>
            <a:ext cx="609600" cy="609600"/>
          </a:xfrm>
          <a:prstGeom prst="rect">
            <a:avLst/>
          </a:prstGeom>
        </p:spPr>
      </p:pic>
      <p:pic>
        <p:nvPicPr>
          <p:cNvPr id="11" name="Picture 10" descr="image.png"/>
          <p:cNvPicPr>
            <a:picLocks noChangeAspect="1"/>
          </p:cNvPicPr>
          <p:nvPr/>
        </p:nvPicPr>
        <p:blipFill>
          <a:blip r:embed="rId6"/>
          <a:stretch>
            <a:fillRect/>
          </a:stretch>
        </p:blipFill>
        <p:spPr>
          <a:xfrm>
            <a:off x="1395412" y="3871912"/>
            <a:ext cx="257175" cy="228600"/>
          </a:xfrm>
          <a:prstGeom prst="rect">
            <a:avLst/>
          </a:prstGeom>
        </p:spPr>
      </p:pic>
      <p:pic>
        <p:nvPicPr>
          <p:cNvPr id="12" name="Picture 11" descr="image.png"/>
          <p:cNvPicPr>
            <a:picLocks noChangeAspect="1"/>
          </p:cNvPicPr>
          <p:nvPr/>
        </p:nvPicPr>
        <p:blipFill>
          <a:blip r:embed="rId7"/>
          <a:stretch>
            <a:fillRect/>
          </a:stretch>
        </p:blipFill>
        <p:spPr>
          <a:xfrm>
            <a:off x="3695700" y="3871912"/>
            <a:ext cx="228600" cy="228600"/>
          </a:xfrm>
          <a:prstGeom prst="rect">
            <a:avLst/>
          </a:prstGeom>
        </p:spPr>
      </p:pic>
      <p:pic>
        <p:nvPicPr>
          <p:cNvPr id="13" name="Picture 12" descr="image.png"/>
          <p:cNvPicPr>
            <a:picLocks noChangeAspect="1"/>
          </p:cNvPicPr>
          <p:nvPr/>
        </p:nvPicPr>
        <p:blipFill>
          <a:blip r:embed="rId8"/>
          <a:stretch>
            <a:fillRect/>
          </a:stretch>
        </p:blipFill>
        <p:spPr>
          <a:xfrm>
            <a:off x="5995987" y="3871912"/>
            <a:ext cx="200025" cy="228600"/>
          </a:xfrm>
          <a:prstGeom prst="rect">
            <a:avLst/>
          </a:prstGeom>
        </p:spPr>
      </p:pic>
      <p:pic>
        <p:nvPicPr>
          <p:cNvPr id="14" name="Picture 13" descr="image.png"/>
          <p:cNvPicPr>
            <a:picLocks noChangeAspect="1"/>
          </p:cNvPicPr>
          <p:nvPr/>
        </p:nvPicPr>
        <p:blipFill>
          <a:blip r:embed="rId9"/>
          <a:stretch>
            <a:fillRect/>
          </a:stretch>
        </p:blipFill>
        <p:spPr>
          <a:xfrm>
            <a:off x="8239125" y="3871912"/>
            <a:ext cx="285750" cy="228600"/>
          </a:xfrm>
          <a:prstGeom prst="rect">
            <a:avLst/>
          </a:prstGeom>
        </p:spPr>
      </p:pic>
      <p:pic>
        <p:nvPicPr>
          <p:cNvPr id="15" name="Picture 14" descr="image.png"/>
          <p:cNvPicPr>
            <a:picLocks noChangeAspect="1"/>
          </p:cNvPicPr>
          <p:nvPr/>
        </p:nvPicPr>
        <p:blipFill>
          <a:blip r:embed="rId10"/>
          <a:stretch>
            <a:fillRect/>
          </a:stretch>
        </p:blipFill>
        <p:spPr>
          <a:xfrm>
            <a:off x="10582275" y="3871912"/>
            <a:ext cx="171450" cy="228600"/>
          </a:xfrm>
          <a:prstGeom prst="rect">
            <a:avLst/>
          </a:prstGeom>
        </p:spPr>
      </p:pic>
      <p:sp>
        <p:nvSpPr>
          <p:cNvPr id="16" name="TextBox 15"/>
          <p:cNvSpPr txBox="1"/>
          <p:nvPr/>
        </p:nvSpPr>
        <p:spPr>
          <a:xfrm>
            <a:off x="1177751" y="4481512"/>
            <a:ext cx="692497" cy="207749"/>
          </a:xfrm>
          <a:prstGeom prst="rect">
            <a:avLst/>
          </a:prstGeom>
          <a:noFill/>
        </p:spPr>
        <p:txBody>
          <a:bodyPr wrap="none" lIns="0" tIns="0" rIns="0" bIns="0" anchor="t">
            <a:spAutoFit/>
          </a:bodyPr>
          <a:lstStyle/>
          <a:p>
            <a:pPr algn="ctr"/>
            <a:r>
              <a:rPr sz="1350" b="1" i="0" u="none">
                <a:solidFill>
                  <a:srgbClr val="0F172A"/>
                </a:solidFill>
                <a:latin typeface="微軟正黑體" panose="020B0604030504040204" pitchFamily="34" charset="-120"/>
                <a:ea typeface="微軟正黑體" panose="020B0604030504040204" pitchFamily="34" charset="-120"/>
              </a:rPr>
              <a:t>影片輸入</a:t>
            </a:r>
          </a:p>
        </p:txBody>
      </p:sp>
      <p:sp>
        <p:nvSpPr>
          <p:cNvPr id="17" name="TextBox 16"/>
          <p:cNvSpPr txBox="1"/>
          <p:nvPr/>
        </p:nvSpPr>
        <p:spPr>
          <a:xfrm>
            <a:off x="1052717" y="4786312"/>
            <a:ext cx="942566" cy="161583"/>
          </a:xfrm>
          <a:prstGeom prst="rect">
            <a:avLst/>
          </a:prstGeom>
          <a:noFill/>
        </p:spPr>
        <p:txBody>
          <a:bodyPr wrap="none" lIns="0" tIns="0" rIns="0" bIns="0" anchor="t">
            <a:spAutoFit/>
          </a:bodyPr>
          <a:lstStyle/>
          <a:p>
            <a:pPr algn="ctr"/>
            <a:r>
              <a:rPr sz="1050" b="0" i="0" u="none">
                <a:solidFill>
                  <a:srgbClr val="64748B"/>
                </a:solidFill>
                <a:latin typeface="微軟正黑體" panose="020B0604030504040204" pitchFamily="34" charset="-120"/>
                <a:ea typeface="微軟正黑體" panose="020B0604030504040204" pitchFamily="34" charset="-120"/>
              </a:rPr>
              <a:t>畫格擷取與採樣</a:t>
            </a:r>
          </a:p>
        </p:txBody>
      </p:sp>
      <p:sp>
        <p:nvSpPr>
          <p:cNvPr id="18" name="TextBox 17"/>
          <p:cNvSpPr txBox="1"/>
          <p:nvPr/>
        </p:nvSpPr>
        <p:spPr>
          <a:xfrm>
            <a:off x="3550313" y="4481512"/>
            <a:ext cx="519373" cy="207749"/>
          </a:xfrm>
          <a:prstGeom prst="rect">
            <a:avLst/>
          </a:prstGeom>
          <a:noFill/>
        </p:spPr>
        <p:txBody>
          <a:bodyPr wrap="none" lIns="0" tIns="0" rIns="0" bIns="0" anchor="t">
            <a:spAutoFit/>
          </a:bodyPr>
          <a:lstStyle/>
          <a:p>
            <a:pPr algn="ctr"/>
            <a:r>
              <a:rPr sz="1350" b="1" i="0" u="none">
                <a:solidFill>
                  <a:srgbClr val="0F172A"/>
                </a:solidFill>
                <a:latin typeface="微軟正黑體" panose="020B0604030504040204" pitchFamily="34" charset="-120"/>
                <a:ea typeface="微軟正黑體" panose="020B0604030504040204" pitchFamily="34" charset="-120"/>
              </a:rPr>
              <a:t>前處理</a:t>
            </a:r>
          </a:p>
        </p:txBody>
      </p:sp>
      <p:sp>
        <p:nvSpPr>
          <p:cNvPr id="19" name="TextBox 18"/>
          <p:cNvSpPr txBox="1"/>
          <p:nvPr/>
        </p:nvSpPr>
        <p:spPr>
          <a:xfrm>
            <a:off x="3406043" y="4786312"/>
            <a:ext cx="807913" cy="161583"/>
          </a:xfrm>
          <a:prstGeom prst="rect">
            <a:avLst/>
          </a:prstGeom>
          <a:noFill/>
        </p:spPr>
        <p:txBody>
          <a:bodyPr wrap="none" lIns="0" tIns="0" rIns="0" bIns="0" anchor="t">
            <a:spAutoFit/>
          </a:bodyPr>
          <a:lstStyle/>
          <a:p>
            <a:pPr algn="ctr"/>
            <a:r>
              <a:rPr sz="1050" b="0" i="0" u="none">
                <a:solidFill>
                  <a:srgbClr val="64748B"/>
                </a:solidFill>
                <a:latin typeface="微軟正黑體" panose="020B0604030504040204" pitchFamily="34" charset="-120"/>
                <a:ea typeface="微軟正黑體" panose="020B0604030504040204" pitchFamily="34" charset="-120"/>
              </a:rPr>
              <a:t>影像特徵強化</a:t>
            </a:r>
          </a:p>
        </p:txBody>
      </p:sp>
      <p:sp>
        <p:nvSpPr>
          <p:cNvPr id="20" name="TextBox 19"/>
          <p:cNvSpPr txBox="1"/>
          <p:nvPr/>
        </p:nvSpPr>
        <p:spPr>
          <a:xfrm>
            <a:off x="5749751" y="4481512"/>
            <a:ext cx="692497" cy="207749"/>
          </a:xfrm>
          <a:prstGeom prst="rect">
            <a:avLst/>
          </a:prstGeom>
          <a:noFill/>
        </p:spPr>
        <p:txBody>
          <a:bodyPr wrap="none" lIns="0" tIns="0" rIns="0" bIns="0" anchor="t">
            <a:spAutoFit/>
          </a:bodyPr>
          <a:lstStyle/>
          <a:p>
            <a:pPr algn="ctr"/>
            <a:r>
              <a:rPr sz="1350" b="1" i="0" u="none">
                <a:solidFill>
                  <a:srgbClr val="0F172A"/>
                </a:solidFill>
                <a:latin typeface="微軟正黑體" panose="020B0604030504040204" pitchFamily="34" charset="-120"/>
                <a:ea typeface="微軟正黑體" panose="020B0604030504040204" pitchFamily="34" charset="-120"/>
              </a:rPr>
              <a:t>光學辨識</a:t>
            </a:r>
          </a:p>
        </p:txBody>
      </p:sp>
      <p:sp>
        <p:nvSpPr>
          <p:cNvPr id="21" name="TextBox 20"/>
          <p:cNvSpPr txBox="1"/>
          <p:nvPr/>
        </p:nvSpPr>
        <p:spPr>
          <a:xfrm>
            <a:off x="5599870" y="4786312"/>
            <a:ext cx="992259" cy="161583"/>
          </a:xfrm>
          <a:prstGeom prst="rect">
            <a:avLst/>
          </a:prstGeom>
          <a:noFill/>
        </p:spPr>
        <p:txBody>
          <a:bodyPr wrap="none" lIns="0" tIns="0" rIns="0" bIns="0" anchor="t">
            <a:spAutoFit/>
          </a:bodyPr>
          <a:lstStyle/>
          <a:p>
            <a:pPr algn="ctr"/>
            <a:r>
              <a:rPr sz="1050" b="0" i="0" u="none">
                <a:solidFill>
                  <a:srgbClr val="64748B"/>
                </a:solidFill>
                <a:latin typeface="微軟正黑體" panose="020B0604030504040204" pitchFamily="34" charset="-120"/>
                <a:ea typeface="微軟正黑體" panose="020B0604030504040204" pitchFamily="34" charset="-120"/>
              </a:rPr>
              <a:t>OCR 與時序去重</a:t>
            </a:r>
          </a:p>
        </p:txBody>
      </p:sp>
      <p:sp>
        <p:nvSpPr>
          <p:cNvPr id="22" name="TextBox 21"/>
          <p:cNvSpPr txBox="1"/>
          <p:nvPr/>
        </p:nvSpPr>
        <p:spPr>
          <a:xfrm>
            <a:off x="8015714" y="4481512"/>
            <a:ext cx="732572" cy="207749"/>
          </a:xfrm>
          <a:prstGeom prst="rect">
            <a:avLst/>
          </a:prstGeom>
          <a:noFill/>
        </p:spPr>
        <p:txBody>
          <a:bodyPr wrap="none" lIns="0" tIns="0" rIns="0" bIns="0" anchor="t">
            <a:spAutoFit/>
          </a:bodyPr>
          <a:lstStyle/>
          <a:p>
            <a:pPr algn="ctr"/>
            <a:r>
              <a:rPr sz="1350" b="1" i="0" u="none">
                <a:solidFill>
                  <a:srgbClr val="0F172A"/>
                </a:solidFill>
                <a:latin typeface="微軟正黑體" panose="020B0604030504040204" pitchFamily="34" charset="-120"/>
                <a:ea typeface="微軟正黑體" panose="020B0604030504040204" pitchFamily="34" charset="-120"/>
              </a:rPr>
              <a:t>NLP 解析</a:t>
            </a:r>
          </a:p>
        </p:txBody>
      </p:sp>
      <p:sp>
        <p:nvSpPr>
          <p:cNvPr id="23" name="TextBox 22"/>
          <p:cNvSpPr txBox="1"/>
          <p:nvPr/>
        </p:nvSpPr>
        <p:spPr>
          <a:xfrm>
            <a:off x="7910717" y="4786312"/>
            <a:ext cx="942566" cy="161583"/>
          </a:xfrm>
          <a:prstGeom prst="rect">
            <a:avLst/>
          </a:prstGeom>
          <a:noFill/>
        </p:spPr>
        <p:txBody>
          <a:bodyPr wrap="none" lIns="0" tIns="0" rIns="0" bIns="0" anchor="t">
            <a:spAutoFit/>
          </a:bodyPr>
          <a:lstStyle/>
          <a:p>
            <a:pPr algn="ctr"/>
            <a:r>
              <a:rPr sz="1050" b="0" i="0" u="none">
                <a:solidFill>
                  <a:srgbClr val="64748B"/>
                </a:solidFill>
                <a:latin typeface="微軟正黑體" panose="020B0604030504040204" pitchFamily="34" charset="-120"/>
                <a:ea typeface="微軟正黑體" panose="020B0604030504040204" pitchFamily="34" charset="-120"/>
              </a:rPr>
              <a:t>多通道資料擴充</a:t>
            </a:r>
          </a:p>
        </p:txBody>
      </p:sp>
      <p:sp>
        <p:nvSpPr>
          <p:cNvPr id="24" name="TextBox 23"/>
          <p:cNvSpPr txBox="1"/>
          <p:nvPr/>
        </p:nvSpPr>
        <p:spPr>
          <a:xfrm>
            <a:off x="10235189" y="4481512"/>
            <a:ext cx="865622" cy="207749"/>
          </a:xfrm>
          <a:prstGeom prst="rect">
            <a:avLst/>
          </a:prstGeom>
          <a:noFill/>
        </p:spPr>
        <p:txBody>
          <a:bodyPr wrap="none" lIns="0" tIns="0" rIns="0" bIns="0" anchor="t">
            <a:spAutoFit/>
          </a:bodyPr>
          <a:lstStyle/>
          <a:p>
            <a:pPr algn="ctr"/>
            <a:r>
              <a:rPr sz="1350" b="1" i="0" u="none">
                <a:solidFill>
                  <a:srgbClr val="0F172A"/>
                </a:solidFill>
                <a:latin typeface="微軟正黑體" panose="020B0604030504040204" pitchFamily="34" charset="-120"/>
                <a:ea typeface="微軟正黑體" panose="020B0604030504040204" pitchFamily="34" charset="-120"/>
              </a:rPr>
              <a:t>格式化輸出</a:t>
            </a:r>
          </a:p>
        </p:txBody>
      </p:sp>
      <p:sp>
        <p:nvSpPr>
          <p:cNvPr id="25" name="TextBox 24"/>
          <p:cNvSpPr txBox="1"/>
          <p:nvPr/>
        </p:nvSpPr>
        <p:spPr>
          <a:xfrm>
            <a:off x="10129391" y="4786312"/>
            <a:ext cx="1077218" cy="161583"/>
          </a:xfrm>
          <a:prstGeom prst="rect">
            <a:avLst/>
          </a:prstGeom>
          <a:noFill/>
        </p:spPr>
        <p:txBody>
          <a:bodyPr wrap="none" lIns="0" tIns="0" rIns="0" bIns="0" anchor="t">
            <a:spAutoFit/>
          </a:bodyPr>
          <a:lstStyle/>
          <a:p>
            <a:pPr algn="ctr"/>
            <a:r>
              <a:rPr sz="1050" b="0" i="0" u="none">
                <a:solidFill>
                  <a:srgbClr val="64748B"/>
                </a:solidFill>
                <a:latin typeface="微軟正黑體" panose="020B0604030504040204" pitchFamily="34" charset="-120"/>
                <a:ea typeface="微軟正黑體" panose="020B0604030504040204" pitchFamily="34" charset="-120"/>
              </a:rPr>
              <a:t>建立單字卡資料庫</a:t>
            </a:r>
          </a:p>
        </p:txBody>
      </p:sp>
      <p:sp>
        <p:nvSpPr>
          <p:cNvPr id="26" name="Rounded Rectangle 25"/>
          <p:cNvSpPr/>
          <p:nvPr/>
        </p:nvSpPr>
        <p:spPr>
          <a:xfrm>
            <a:off x="762000" y="5250000"/>
            <a:ext cx="10668000" cy="1300000"/>
          </a:xfrm>
          <a:prstGeom prst="roundRect">
            <a:avLst/>
          </a:prstGeom>
          <a:solidFill>
            <a:srgbClr val="F8FAFC"/>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ctr">
              <a:spcAft>
                <a:spcPts val="300"/>
              </a:spcAft>
              <a:defRPr sz="1150" b="1">
                <a:solidFill>
                  <a:srgbClr val="0F172A"/>
                </a:solidFill>
                <a:latin typeface="微軟正黑體"/>
              </a:defRPr>
            </a:pPr>
            <a:r>
              <a:t>📚 管線架構與選型科學驗證 (Pipeline Methodology Validation)</a:t>
            </a:r>
          </a:p>
          <a:p>
            <a:pPr>
              <a:lnSpc>
                <a:spcPct val="115000"/>
              </a:lnSpc>
              <a:spcAft>
                <a:spcPts val="200"/>
              </a:spcAft>
              <a:defRPr sz="950">
                <a:solidFill>
                  <a:srgbClr val="334155"/>
                </a:solidFill>
                <a:latin typeface="微軟正黑體"/>
              </a:defRPr>
            </a:pPr>
            <a:r>
              <a:t>• 硬字幕抽取流水線：Watve &amp; Bhalekar (IJCRT 2021) 證實影格差分配合 OCR 之端到端流水線在硬字幕提取具備極高時效。</a:t>
            </a:r>
          </a:p>
          <a:p>
            <a:pPr>
              <a:lnSpc>
                <a:spcPct val="115000"/>
              </a:lnSpc>
              <a:spcAft>
                <a:spcPts val="200"/>
              </a:spcAft>
              <a:defRPr sz="950">
                <a:solidFill>
                  <a:srgbClr val="334155"/>
                </a:solidFill>
                <a:latin typeface="微軟正黑體"/>
              </a:defRPr>
            </a:pPr>
            <a:r>
              <a:t>• 兩階段 vs 純視覺大模型：政大 2026 碩論（呂承恩）透過分層實驗實證：在影像文字擷取任務上，兩階段「OCR-based 流水線」正確率維持 95.2%~100%，而端到端純視覺多模態大模型（Vision Direct）嚴重崩潰（不可用），確立本專案採用專用 OCR 搭配 NLP 解析之兩階段架構為當前最佳實踐。</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762000" y="1857375"/>
            <a:ext cx="2743200" cy="276225"/>
          </a:xfrm>
          <a:prstGeom prst="roundRect">
            <a:avLst>
              <a:gd name="adj" fmla="val 13793"/>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62000" y="3933825"/>
            <a:ext cx="3803650" cy="685800"/>
          </a:xfrm>
          <a:prstGeom prst="roundRect">
            <a:avLst>
              <a:gd name="adj" fmla="val 11111"/>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6858000" y="0"/>
            <a:ext cx="5334000" cy="6858000"/>
          </a:xfrm>
          <a:prstGeom prst="rect">
            <a:avLst/>
          </a:prstGeom>
        </p:spPr>
      </p:pic>
      <p:pic>
        <p:nvPicPr>
          <p:cNvPr id="5" name="Picture 4" descr="image.png"/>
          <p:cNvPicPr>
            <a:picLocks noChangeAspect="1"/>
          </p:cNvPicPr>
          <p:nvPr/>
        </p:nvPicPr>
        <p:blipFill>
          <a:blip r:embed="rId4"/>
          <a:stretch>
            <a:fillRect/>
          </a:stretch>
        </p:blipFill>
        <p:spPr>
          <a:xfrm>
            <a:off x="6858000" y="-1"/>
            <a:ext cx="5334000" cy="7449879"/>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2001" y="4848226"/>
            <a:ext cx="243370" cy="243370"/>
          </a:xfrm>
          <a:prstGeom prst="rect">
            <a:avLst/>
          </a:prstGeom>
        </p:spPr>
      </p:pic>
      <p:sp>
        <p:nvSpPr>
          <p:cNvPr id="8" name="TextBox 7"/>
          <p:cNvSpPr txBox="1"/>
          <p:nvPr/>
        </p:nvSpPr>
        <p:spPr>
          <a:xfrm>
            <a:off x="762000" y="2362200"/>
            <a:ext cx="1731243" cy="415498"/>
          </a:xfrm>
          <a:prstGeom prst="rect">
            <a:avLst/>
          </a:prstGeom>
          <a:noFill/>
        </p:spPr>
        <p:txBody>
          <a:bodyPr wrap="none" lIns="0" tIns="0" rIns="0" bIns="0" anchor="t">
            <a:spAutoFit/>
          </a:bodyPr>
          <a:lstStyle/>
          <a:p>
            <a:pPr algn="l"/>
            <a:r>
              <a:rPr lang="zh-TW" altLang="en-US" sz="2700" b="1" i="0" u="none" dirty="0" smtClean="0">
                <a:solidFill>
                  <a:srgbClr val="0F172A"/>
                </a:solidFill>
                <a:latin typeface="微軟正黑體" panose="020B0604030504040204" pitchFamily="34" charset="-120"/>
                <a:ea typeface="微軟正黑體" panose="020B0604030504040204" pitchFamily="34" charset="-120"/>
              </a:rPr>
              <a:t>取樣率</a:t>
            </a:r>
            <a:r>
              <a:rPr sz="2700" b="1" i="0" u="none" dirty="0" err="1" smtClean="0">
                <a:solidFill>
                  <a:srgbClr val="0F172A"/>
                </a:solidFill>
                <a:latin typeface="微軟正黑體" panose="020B0604030504040204" pitchFamily="34" charset="-120"/>
                <a:ea typeface="微軟正黑體" panose="020B0604030504040204" pitchFamily="34" charset="-120"/>
              </a:rPr>
              <a:t>設立</a:t>
            </a:r>
            <a:endParaRPr sz="2700" b="1" i="0" u="none" dirty="0">
              <a:solidFill>
                <a:srgbClr val="0F172A"/>
              </a:solidFill>
              <a:latin typeface="微軟正黑體" panose="020B0604030504040204" pitchFamily="34" charset="-120"/>
              <a:ea typeface="微軟正黑體" panose="020B0604030504040204" pitchFamily="34" charset="-120"/>
            </a:endParaRPr>
          </a:p>
        </p:txBody>
      </p:sp>
      <p:sp>
        <p:nvSpPr>
          <p:cNvPr id="9" name="TextBox 8"/>
          <p:cNvSpPr txBox="1"/>
          <p:nvPr/>
        </p:nvSpPr>
        <p:spPr>
          <a:xfrm>
            <a:off x="762000" y="3019425"/>
            <a:ext cx="4857750" cy="582724"/>
          </a:xfrm>
          <a:prstGeom prst="rect">
            <a:avLst/>
          </a:prstGeom>
          <a:noFill/>
        </p:spPr>
        <p:txBody>
          <a:bodyPr wrap="square" lIns="0" tIns="0" rIns="0" bIns="0" anchor="t">
            <a:spAutoFit/>
          </a:bodyPr>
          <a:lstStyle/>
          <a:p>
            <a:pPr>
              <a:lnSpc>
                <a:spcPts val="2400"/>
              </a:lnSpc>
            </a:pPr>
            <a:r>
              <a:rPr lang="zh-TW" altLang="en-US" sz="1500" b="0" i="0" u="none" dirty="0" smtClean="0">
                <a:solidFill>
                  <a:srgbClr val="475569"/>
                </a:solidFill>
                <a:latin typeface="微軟正黑體" panose="020B0604030504040204" pitchFamily="34" charset="-120"/>
                <a:ea typeface="微軟正黑體" panose="020B0604030504040204" pitchFamily="34" charset="-120"/>
              </a:rPr>
              <a:t>盲目提高取樣率</a:t>
            </a:r>
            <a:r>
              <a:rPr lang="zh-TW" altLang="en-US" sz="1500" dirty="0" smtClean="0">
                <a:solidFill>
                  <a:srgbClr val="475569"/>
                </a:solidFill>
                <a:latin typeface="微軟正黑體" panose="020B0604030504040204" pitchFamily="34" charset="-120"/>
                <a:ea typeface="微軟正黑體" panose="020B0604030504040204" pitchFamily="34" charset="-120"/>
              </a:rPr>
              <a:t>，</a:t>
            </a:r>
            <a:r>
              <a:rPr lang="zh-TW" altLang="en-US" sz="1500" dirty="0">
                <a:solidFill>
                  <a:srgbClr val="475569"/>
                </a:solidFill>
                <a:latin typeface="微軟正黑體" panose="020B0604030504040204" pitchFamily="34" charset="-120"/>
                <a:ea typeface="微軟正黑體" panose="020B0604030504040204" pitchFamily="34" charset="-120"/>
              </a:rPr>
              <a:t>運算</a:t>
            </a:r>
            <a:r>
              <a:rPr lang="zh-TW" altLang="en-US" sz="1500" dirty="0" smtClean="0">
                <a:solidFill>
                  <a:srgbClr val="475569"/>
                </a:solidFill>
                <a:latin typeface="微軟正黑體" panose="020B0604030504040204" pitchFamily="34" charset="-120"/>
                <a:ea typeface="微軟正黑體" panose="020B0604030504040204" pitchFamily="34" charset="-120"/>
              </a:rPr>
              <a:t>負擔呈線性</a:t>
            </a:r>
            <a:r>
              <a:rPr lang="zh-TW" altLang="en-US" sz="1500" b="0" i="0" u="none" dirty="0" smtClean="0">
                <a:solidFill>
                  <a:srgbClr val="475569"/>
                </a:solidFill>
                <a:latin typeface="微軟正黑體" panose="020B0604030504040204" pitchFamily="34" charset="-120"/>
                <a:ea typeface="微軟正黑體" panose="020B0604030504040204" pitchFamily="34" charset="-120"/>
              </a:rPr>
              <a:t>增長，</a:t>
            </a:r>
            <a:endParaRPr lang="en-US" altLang="zh-TW" sz="1500" b="0" i="0" u="none" dirty="0" smtClean="0">
              <a:solidFill>
                <a:srgbClr val="475569"/>
              </a:solidFill>
              <a:latin typeface="微軟正黑體" panose="020B0604030504040204" pitchFamily="34" charset="-120"/>
              <a:ea typeface="微軟正黑體" panose="020B0604030504040204" pitchFamily="34" charset="-120"/>
            </a:endParaRPr>
          </a:p>
          <a:p>
            <a:pPr algn="l">
              <a:lnSpc>
                <a:spcPts val="2400"/>
              </a:lnSpc>
            </a:pPr>
            <a:r>
              <a:rPr lang="zh-TW" altLang="en-US" sz="1500" b="0" i="0" u="none" dirty="0" smtClean="0">
                <a:solidFill>
                  <a:srgbClr val="475569"/>
                </a:solidFill>
                <a:latin typeface="微軟正黑體" panose="020B0604030504040204" pitchFamily="34" charset="-120"/>
                <a:ea typeface="微軟正黑體" panose="020B0604030504040204" pitchFamily="34" charset="-120"/>
              </a:rPr>
              <a:t>透過實驗，在取樣率與效果間，取得最佳平衡。</a:t>
            </a:r>
            <a:endParaRPr lang="en-US" altLang="zh-TW" sz="1500" b="0" i="0" u="none" dirty="0" smtClean="0">
              <a:solidFill>
                <a:srgbClr val="475569"/>
              </a:solidFill>
              <a:latin typeface="微軟正黑體" panose="020B0604030504040204" pitchFamily="34" charset="-120"/>
              <a:ea typeface="微軟正黑體" panose="020B0604030504040204" pitchFamily="34" charset="-120"/>
            </a:endParaRPr>
          </a:p>
        </p:txBody>
      </p:sp>
      <p:sp>
        <p:nvSpPr>
          <p:cNvPr id="10" name="TextBox 9"/>
          <p:cNvSpPr txBox="1"/>
          <p:nvPr/>
        </p:nvSpPr>
        <p:spPr>
          <a:xfrm>
            <a:off x="850889" y="4883349"/>
            <a:ext cx="2234586" cy="173124"/>
          </a:xfrm>
          <a:prstGeom prst="rect">
            <a:avLst/>
          </a:prstGeom>
          <a:noFill/>
        </p:spPr>
        <p:txBody>
          <a:bodyPr wrap="none" lIns="180975" tIns="0" rIns="0" bIns="0" anchor="t">
            <a:spAutoFit/>
          </a:bodyPr>
          <a:lstStyle/>
          <a:p>
            <a:pPr algn="ctr"/>
            <a:r>
              <a:rPr lang="en-US" sz="1125" b="1" dirty="0">
                <a:solidFill>
                  <a:srgbClr val="1F7244"/>
                </a:solidFill>
                <a:latin typeface="微軟正黑體" panose="020B0604030504040204" pitchFamily="34" charset="-120"/>
                <a:ea typeface="微軟正黑體" panose="020B0604030504040204" pitchFamily="34" charset="-120"/>
              </a:rPr>
              <a:t>Sampling_Rate_Analysis.xlsx</a:t>
            </a:r>
            <a:endParaRPr sz="1125" b="1" i="0" u="none" dirty="0">
              <a:solidFill>
                <a:srgbClr val="1F7244"/>
              </a:solidFill>
              <a:latin typeface="微軟正黑體" panose="020B0604030504040204" pitchFamily="34" charset="-120"/>
              <a:ea typeface="微軟正黑體" panose="020B0604030504040204" pitchFamily="34" charset="-120"/>
            </a:endParaRPr>
          </a:p>
        </p:txBody>
      </p:sp>
      <p:sp>
        <p:nvSpPr>
          <p:cNvPr id="11" name="TextBox 10"/>
          <p:cNvSpPr txBox="1"/>
          <p:nvPr/>
        </p:nvSpPr>
        <p:spPr>
          <a:xfrm>
            <a:off x="1244426" y="4092059"/>
            <a:ext cx="1447512" cy="369332"/>
          </a:xfrm>
          <a:prstGeom prst="rect">
            <a:avLst/>
          </a:prstGeom>
          <a:noFill/>
        </p:spPr>
        <p:txBody>
          <a:bodyPr wrap="none" lIns="0" tIns="0" rIns="0" bIns="0" anchor="t">
            <a:spAutoFit/>
          </a:bodyPr>
          <a:lstStyle/>
          <a:p>
            <a:pPr algn="l"/>
            <a:r>
              <a:rPr lang="en-US" sz="2400" b="1" i="0" u="none" dirty="0" smtClean="0">
                <a:solidFill>
                  <a:srgbClr val="0F172A"/>
                </a:solidFill>
                <a:latin typeface="微軟正黑體" panose="020B0604030504040204" pitchFamily="34" charset="-120"/>
                <a:ea typeface="微軟正黑體" panose="020B0604030504040204" pitchFamily="34" charset="-120"/>
              </a:rPr>
              <a:t>0.375</a:t>
            </a:r>
            <a:r>
              <a:rPr lang="zh-TW" altLang="en-US" sz="2400" b="1" i="0" u="none" dirty="0" smtClean="0">
                <a:solidFill>
                  <a:srgbClr val="0F172A"/>
                </a:solidFill>
                <a:latin typeface="微軟正黑體" panose="020B0604030504040204" pitchFamily="34" charset="-120"/>
                <a:ea typeface="微軟正黑體" panose="020B0604030504040204" pitchFamily="34" charset="-120"/>
              </a:rPr>
              <a:t> </a:t>
            </a:r>
            <a:r>
              <a:rPr lang="en-US" altLang="zh-TW" sz="2400" b="1" i="0" u="none" dirty="0" smtClean="0">
                <a:solidFill>
                  <a:srgbClr val="0F172A"/>
                </a:solidFill>
                <a:latin typeface="微軟正黑體" panose="020B0604030504040204" pitchFamily="34" charset="-120"/>
                <a:ea typeface="微軟正黑體" panose="020B0604030504040204" pitchFamily="34" charset="-120"/>
              </a:rPr>
              <a:t>FPS</a:t>
            </a:r>
            <a:endParaRPr sz="2400" b="1" i="0" u="none" dirty="0">
              <a:solidFill>
                <a:srgbClr val="0F172A"/>
              </a:solidFill>
              <a:latin typeface="微軟正黑體" panose="020B0604030504040204" pitchFamily="34" charset="-120"/>
              <a:ea typeface="微軟正黑體" panose="020B0604030504040204" pitchFamily="34" charset="-120"/>
            </a:endParaRPr>
          </a:p>
        </p:txBody>
      </p:sp>
      <p:sp>
        <p:nvSpPr>
          <p:cNvPr id="12" name="TextBox 11"/>
          <p:cNvSpPr txBox="1"/>
          <p:nvPr/>
        </p:nvSpPr>
        <p:spPr>
          <a:xfrm>
            <a:off x="2748042" y="4153614"/>
            <a:ext cx="1761503" cy="246221"/>
          </a:xfrm>
          <a:prstGeom prst="rect">
            <a:avLst/>
          </a:prstGeom>
          <a:noFill/>
        </p:spPr>
        <p:txBody>
          <a:bodyPr wrap="square" lIns="0" tIns="0" rIns="0" bIns="0" anchor="t">
            <a:spAutoFit/>
          </a:bodyPr>
          <a:lstStyle/>
          <a:p>
            <a:pPr algn="ctr"/>
            <a:r>
              <a:rPr lang="en-US" altLang="zh-TW" sz="1600" b="1" dirty="0">
                <a:solidFill>
                  <a:srgbClr val="475569"/>
                </a:solidFill>
                <a:latin typeface="微軟正黑體" panose="020B0604030504040204" pitchFamily="34" charset="-120"/>
                <a:ea typeface="微軟正黑體" panose="020B0604030504040204" pitchFamily="34" charset="-120"/>
              </a:rPr>
              <a:t>2.667 </a:t>
            </a:r>
            <a:r>
              <a:rPr lang="zh-TW" altLang="en-US" sz="1600" b="1" dirty="0">
                <a:solidFill>
                  <a:srgbClr val="475569"/>
                </a:solidFill>
                <a:latin typeface="微軟正黑體" panose="020B0604030504040204" pitchFamily="34" charset="-120"/>
                <a:ea typeface="微軟正黑體" panose="020B0604030504040204" pitchFamily="34" charset="-120"/>
              </a:rPr>
              <a:t>秒</a:t>
            </a:r>
            <a:r>
              <a:rPr lang="en-US" altLang="zh-TW" sz="1600" b="1" dirty="0">
                <a:solidFill>
                  <a:srgbClr val="475569"/>
                </a:solidFill>
                <a:latin typeface="微軟正黑體" panose="020B0604030504040204" pitchFamily="34" charset="-120"/>
                <a:ea typeface="微軟正黑體" panose="020B0604030504040204" pitchFamily="34" charset="-120"/>
              </a:rPr>
              <a:t>/</a:t>
            </a:r>
            <a:r>
              <a:rPr lang="zh-TW" altLang="en-US" sz="1600" b="1" dirty="0">
                <a:solidFill>
                  <a:srgbClr val="475569"/>
                </a:solidFill>
                <a:latin typeface="微軟正黑體" panose="020B0604030504040204" pitchFamily="34" charset="-120"/>
                <a:ea typeface="微軟正黑體" panose="020B0604030504040204" pitchFamily="34" charset="-120"/>
              </a:rPr>
              <a:t>幀</a:t>
            </a:r>
            <a:endParaRPr sz="1600" b="1" i="0" u="none" dirty="0">
              <a:solidFill>
                <a:srgbClr val="475569"/>
              </a:solidFill>
              <a:latin typeface="微軟正黑體" panose="020B0604030504040204" pitchFamily="34" charset="-120"/>
              <a:ea typeface="微軟正黑體" panose="020B0604030504040204" pitchFamily="34" charset="-120"/>
            </a:endParaRPr>
          </a:p>
        </p:txBody>
      </p:sp>
      <p:sp>
        <p:nvSpPr>
          <p:cNvPr id="13" name="Rounded Rectangle 12"/>
          <p:cNvSpPr/>
          <p:nvPr/>
        </p:nvSpPr>
        <p:spPr>
          <a:xfrm>
            <a:off x="762000" y="5250000"/>
            <a:ext cx="5800000" cy="1300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ctr">
              <a:spcAft>
                <a:spcPts val="300"/>
              </a:spcAft>
              <a:defRPr sz="1150" b="1">
                <a:solidFill>
                  <a:srgbClr val="0F172A"/>
                </a:solidFill>
                <a:latin typeface="微軟正黑體"/>
              </a:defRPr>
            </a:pPr>
            <a:r>
              <a:t>📚 預算感知與長視訊邊緣控制理論</a:t>
            </a:r>
          </a:p>
          <a:p>
            <a:pPr>
              <a:lnSpc>
                <a:spcPct val="115000"/>
              </a:lnSpc>
              <a:spcAft>
                <a:spcPts val="200"/>
              </a:spcAft>
              <a:defRPr sz="950">
                <a:solidFill>
                  <a:srgbClr val="334155"/>
                </a:solidFill>
                <a:latin typeface="微軟正黑體"/>
              </a:defRPr>
            </a:pPr>
            <a:r>
              <a:t>• 長視訊預算感知 (Budget-Aware)：Cai et al. (arXiv 2026, CFD) 指出密集暴力取樣在長時序視訊中造成嚴重算力浪費，文字記憶優先與按需動態存取是兼顧精度與算力的最優解。</a:t>
            </a:r>
          </a:p>
          <a:p>
            <a:pPr>
              <a:lnSpc>
                <a:spcPct val="115000"/>
              </a:lnSpc>
              <a:spcAft>
                <a:spcPts val="200"/>
              </a:spcAft>
              <a:defRPr sz="950">
                <a:solidFill>
                  <a:srgbClr val="334155"/>
                </a:solidFill>
                <a:latin typeface="微軟正黑體"/>
              </a:defRPr>
            </a:pPr>
            <a:r>
              <a:t>• 邊緣即時控制 (Edge-IVA)：Jung &amp; Kim (Applied Sciences 2026) 實證動態調控取樣率可避免設備降頻掉格，0.375 FPS 取樣率在捕獲 99%+ 有效字幕的同時，大幅降低 60%+ 算力開銷，是滿足實時 SLA 閾值的關鍵。</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762000" y="1857375"/>
            <a:ext cx="2743200" cy="276225"/>
          </a:xfrm>
          <a:prstGeom prst="roundRect">
            <a:avLst>
              <a:gd name="adj" fmla="val 13793"/>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62000" y="3933825"/>
            <a:ext cx="1924050" cy="685800"/>
          </a:xfrm>
          <a:prstGeom prst="roundRect">
            <a:avLst>
              <a:gd name="adj" fmla="val 11111"/>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1" y="4848226"/>
            <a:ext cx="243370" cy="243370"/>
          </a:xfrm>
          <a:prstGeom prst="rect">
            <a:avLst/>
          </a:prstGeom>
        </p:spPr>
      </p:pic>
      <p:sp>
        <p:nvSpPr>
          <p:cNvPr id="7" name="TextBox 6"/>
          <p:cNvSpPr txBox="1"/>
          <p:nvPr/>
        </p:nvSpPr>
        <p:spPr>
          <a:xfrm>
            <a:off x="876300" y="1914525"/>
            <a:ext cx="2609850" cy="161925"/>
          </a:xfrm>
          <a:prstGeom prst="rect">
            <a:avLst/>
          </a:prstGeom>
          <a:noFill/>
        </p:spPr>
        <p:txBody>
          <a:bodyPr wrap="square" lIns="0" tIns="0" rIns="0" bIns="0" anchor="t">
            <a:spAutoFit/>
          </a:bodyPr>
          <a:lstStyle/>
          <a:p>
            <a:pPr algn="l"/>
            <a:r>
              <a:rPr sz="1050" b="1" i="0" u="none">
                <a:solidFill>
                  <a:srgbClr val="1D4ED8"/>
                </a:solidFill>
                <a:latin typeface="微軟正黑體" panose="020B0604030504040204" pitchFamily="34" charset="-120"/>
                <a:ea typeface="微軟正黑體" panose="020B0604030504040204" pitchFamily="34" charset="-120"/>
              </a:rPr>
              <a:t>OBSERVATION-DRIVEN PRINCIPLE</a:t>
            </a:r>
          </a:p>
        </p:txBody>
      </p:sp>
      <p:sp>
        <p:nvSpPr>
          <p:cNvPr id="8" name="TextBox 7"/>
          <p:cNvSpPr txBox="1"/>
          <p:nvPr/>
        </p:nvSpPr>
        <p:spPr>
          <a:xfrm>
            <a:off x="762000" y="2362200"/>
            <a:ext cx="1731243" cy="415498"/>
          </a:xfrm>
          <a:prstGeom prst="rect">
            <a:avLst/>
          </a:prstGeom>
          <a:noFill/>
        </p:spPr>
        <p:txBody>
          <a:bodyPr wrap="none" lIns="0" tIns="0" rIns="0" bIns="0" anchor="t">
            <a:spAutoFit/>
          </a:bodyPr>
          <a:lstStyle/>
          <a:p>
            <a:pPr algn="l"/>
            <a:r>
              <a:rPr sz="2700" b="1" i="0" u="none">
                <a:solidFill>
                  <a:srgbClr val="0F172A"/>
                </a:solidFill>
                <a:latin typeface="微軟正黑體" panose="020B0604030504040204" pitchFamily="34" charset="-120"/>
                <a:ea typeface="微軟正黑體" panose="020B0604030504040204" pitchFamily="34" charset="-120"/>
              </a:rPr>
              <a:t>採樣率設立</a:t>
            </a:r>
          </a:p>
        </p:txBody>
      </p:sp>
      <p:sp>
        <p:nvSpPr>
          <p:cNvPr id="9" name="TextBox 8"/>
          <p:cNvSpPr txBox="1"/>
          <p:nvPr/>
        </p:nvSpPr>
        <p:spPr>
          <a:xfrm>
            <a:off x="762000" y="3019425"/>
            <a:ext cx="4857750" cy="582724"/>
          </a:xfrm>
          <a:prstGeom prst="rect">
            <a:avLst/>
          </a:prstGeom>
          <a:noFill/>
        </p:spPr>
        <p:txBody>
          <a:bodyPr wrap="square" lIns="0" tIns="0" rIns="0" bIns="0" anchor="t">
            <a:spAutoFit/>
          </a:bodyPr>
          <a:lstStyle/>
          <a:p>
            <a:pPr>
              <a:lnSpc>
                <a:spcPts val="2400"/>
              </a:lnSpc>
            </a:pPr>
            <a:r>
              <a:rPr lang="zh-TW" altLang="en-US" sz="1500" b="0" i="0" u="none" dirty="0" smtClean="0">
                <a:solidFill>
                  <a:srgbClr val="475569"/>
                </a:solidFill>
                <a:latin typeface="微軟正黑體" panose="020B0604030504040204" pitchFamily="34" charset="-120"/>
                <a:ea typeface="微軟正黑體" panose="020B0604030504040204" pitchFamily="34" charset="-120"/>
              </a:rPr>
              <a:t>盲目提高採樣</a:t>
            </a:r>
            <a:r>
              <a:rPr lang="zh-TW" altLang="en-US" sz="1500" dirty="0">
                <a:solidFill>
                  <a:srgbClr val="475569"/>
                </a:solidFill>
                <a:latin typeface="微軟正黑體" panose="020B0604030504040204" pitchFamily="34" charset="-120"/>
                <a:ea typeface="微軟正黑體" panose="020B0604030504040204" pitchFamily="34" charset="-120"/>
              </a:rPr>
              <a:t>率，運算</a:t>
            </a:r>
            <a:r>
              <a:rPr lang="zh-TW" altLang="en-US" sz="1500" dirty="0" smtClean="0">
                <a:solidFill>
                  <a:srgbClr val="475569"/>
                </a:solidFill>
                <a:latin typeface="微軟正黑體" panose="020B0604030504040204" pitchFamily="34" charset="-120"/>
                <a:ea typeface="微軟正黑體" panose="020B0604030504040204" pitchFamily="34" charset="-120"/>
              </a:rPr>
              <a:t>負擔呈現</a:t>
            </a:r>
            <a:r>
              <a:rPr lang="zh-TW" altLang="en-US" sz="1500" dirty="0">
                <a:solidFill>
                  <a:srgbClr val="475569"/>
                </a:solidFill>
                <a:latin typeface="微軟正黑體" panose="020B0604030504040204" pitchFamily="34" charset="-120"/>
                <a:ea typeface="微軟正黑體" panose="020B0604030504040204" pitchFamily="34" charset="-120"/>
              </a:rPr>
              <a:t>指數</a:t>
            </a:r>
            <a:r>
              <a:rPr lang="zh-TW" altLang="en-US" sz="1500" b="0" i="0" u="none" dirty="0" smtClean="0">
                <a:solidFill>
                  <a:srgbClr val="475569"/>
                </a:solidFill>
                <a:latin typeface="微軟正黑體" panose="020B0604030504040204" pitchFamily="34" charset="-120"/>
                <a:ea typeface="微軟正黑體" panose="020B0604030504040204" pitchFamily="34" charset="-120"/>
              </a:rPr>
              <a:t>增長，</a:t>
            </a:r>
            <a:endParaRPr lang="en-US" altLang="zh-TW" sz="1500" b="0" i="0" u="none" dirty="0" smtClean="0">
              <a:solidFill>
                <a:srgbClr val="475569"/>
              </a:solidFill>
              <a:latin typeface="微軟正黑體" panose="020B0604030504040204" pitchFamily="34" charset="-120"/>
              <a:ea typeface="微軟正黑體" panose="020B0604030504040204" pitchFamily="34" charset="-120"/>
            </a:endParaRPr>
          </a:p>
          <a:p>
            <a:pPr algn="l">
              <a:lnSpc>
                <a:spcPts val="2400"/>
              </a:lnSpc>
            </a:pPr>
            <a:r>
              <a:rPr lang="zh-TW" altLang="en-US" sz="1500" b="0" i="0" u="none" dirty="0" smtClean="0">
                <a:solidFill>
                  <a:srgbClr val="475569"/>
                </a:solidFill>
                <a:latin typeface="微軟正黑體" panose="020B0604030504040204" pitchFamily="34" charset="-120"/>
                <a:ea typeface="微軟正黑體" panose="020B0604030504040204" pitchFamily="34" charset="-120"/>
              </a:rPr>
              <a:t>透過實驗，在採樣率與效果間，取得最佳平衡。</a:t>
            </a:r>
            <a:endParaRPr lang="en-US" altLang="zh-TW" sz="1500" b="0" i="0" u="none" dirty="0" smtClean="0">
              <a:solidFill>
                <a:srgbClr val="475569"/>
              </a:solidFill>
              <a:latin typeface="微軟正黑體" panose="020B0604030504040204" pitchFamily="34" charset="-120"/>
              <a:ea typeface="微軟正黑體" panose="020B0604030504040204" pitchFamily="34" charset="-120"/>
            </a:endParaRPr>
          </a:p>
        </p:txBody>
      </p:sp>
      <p:sp>
        <p:nvSpPr>
          <p:cNvPr id="10" name="TextBox 9"/>
          <p:cNvSpPr txBox="1"/>
          <p:nvPr/>
        </p:nvSpPr>
        <p:spPr>
          <a:xfrm>
            <a:off x="850889" y="4883349"/>
            <a:ext cx="2234586" cy="173124"/>
          </a:xfrm>
          <a:prstGeom prst="rect">
            <a:avLst/>
          </a:prstGeom>
          <a:noFill/>
        </p:spPr>
        <p:txBody>
          <a:bodyPr wrap="none" lIns="180975" tIns="0" rIns="0" bIns="0" anchor="t">
            <a:spAutoFit/>
          </a:bodyPr>
          <a:lstStyle/>
          <a:p>
            <a:pPr algn="ctr"/>
            <a:r>
              <a:rPr lang="en-US" sz="1125" b="1" dirty="0">
                <a:solidFill>
                  <a:srgbClr val="1F7244"/>
                </a:solidFill>
                <a:latin typeface="微軟正黑體" panose="020B0604030504040204" pitchFamily="34" charset="-120"/>
                <a:ea typeface="微軟正黑體" panose="020B0604030504040204" pitchFamily="34" charset="-120"/>
              </a:rPr>
              <a:t>Sampling_Rate_Analysis.xlsx</a:t>
            </a:r>
            <a:endParaRPr sz="1125" b="1" i="0" u="none" dirty="0">
              <a:solidFill>
                <a:srgbClr val="1F7244"/>
              </a:solidFill>
              <a:latin typeface="微軟正黑體" panose="020B0604030504040204" pitchFamily="34" charset="-120"/>
              <a:ea typeface="微軟正黑體" panose="020B0604030504040204" pitchFamily="34" charset="-120"/>
            </a:endParaRPr>
          </a:p>
        </p:txBody>
      </p:sp>
      <p:sp>
        <p:nvSpPr>
          <p:cNvPr id="11" name="TextBox 10"/>
          <p:cNvSpPr txBox="1"/>
          <p:nvPr/>
        </p:nvSpPr>
        <p:spPr>
          <a:xfrm>
            <a:off x="990600" y="4086225"/>
            <a:ext cx="798295" cy="369332"/>
          </a:xfrm>
          <a:prstGeom prst="rect">
            <a:avLst/>
          </a:prstGeom>
          <a:noFill/>
        </p:spPr>
        <p:txBody>
          <a:bodyPr wrap="none" lIns="0" tIns="0" rIns="0" bIns="0" anchor="t">
            <a:spAutoFit/>
          </a:bodyPr>
          <a:lstStyle/>
          <a:p>
            <a:pPr algn="l"/>
            <a:r>
              <a:rPr lang="en-US" sz="2400" b="1" i="0" u="none" dirty="0" smtClean="0">
                <a:solidFill>
                  <a:srgbClr val="0F172A"/>
                </a:solidFill>
                <a:latin typeface="微軟正黑體" panose="020B0604030504040204" pitchFamily="34" charset="-120"/>
                <a:ea typeface="微軟正黑體" panose="020B0604030504040204" pitchFamily="34" charset="-120"/>
              </a:rPr>
              <a:t>1</a:t>
            </a:r>
            <a:r>
              <a:rPr lang="zh-TW" altLang="en-US" sz="2400" b="1" i="0" u="none" dirty="0" smtClean="0">
                <a:solidFill>
                  <a:srgbClr val="0F172A"/>
                </a:solidFill>
                <a:latin typeface="微軟正黑體" panose="020B0604030504040204" pitchFamily="34" charset="-120"/>
                <a:ea typeface="微軟正黑體" panose="020B0604030504040204" pitchFamily="34" charset="-120"/>
              </a:rPr>
              <a:t> </a:t>
            </a:r>
            <a:r>
              <a:rPr lang="en-US" altLang="zh-TW" sz="2400" b="1" i="0" u="none" dirty="0" smtClean="0">
                <a:solidFill>
                  <a:srgbClr val="0F172A"/>
                </a:solidFill>
                <a:latin typeface="微軟正黑體" panose="020B0604030504040204" pitchFamily="34" charset="-120"/>
                <a:ea typeface="微軟正黑體" panose="020B0604030504040204" pitchFamily="34" charset="-120"/>
              </a:rPr>
              <a:t>FPS</a:t>
            </a:r>
            <a:endParaRPr sz="2400" b="1" i="0" u="none" dirty="0">
              <a:solidFill>
                <a:srgbClr val="0F172A"/>
              </a:solidFill>
              <a:latin typeface="微軟正黑體" panose="020B0604030504040204" pitchFamily="34" charset="-120"/>
              <a:ea typeface="微軟正黑體" panose="020B0604030504040204" pitchFamily="34" charset="-120"/>
            </a:endParaRPr>
          </a:p>
        </p:txBody>
      </p:sp>
      <p:sp>
        <p:nvSpPr>
          <p:cNvPr id="12" name="TextBox 11"/>
          <p:cNvSpPr txBox="1"/>
          <p:nvPr/>
        </p:nvSpPr>
        <p:spPr>
          <a:xfrm>
            <a:off x="1968182" y="4184329"/>
            <a:ext cx="495300" cy="173124"/>
          </a:xfrm>
          <a:prstGeom prst="rect">
            <a:avLst/>
          </a:prstGeom>
          <a:noFill/>
        </p:spPr>
        <p:txBody>
          <a:bodyPr wrap="square" lIns="0" tIns="0" rIns="0" bIns="0" anchor="t">
            <a:spAutoFit/>
          </a:bodyPr>
          <a:lstStyle/>
          <a:p>
            <a:pPr algn="ctr"/>
            <a:r>
              <a:rPr lang="en-US" sz="1125" b="1" i="0" u="none" dirty="0" smtClean="0">
                <a:solidFill>
                  <a:srgbClr val="475569"/>
                </a:solidFill>
                <a:latin typeface="微軟正黑體" panose="020B0604030504040204" pitchFamily="34" charset="-120"/>
                <a:ea typeface="微軟正黑體" panose="020B0604030504040204" pitchFamily="34" charset="-120"/>
              </a:rPr>
              <a:t>1</a:t>
            </a:r>
            <a:r>
              <a:rPr lang="en-US" altLang="zh-TW" sz="1125" b="1" i="0" u="none" dirty="0" smtClean="0">
                <a:solidFill>
                  <a:srgbClr val="475569"/>
                </a:solidFill>
                <a:latin typeface="微軟正黑體" panose="020B0604030504040204" pitchFamily="34" charset="-120"/>
                <a:ea typeface="微軟正黑體" panose="020B0604030504040204" pitchFamily="34" charset="-120"/>
              </a:rPr>
              <a:t>Hz</a:t>
            </a:r>
            <a:endParaRPr sz="1125" b="1" i="0" u="none" dirty="0">
              <a:solidFill>
                <a:srgbClr val="475569"/>
              </a:solidFill>
              <a:latin typeface="微軟正黑體" panose="020B0604030504040204" pitchFamily="34" charset="-120"/>
              <a:ea typeface="微軟正黑體" panose="020B0604030504040204" pitchFamily="34" charset="-120"/>
            </a:endParaRPr>
          </a:p>
        </p:txBody>
      </p:sp>
      <p:graphicFrame>
        <p:nvGraphicFramePr>
          <p:cNvPr id="13" name="表格 12"/>
          <p:cNvGraphicFramePr>
            <a:graphicFrameLocks noGrp="1"/>
          </p:cNvGraphicFramePr>
          <p:nvPr>
            <p:extLst>
              <p:ext uri="{D42A27DB-BD31-4B8C-83A1-F6EECF244321}">
                <p14:modId xmlns:p14="http://schemas.microsoft.com/office/powerpoint/2010/main" val="4027812738"/>
              </p:ext>
            </p:extLst>
          </p:nvPr>
        </p:nvGraphicFramePr>
        <p:xfrm>
          <a:off x="-2" y="0"/>
          <a:ext cx="5619752" cy="6843452"/>
        </p:xfrm>
        <a:graphic>
          <a:graphicData uri="http://schemas.openxmlformats.org/drawingml/2006/table">
            <a:tbl>
              <a:tblPr firstRow="1">
                <a:tableStyleId>{5C22544A-7EE6-4342-B048-85BDC9FD1C3A}</a:tableStyleId>
              </a:tblPr>
              <a:tblGrid>
                <a:gridCol w="702469">
                  <a:extLst>
                    <a:ext uri="{9D8B030D-6E8A-4147-A177-3AD203B41FA5}">
                      <a16:colId xmlns:a16="http://schemas.microsoft.com/office/drawing/2014/main" val="3651958906"/>
                    </a:ext>
                  </a:extLst>
                </a:gridCol>
                <a:gridCol w="702469">
                  <a:extLst>
                    <a:ext uri="{9D8B030D-6E8A-4147-A177-3AD203B41FA5}">
                      <a16:colId xmlns:a16="http://schemas.microsoft.com/office/drawing/2014/main" val="1624881991"/>
                    </a:ext>
                  </a:extLst>
                </a:gridCol>
                <a:gridCol w="702469">
                  <a:extLst>
                    <a:ext uri="{9D8B030D-6E8A-4147-A177-3AD203B41FA5}">
                      <a16:colId xmlns:a16="http://schemas.microsoft.com/office/drawing/2014/main" val="3961449967"/>
                    </a:ext>
                  </a:extLst>
                </a:gridCol>
                <a:gridCol w="702469">
                  <a:extLst>
                    <a:ext uri="{9D8B030D-6E8A-4147-A177-3AD203B41FA5}">
                      <a16:colId xmlns:a16="http://schemas.microsoft.com/office/drawing/2014/main" val="3017589315"/>
                    </a:ext>
                  </a:extLst>
                </a:gridCol>
                <a:gridCol w="702469">
                  <a:extLst>
                    <a:ext uri="{9D8B030D-6E8A-4147-A177-3AD203B41FA5}">
                      <a16:colId xmlns:a16="http://schemas.microsoft.com/office/drawing/2014/main" val="3738553121"/>
                    </a:ext>
                  </a:extLst>
                </a:gridCol>
                <a:gridCol w="702469">
                  <a:extLst>
                    <a:ext uri="{9D8B030D-6E8A-4147-A177-3AD203B41FA5}">
                      <a16:colId xmlns:a16="http://schemas.microsoft.com/office/drawing/2014/main" val="3752251484"/>
                    </a:ext>
                  </a:extLst>
                </a:gridCol>
                <a:gridCol w="702469">
                  <a:extLst>
                    <a:ext uri="{9D8B030D-6E8A-4147-A177-3AD203B41FA5}">
                      <a16:colId xmlns:a16="http://schemas.microsoft.com/office/drawing/2014/main" val="2722151788"/>
                    </a:ext>
                  </a:extLst>
                </a:gridCol>
                <a:gridCol w="702469">
                  <a:extLst>
                    <a:ext uri="{9D8B030D-6E8A-4147-A177-3AD203B41FA5}">
                      <a16:colId xmlns:a16="http://schemas.microsoft.com/office/drawing/2014/main" val="1102365751"/>
                    </a:ext>
                  </a:extLst>
                </a:gridCol>
              </a:tblGrid>
              <a:tr h="981820">
                <a:tc>
                  <a:txBody>
                    <a:bodyPr/>
                    <a:lstStyle/>
                    <a:p>
                      <a:pPr algn="ctr" fontAlgn="b"/>
                      <a:r>
                        <a:rPr lang="en-US" sz="1100" b="0" u="none" strike="noStrike" dirty="0">
                          <a:effectLst/>
                          <a:latin typeface="+mj-ea"/>
                          <a:ea typeface="+mj-ea"/>
                        </a:rPr>
                        <a:t>FPS</a:t>
                      </a:r>
                      <a:endParaRPr lang="en-US" sz="1100" b="0" i="0" u="none" strike="noStrike" dirty="0">
                        <a:solidFill>
                          <a:srgbClr val="000000"/>
                        </a:solidFill>
                        <a:effectLst/>
                        <a:latin typeface="+mj-ea"/>
                        <a:ea typeface="+mj-ea"/>
                      </a:endParaRPr>
                    </a:p>
                  </a:txBody>
                  <a:tcPr marL="7620" marR="7620" marT="7620" marB="0" anchor="ctr"/>
                </a:tc>
                <a:tc>
                  <a:txBody>
                    <a:bodyPr/>
                    <a:lstStyle/>
                    <a:p>
                      <a:pPr algn="ctr" fontAlgn="b"/>
                      <a:r>
                        <a:rPr lang="zh-TW" altLang="en-US" sz="1100" b="0" u="none" strike="noStrike" dirty="0">
                          <a:effectLst/>
                          <a:latin typeface="+mj-ea"/>
                          <a:ea typeface="+mj-ea"/>
                        </a:rPr>
                        <a:t>影格數</a:t>
                      </a:r>
                      <a:endParaRPr lang="zh-TW" altLang="en-US" sz="1100" b="0" i="0" u="none" strike="noStrike" dirty="0">
                        <a:solidFill>
                          <a:srgbClr val="000000"/>
                        </a:solidFill>
                        <a:effectLst/>
                        <a:latin typeface="+mj-ea"/>
                        <a:ea typeface="+mj-ea"/>
                      </a:endParaRPr>
                    </a:p>
                  </a:txBody>
                  <a:tcPr marL="7620" marR="7620" marT="7620" marB="0" anchor="ctr"/>
                </a:tc>
                <a:tc>
                  <a:txBody>
                    <a:bodyPr/>
                    <a:lstStyle/>
                    <a:p>
                      <a:pPr algn="ctr" fontAlgn="b"/>
                      <a:r>
                        <a:rPr lang="en-US" sz="1100" b="0" u="none" strike="noStrike" dirty="0">
                          <a:effectLst/>
                          <a:latin typeface="+mj-ea"/>
                          <a:ea typeface="+mj-ea"/>
                        </a:rPr>
                        <a:t>OCR</a:t>
                      </a:r>
                      <a:r>
                        <a:rPr lang="zh-TW" altLang="en-US" sz="1100" b="0" u="none" strike="noStrike" dirty="0">
                          <a:effectLst/>
                          <a:latin typeface="+mj-ea"/>
                          <a:ea typeface="+mj-ea"/>
                        </a:rPr>
                        <a:t>總耗時</a:t>
                      </a:r>
                      <a:r>
                        <a:rPr lang="en-US" altLang="zh-TW" sz="1100" b="0" u="none" strike="noStrike" dirty="0">
                          <a:effectLst/>
                          <a:latin typeface="+mj-ea"/>
                          <a:ea typeface="+mj-ea"/>
                        </a:rPr>
                        <a:t>(</a:t>
                      </a:r>
                      <a:r>
                        <a:rPr lang="en-US" sz="1100" b="0" u="none" strike="noStrike" dirty="0">
                          <a:effectLst/>
                          <a:latin typeface="+mj-ea"/>
                          <a:ea typeface="+mj-ea"/>
                        </a:rPr>
                        <a:t>s)</a:t>
                      </a:r>
                      <a:endParaRPr lang="en-US" sz="1100" b="0" i="0" u="none" strike="noStrike" dirty="0">
                        <a:solidFill>
                          <a:srgbClr val="000000"/>
                        </a:solidFill>
                        <a:effectLst/>
                        <a:latin typeface="+mj-ea"/>
                        <a:ea typeface="+mj-ea"/>
                      </a:endParaRPr>
                    </a:p>
                  </a:txBody>
                  <a:tcPr marL="7620" marR="7620" marT="7620" marB="0" anchor="ctr"/>
                </a:tc>
                <a:tc>
                  <a:txBody>
                    <a:bodyPr/>
                    <a:lstStyle/>
                    <a:p>
                      <a:pPr algn="ctr" fontAlgn="b"/>
                      <a:r>
                        <a:rPr lang="zh-TW" altLang="en-US" sz="1100" b="0" u="none" strike="noStrike" dirty="0">
                          <a:effectLst/>
                          <a:latin typeface="+mj-ea"/>
                          <a:ea typeface="+mj-ea"/>
                        </a:rPr>
                        <a:t>去重後句數</a:t>
                      </a:r>
                      <a:endParaRPr lang="zh-TW" altLang="en-US" sz="1100" b="0" i="0" u="none" strike="noStrike" dirty="0">
                        <a:solidFill>
                          <a:srgbClr val="000000"/>
                        </a:solidFill>
                        <a:effectLst/>
                        <a:latin typeface="+mj-ea"/>
                        <a:ea typeface="+mj-ea"/>
                      </a:endParaRPr>
                    </a:p>
                  </a:txBody>
                  <a:tcPr marL="7620" marR="7620" marT="7620" marB="0" anchor="ctr"/>
                </a:tc>
                <a:tc>
                  <a:txBody>
                    <a:bodyPr/>
                    <a:lstStyle/>
                    <a:p>
                      <a:pPr algn="ctr" fontAlgn="b"/>
                      <a:r>
                        <a:rPr lang="zh-TW" altLang="en-US" sz="1100" b="0" u="none" strike="noStrike" dirty="0">
                          <a:effectLst/>
                          <a:latin typeface="+mj-ea"/>
                          <a:ea typeface="+mj-ea"/>
                        </a:rPr>
                        <a:t>總詞彙數</a:t>
                      </a:r>
                      <a:endParaRPr lang="zh-TW" altLang="en-US" sz="1100" b="0" i="0" u="none" strike="noStrike" dirty="0">
                        <a:solidFill>
                          <a:srgbClr val="000000"/>
                        </a:solidFill>
                        <a:effectLst/>
                        <a:latin typeface="+mj-ea"/>
                        <a:ea typeface="+mj-ea"/>
                      </a:endParaRPr>
                    </a:p>
                  </a:txBody>
                  <a:tcPr marL="7620" marR="7620" marT="7620" marB="0" anchor="ctr"/>
                </a:tc>
                <a:tc>
                  <a:txBody>
                    <a:bodyPr/>
                    <a:lstStyle/>
                    <a:p>
                      <a:pPr algn="ctr" fontAlgn="b"/>
                      <a:r>
                        <a:rPr lang="zh-TW" altLang="en-US" sz="1100" b="0" u="none" strike="noStrike" dirty="0">
                          <a:effectLst/>
                          <a:latin typeface="+mj-ea"/>
                          <a:ea typeface="+mj-ea"/>
                        </a:rPr>
                        <a:t>字典命中數</a:t>
                      </a:r>
                      <a:endParaRPr lang="zh-TW" altLang="en-US" sz="1100" b="0" i="0" u="none" strike="noStrike" dirty="0">
                        <a:solidFill>
                          <a:srgbClr val="000000"/>
                        </a:solidFill>
                        <a:effectLst/>
                        <a:latin typeface="+mj-ea"/>
                        <a:ea typeface="+mj-ea"/>
                      </a:endParaRPr>
                    </a:p>
                  </a:txBody>
                  <a:tcPr marL="7620" marR="7620" marT="7620" marB="0" anchor="ctr"/>
                </a:tc>
                <a:tc>
                  <a:txBody>
                    <a:bodyPr/>
                    <a:lstStyle/>
                    <a:p>
                      <a:pPr algn="ctr" fontAlgn="b"/>
                      <a:r>
                        <a:rPr lang="zh-TW" altLang="en-US" sz="1100" b="0" u="none" strike="noStrike" dirty="0">
                          <a:effectLst/>
                          <a:latin typeface="+mj-ea"/>
                          <a:ea typeface="+mj-ea"/>
                        </a:rPr>
                        <a:t>命中率</a:t>
                      </a:r>
                      <a:r>
                        <a:rPr lang="en-US" altLang="zh-TW" sz="1100" b="0" u="none" strike="noStrike" dirty="0">
                          <a:effectLst/>
                          <a:latin typeface="+mj-ea"/>
                          <a:ea typeface="+mj-ea"/>
                        </a:rPr>
                        <a:t>(%)</a:t>
                      </a:r>
                      <a:endParaRPr lang="en-US" altLang="zh-TW" sz="1100" b="0" i="0" u="none" strike="noStrike" dirty="0">
                        <a:solidFill>
                          <a:srgbClr val="000000"/>
                        </a:solidFill>
                        <a:effectLst/>
                        <a:latin typeface="+mj-ea"/>
                        <a:ea typeface="+mj-ea"/>
                      </a:endParaRPr>
                    </a:p>
                  </a:txBody>
                  <a:tcPr marL="7620" marR="7620" marT="7620" marB="0" anchor="ctr"/>
                </a:tc>
                <a:tc>
                  <a:txBody>
                    <a:bodyPr/>
                    <a:lstStyle/>
                    <a:p>
                      <a:pPr algn="ctr" fontAlgn="b"/>
                      <a:r>
                        <a:rPr lang="zh-TW" altLang="en-US" sz="1100" b="0" u="none" strike="noStrike" dirty="0">
                          <a:effectLst/>
                          <a:latin typeface="+mj-ea"/>
                          <a:ea typeface="+mj-ea"/>
                        </a:rPr>
                        <a:t>單位時間句數</a:t>
                      </a:r>
                      <a:r>
                        <a:rPr lang="en-US" altLang="zh-TW" sz="1100" b="0" u="none" strike="noStrike" dirty="0">
                          <a:effectLst/>
                          <a:latin typeface="+mj-ea"/>
                          <a:ea typeface="+mj-ea"/>
                        </a:rPr>
                        <a:t>(</a:t>
                      </a:r>
                      <a:r>
                        <a:rPr lang="zh-TW" altLang="en-US" sz="1100" b="0" u="none" strike="noStrike" dirty="0">
                          <a:effectLst/>
                          <a:latin typeface="+mj-ea"/>
                          <a:ea typeface="+mj-ea"/>
                        </a:rPr>
                        <a:t>句</a:t>
                      </a:r>
                      <a:r>
                        <a:rPr lang="en-US" altLang="zh-TW" sz="1100" b="0" u="none" strike="noStrike" dirty="0">
                          <a:effectLst/>
                          <a:latin typeface="+mj-ea"/>
                          <a:ea typeface="+mj-ea"/>
                        </a:rPr>
                        <a:t>/s)</a:t>
                      </a:r>
                      <a:endParaRPr lang="en-US" altLang="zh-TW" sz="1100" b="0" i="0" u="none" strike="noStrike" dirty="0">
                        <a:solidFill>
                          <a:srgbClr val="000000"/>
                        </a:solidFill>
                        <a:effectLst/>
                        <a:latin typeface="+mj-ea"/>
                        <a:ea typeface="+mj-ea"/>
                      </a:endParaRPr>
                    </a:p>
                  </a:txBody>
                  <a:tcPr marL="7620" marR="7620" marT="7620" marB="0" anchor="ctr"/>
                </a:tc>
                <a:extLst>
                  <a:ext uri="{0D108BD9-81ED-4DB2-BD59-A6C34878D82A}">
                    <a16:rowId xmlns:a16="http://schemas.microsoft.com/office/drawing/2014/main" val="1665434845"/>
                  </a:ext>
                </a:extLst>
              </a:tr>
              <a:tr h="366352">
                <a:tc>
                  <a:txBody>
                    <a:bodyPr/>
                    <a:lstStyle/>
                    <a:p>
                      <a:pPr algn="ctr" fontAlgn="b"/>
                      <a:r>
                        <a:rPr lang="en-US" altLang="zh-TW" sz="1100" u="none" strike="noStrike" dirty="0">
                          <a:effectLst/>
                        </a:rPr>
                        <a:t>0.25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92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36.1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47</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161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122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75.8</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1.30</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60530417"/>
                  </a:ext>
                </a:extLst>
              </a:tr>
              <a:tr h="366352">
                <a:tc>
                  <a:txBody>
                    <a:bodyPr/>
                    <a:lstStyle/>
                    <a:p>
                      <a:pPr algn="ctr" fontAlgn="b"/>
                      <a:r>
                        <a:rPr lang="en-US" altLang="zh-TW" sz="1100" u="none" strike="noStrike" dirty="0">
                          <a:effectLst/>
                        </a:rPr>
                        <a:t>0.375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138</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48.6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69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206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167</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81.1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1.41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2991300967"/>
                  </a:ext>
                </a:extLst>
              </a:tr>
              <a:tr h="366352">
                <a:tc>
                  <a:txBody>
                    <a:bodyPr/>
                    <a:lstStyle/>
                    <a:p>
                      <a:pPr algn="ctr" fontAlgn="b"/>
                      <a:r>
                        <a:rPr lang="en-US" altLang="zh-TW" sz="1100" u="none" strike="noStrike" dirty="0">
                          <a:effectLst/>
                        </a:rPr>
                        <a:t>0.5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184</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64.81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90</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296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219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74</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1.38</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2186881711"/>
                  </a:ext>
                </a:extLst>
              </a:tr>
              <a:tr h="366352">
                <a:tc>
                  <a:txBody>
                    <a:bodyPr/>
                    <a:lstStyle/>
                    <a:p>
                      <a:pPr algn="ctr" fontAlgn="b"/>
                      <a:r>
                        <a:rPr lang="en-US" altLang="zh-TW" sz="1100" u="none" strike="noStrike" dirty="0">
                          <a:effectLst/>
                        </a:rPr>
                        <a:t>0.6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221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77.89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97</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296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230</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77.7</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1.24</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834625775"/>
                  </a:ext>
                </a:extLst>
              </a:tr>
              <a:tr h="366352">
                <a:tc>
                  <a:txBody>
                    <a:bodyPr/>
                    <a:lstStyle/>
                    <a:p>
                      <a:pPr algn="ctr" fontAlgn="b"/>
                      <a:r>
                        <a:rPr lang="en-US" altLang="zh-TW" sz="1100" u="none" strike="noStrike" dirty="0">
                          <a:effectLst/>
                        </a:rPr>
                        <a:t>0.7</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257</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90.54</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96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289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220</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76.1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1.06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1797797922"/>
                  </a:ext>
                </a:extLst>
              </a:tr>
              <a:tr h="366352">
                <a:tc>
                  <a:txBody>
                    <a:bodyPr/>
                    <a:lstStyle/>
                    <a:p>
                      <a:pPr algn="ctr" fontAlgn="b"/>
                      <a:r>
                        <a:rPr lang="en-US" altLang="zh-TW" sz="1100" u="none" strike="noStrike" dirty="0">
                          <a:effectLst/>
                        </a:rPr>
                        <a:t>0.8</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299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105.9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112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332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249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1.05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3326311736"/>
                  </a:ext>
                </a:extLst>
              </a:tr>
              <a:tr h="366352">
                <a:tc>
                  <a:txBody>
                    <a:bodyPr/>
                    <a:lstStyle/>
                    <a:p>
                      <a:pPr algn="ctr" fontAlgn="b"/>
                      <a:r>
                        <a:rPr lang="en-US" altLang="zh-TW" sz="1100" u="none" strike="noStrike" dirty="0">
                          <a:effectLst/>
                        </a:rPr>
                        <a:t>0.9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335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118.95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134</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408</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315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77.2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1.12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2242945920"/>
                  </a:ext>
                </a:extLst>
              </a:tr>
              <a:tr h="366352">
                <a:tc>
                  <a:txBody>
                    <a:bodyPr/>
                    <a:lstStyle/>
                    <a:p>
                      <a:pPr algn="ctr" fontAlgn="b"/>
                      <a:r>
                        <a:rPr lang="en-US" altLang="zh-TW" sz="1100" u="none" strike="noStrike" dirty="0">
                          <a:effectLst/>
                        </a:rPr>
                        <a:t>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368</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129.43</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141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445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327</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73.5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1.08</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2182115756"/>
                  </a:ext>
                </a:extLst>
              </a:tr>
              <a:tr h="366352">
                <a:tc>
                  <a:txBody>
                    <a:bodyPr/>
                    <a:lstStyle/>
                    <a:p>
                      <a:pPr algn="ctr" fontAlgn="b"/>
                      <a:r>
                        <a:rPr lang="en-US" altLang="zh-TW" sz="1100" u="none" strike="noStrike" dirty="0">
                          <a:effectLst/>
                        </a:rPr>
                        <a:t>1.1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409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145.09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139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430</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324</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75.3</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0.95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3215937276"/>
                  </a:ext>
                </a:extLst>
              </a:tr>
              <a:tr h="366352">
                <a:tc>
                  <a:txBody>
                    <a:bodyPr/>
                    <a:lstStyle/>
                    <a:p>
                      <a:pPr algn="ctr" fontAlgn="b"/>
                      <a:r>
                        <a:rPr lang="en-US" altLang="zh-TW" sz="1100" u="none" strike="noStrike" dirty="0">
                          <a:effectLst/>
                        </a:rPr>
                        <a:t>1.2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442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156.2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141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409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313</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76.5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0.90</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2731768912"/>
                  </a:ext>
                </a:extLst>
              </a:tr>
              <a:tr h="366352">
                <a:tc>
                  <a:txBody>
                    <a:bodyPr/>
                    <a:lstStyle/>
                    <a:p>
                      <a:pPr algn="ctr" fontAlgn="b"/>
                      <a:r>
                        <a:rPr lang="en-US" altLang="zh-TW" sz="1100" u="none" strike="noStrike" dirty="0">
                          <a:effectLst/>
                        </a:rPr>
                        <a:t>1.3</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480</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168.97</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154</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455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353</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77.6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0.91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757732626"/>
                  </a:ext>
                </a:extLst>
              </a:tr>
              <a:tr h="366352">
                <a:tc>
                  <a:txBody>
                    <a:bodyPr/>
                    <a:lstStyle/>
                    <a:p>
                      <a:pPr algn="ctr" fontAlgn="b"/>
                      <a:r>
                        <a:rPr lang="en-US" altLang="zh-TW" sz="1100" u="none" strike="noStrike" dirty="0">
                          <a:effectLst/>
                        </a:rPr>
                        <a:t>1.4</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526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185.56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167</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494</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366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74.1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0.89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2152741001"/>
                  </a:ext>
                </a:extLst>
              </a:tr>
              <a:tr h="366352">
                <a:tc>
                  <a:txBody>
                    <a:bodyPr/>
                    <a:lstStyle/>
                    <a:p>
                      <a:pPr algn="ctr" fontAlgn="b"/>
                      <a:r>
                        <a:rPr lang="en-US" altLang="zh-TW" sz="1100" u="none" strike="noStrike" dirty="0">
                          <a:effectLst/>
                        </a:rPr>
                        <a:t>1.5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552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207.99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179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534</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406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0.86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3499386622"/>
                  </a:ext>
                </a:extLst>
              </a:tr>
              <a:tr h="366352">
                <a:tc>
                  <a:txBody>
                    <a:bodyPr/>
                    <a:lstStyle/>
                    <a:p>
                      <a:pPr algn="ctr" fontAlgn="b"/>
                      <a:r>
                        <a:rPr lang="en-US" altLang="zh-TW" sz="1100" u="none" strike="noStrike" dirty="0">
                          <a:effectLst/>
                        </a:rPr>
                        <a:t>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736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277.22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211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632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466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73.7</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0.76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2596627595"/>
                  </a:ext>
                </a:extLst>
              </a:tr>
              <a:tr h="366352">
                <a:tc>
                  <a:txBody>
                    <a:bodyPr/>
                    <a:lstStyle/>
                    <a:p>
                      <a:pPr algn="ctr" fontAlgn="b"/>
                      <a:r>
                        <a:rPr lang="en-US" altLang="zh-TW" sz="1100" u="none" strike="noStrike" dirty="0">
                          <a:effectLst/>
                        </a:rPr>
                        <a:t>2.5</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919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329.26</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243</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719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541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75.2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0.73</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30554670"/>
                  </a:ext>
                </a:extLst>
              </a:tr>
              <a:tr h="366352">
                <a:tc>
                  <a:txBody>
                    <a:bodyPr/>
                    <a:lstStyle/>
                    <a:p>
                      <a:pPr algn="ctr" fontAlgn="b"/>
                      <a:r>
                        <a:rPr lang="en-US" altLang="zh-TW" sz="1100" u="none" strike="noStrike" dirty="0">
                          <a:effectLst/>
                        </a:rPr>
                        <a:t>3</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1103</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387.3</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270</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832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619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a:effectLst/>
                        </a:rPr>
                        <a:t>74.4</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tc>
                  <a:txBody>
                    <a:bodyPr/>
                    <a:lstStyle/>
                    <a:p>
                      <a:pPr algn="ctr" fontAlgn="b"/>
                      <a:r>
                        <a:rPr lang="en-US" altLang="zh-TW" sz="1100" u="none" strike="noStrike" dirty="0" smtClean="0">
                          <a:effectLst/>
                        </a:rPr>
                        <a:t>0.69</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7620" marR="7620" marT="7620" marB="0" anchor="ctr"/>
                </a:tc>
                <a:extLst>
                  <a:ext uri="{0D108BD9-81ED-4DB2-BD59-A6C34878D82A}">
                    <a16:rowId xmlns:a16="http://schemas.microsoft.com/office/drawing/2014/main" val="406088201"/>
                  </a:ext>
                </a:extLst>
              </a:tr>
            </a:tbl>
          </a:graphicData>
        </a:graphic>
      </p:graphicFrame>
      <p:graphicFrame>
        <p:nvGraphicFramePr>
          <p:cNvPr id="14" name="圖表 13"/>
          <p:cNvGraphicFramePr>
            <a:graphicFrameLocks/>
          </p:cNvGraphicFramePr>
          <p:nvPr>
            <p:extLst>
              <p:ext uri="{D42A27DB-BD31-4B8C-83A1-F6EECF244321}">
                <p14:modId xmlns:p14="http://schemas.microsoft.com/office/powerpoint/2010/main" val="3158532616"/>
              </p:ext>
            </p:extLst>
          </p:nvPr>
        </p:nvGraphicFramePr>
        <p:xfrm>
          <a:off x="5619750" y="71704"/>
          <a:ext cx="6613071" cy="684344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242104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圖表 12"/>
          <p:cNvGraphicFramePr>
            <a:graphicFrameLocks/>
          </p:cNvGraphicFramePr>
          <p:nvPr>
            <p:extLst>
              <p:ext uri="{D42A27DB-BD31-4B8C-83A1-F6EECF244321}">
                <p14:modId xmlns:p14="http://schemas.microsoft.com/office/powerpoint/2010/main" val="780204945"/>
              </p:ext>
            </p:extLst>
          </p:nvPr>
        </p:nvGraphicFramePr>
        <p:xfrm>
          <a:off x="0" y="0"/>
          <a:ext cx="5862084" cy="6858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圖表 13"/>
          <p:cNvGraphicFramePr>
            <a:graphicFrameLocks/>
          </p:cNvGraphicFramePr>
          <p:nvPr>
            <p:extLst>
              <p:ext uri="{D42A27DB-BD31-4B8C-83A1-F6EECF244321}">
                <p14:modId xmlns:p14="http://schemas.microsoft.com/office/powerpoint/2010/main" val="165727916"/>
              </p:ext>
            </p:extLst>
          </p:nvPr>
        </p:nvGraphicFramePr>
        <p:xfrm>
          <a:off x="5862084" y="0"/>
          <a:ext cx="6327980" cy="6858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573751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圖表 15"/>
          <p:cNvGraphicFramePr>
            <a:graphicFrameLocks/>
          </p:cNvGraphicFramePr>
          <p:nvPr>
            <p:extLst>
              <p:ext uri="{D42A27DB-BD31-4B8C-83A1-F6EECF244321}">
                <p14:modId xmlns:p14="http://schemas.microsoft.com/office/powerpoint/2010/main" val="667269698"/>
              </p:ext>
            </p:extLst>
          </p:nvPr>
        </p:nvGraphicFramePr>
        <p:xfrm>
          <a:off x="0" y="6803"/>
          <a:ext cx="12192000" cy="685119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84931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0" name="群組 19"/>
          <p:cNvGrpSpPr/>
          <p:nvPr/>
        </p:nvGrpSpPr>
        <p:grpSpPr>
          <a:xfrm>
            <a:off x="6553200" y="3117850"/>
            <a:ext cx="1846659" cy="1007849"/>
            <a:chOff x="1028700" y="3114675"/>
            <a:chExt cx="1846659" cy="1007849"/>
          </a:xfrm>
        </p:grpSpPr>
        <p:sp>
          <p:nvSpPr>
            <p:cNvPr id="12" name="TextBox 11"/>
            <p:cNvSpPr txBox="1"/>
            <p:nvPr/>
          </p:nvSpPr>
          <p:spPr>
            <a:xfrm>
              <a:off x="1028700" y="3114675"/>
              <a:ext cx="1846659" cy="276999"/>
            </a:xfrm>
            <a:prstGeom prst="rect">
              <a:avLst/>
            </a:prstGeom>
            <a:noFill/>
          </p:spPr>
          <p:txBody>
            <a:bodyPr wrap="none" lIns="0" tIns="0" rIns="0" bIns="0" anchor="t">
              <a:spAutoFit/>
            </a:bodyPr>
            <a:lstStyle/>
            <a:p>
              <a:pPr algn="l"/>
              <a:r>
                <a:rPr sz="1800" b="1" i="0" u="none" dirty="0" err="1">
                  <a:solidFill>
                    <a:srgbClr val="0F172A"/>
                  </a:solidFill>
                  <a:latin typeface="微軟正黑體" panose="020B0604030504040204" pitchFamily="34" charset="-120"/>
                </a:rPr>
                <a:t>捨棄：去雜訊處理</a:t>
              </a:r>
              <a:endParaRPr sz="1800" b="1" i="0" u="none" dirty="0">
                <a:solidFill>
                  <a:srgbClr val="0F172A"/>
                </a:solidFill>
                <a:latin typeface="微軟正黑體" panose="020B0604030504040204" pitchFamily="34" charset="-120"/>
              </a:endParaRPr>
            </a:p>
          </p:txBody>
        </p:sp>
        <p:sp>
          <p:nvSpPr>
            <p:cNvPr id="14" name="TextBox 13"/>
            <p:cNvSpPr txBox="1"/>
            <p:nvPr/>
          </p:nvSpPr>
          <p:spPr>
            <a:xfrm>
              <a:off x="1028700" y="3571875"/>
              <a:ext cx="1279196" cy="207749"/>
            </a:xfrm>
            <a:prstGeom prst="rect">
              <a:avLst/>
            </a:prstGeom>
            <a:noFill/>
          </p:spPr>
          <p:txBody>
            <a:bodyPr wrap="none" lIns="238125" tIns="0" rIns="0" bIns="0" anchor="t">
              <a:spAutoFit/>
            </a:bodyPr>
            <a:lstStyle/>
            <a:p>
              <a:pPr algn="l"/>
              <a:r>
                <a:rPr lang="zh-TW" altLang="en-US" sz="1350" b="0" i="0" u="none" dirty="0" smtClean="0">
                  <a:solidFill>
                    <a:srgbClr val="475569"/>
                  </a:solidFill>
                  <a:latin typeface="微軟正黑體" panose="020B0604030504040204" pitchFamily="34" charset="-120"/>
                </a:rPr>
                <a:t>高成本低收益</a:t>
              </a:r>
              <a:endParaRPr sz="1350" b="0" i="0" u="none" dirty="0">
                <a:solidFill>
                  <a:srgbClr val="475569"/>
                </a:solidFill>
                <a:latin typeface="微軟正黑體" panose="020B0604030504040204" pitchFamily="34" charset="-120"/>
              </a:endParaRPr>
            </a:p>
          </p:txBody>
        </p:sp>
        <p:sp>
          <p:nvSpPr>
            <p:cNvPr id="15" name="TextBox 14"/>
            <p:cNvSpPr txBox="1"/>
            <p:nvPr/>
          </p:nvSpPr>
          <p:spPr>
            <a:xfrm>
              <a:off x="1028700" y="3914775"/>
              <a:ext cx="1651093" cy="207749"/>
            </a:xfrm>
            <a:prstGeom prst="rect">
              <a:avLst/>
            </a:prstGeom>
            <a:noFill/>
          </p:spPr>
          <p:txBody>
            <a:bodyPr wrap="none" lIns="238125" tIns="0" rIns="0" bIns="0" anchor="t">
              <a:spAutoFit/>
            </a:bodyPr>
            <a:lstStyle/>
            <a:p>
              <a:pPr algn="l"/>
              <a:r>
                <a:rPr lang="zh-TW" altLang="en-US" sz="1350" b="0" i="0" u="none" dirty="0" smtClean="0">
                  <a:solidFill>
                    <a:srgbClr val="475569"/>
                  </a:solidFill>
                  <a:latin typeface="微軟正黑體" panose="020B0604030504040204" pitchFamily="34" charset="-120"/>
                </a:rPr>
                <a:t>降低</a:t>
              </a:r>
              <a:r>
                <a:rPr lang="en-US" altLang="zh-TW" sz="1350" b="0" i="0" u="none" dirty="0" smtClean="0">
                  <a:solidFill>
                    <a:srgbClr val="475569"/>
                  </a:solidFill>
                  <a:latin typeface="微軟正黑體" panose="020B0604030504040204" pitchFamily="34" charset="-120"/>
                </a:rPr>
                <a:t>OCR</a:t>
              </a:r>
              <a:r>
                <a:rPr lang="zh-TW" altLang="en-US" sz="1350" b="0" i="0" u="none" dirty="0" smtClean="0">
                  <a:solidFill>
                    <a:srgbClr val="475569"/>
                  </a:solidFill>
                  <a:latin typeface="微軟正黑體" panose="020B0604030504040204" pitchFamily="34" charset="-120"/>
                </a:rPr>
                <a:t>辨識效果</a:t>
              </a:r>
              <a:endParaRPr sz="1350" b="0" i="0" u="none" dirty="0">
                <a:solidFill>
                  <a:srgbClr val="475569"/>
                </a:solidFill>
                <a:latin typeface="微軟正黑體" panose="020B0604030504040204" pitchFamily="34" charset="-120"/>
              </a:endParaRPr>
            </a:p>
          </p:txBody>
        </p:sp>
      </p:grpSp>
      <p:grpSp>
        <p:nvGrpSpPr>
          <p:cNvPr id="23" name="群組 22"/>
          <p:cNvGrpSpPr/>
          <p:nvPr/>
        </p:nvGrpSpPr>
        <p:grpSpPr>
          <a:xfrm>
            <a:off x="6553200" y="3587422"/>
            <a:ext cx="123825" cy="523875"/>
            <a:chOff x="1028700" y="3595687"/>
            <a:chExt cx="123825" cy="523875"/>
          </a:xfrm>
        </p:grpSpPr>
        <p:pic>
          <p:nvPicPr>
            <p:cNvPr id="5" name="Picture 4" descr="image.png"/>
            <p:cNvPicPr>
              <a:picLocks noChangeAspect="1"/>
            </p:cNvPicPr>
            <p:nvPr/>
          </p:nvPicPr>
          <p:blipFill>
            <a:blip r:embed="rId2"/>
            <a:stretch>
              <a:fillRect/>
            </a:stretch>
          </p:blipFill>
          <p:spPr>
            <a:xfrm>
              <a:off x="1028700" y="3595687"/>
              <a:ext cx="123825" cy="180975"/>
            </a:xfrm>
            <a:prstGeom prst="rect">
              <a:avLst/>
            </a:prstGeom>
          </p:spPr>
        </p:pic>
        <p:pic>
          <p:nvPicPr>
            <p:cNvPr id="6" name="Picture 5" descr="image.png"/>
            <p:cNvPicPr>
              <a:picLocks noChangeAspect="1"/>
            </p:cNvPicPr>
            <p:nvPr/>
          </p:nvPicPr>
          <p:blipFill>
            <a:blip r:embed="rId2"/>
            <a:stretch>
              <a:fillRect/>
            </a:stretch>
          </p:blipFill>
          <p:spPr>
            <a:xfrm>
              <a:off x="1028700" y="3938587"/>
              <a:ext cx="123825" cy="180975"/>
            </a:xfrm>
            <a:prstGeom prst="rect">
              <a:avLst/>
            </a:prstGeom>
          </p:spPr>
        </p:pic>
      </p:grpSp>
      <p:sp>
        <p:nvSpPr>
          <p:cNvPr id="2" name="Rounded Rectangle 1"/>
          <p:cNvSpPr/>
          <p:nvPr/>
        </p:nvSpPr>
        <p:spPr>
          <a:xfrm>
            <a:off x="762000" y="1476375"/>
            <a:ext cx="1800225" cy="276225"/>
          </a:xfrm>
          <a:prstGeom prst="roundRect">
            <a:avLst>
              <a:gd name="adj" fmla="val 13793"/>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4" name="群組 23"/>
          <p:cNvGrpSpPr/>
          <p:nvPr/>
        </p:nvGrpSpPr>
        <p:grpSpPr>
          <a:xfrm>
            <a:off x="1028700" y="3114675"/>
            <a:ext cx="2308324" cy="1007849"/>
            <a:chOff x="1028700" y="3114675"/>
            <a:chExt cx="2308324" cy="1007849"/>
          </a:xfrm>
        </p:grpSpPr>
        <p:grpSp>
          <p:nvGrpSpPr>
            <p:cNvPr id="21" name="群組 20"/>
            <p:cNvGrpSpPr/>
            <p:nvPr/>
          </p:nvGrpSpPr>
          <p:grpSpPr>
            <a:xfrm>
              <a:off x="1028700" y="3114675"/>
              <a:ext cx="2308324" cy="1007849"/>
              <a:chOff x="6553200" y="3114675"/>
              <a:chExt cx="2308324" cy="1007849"/>
            </a:xfrm>
          </p:grpSpPr>
          <p:sp>
            <p:nvSpPr>
              <p:cNvPr id="13" name="TextBox 12"/>
              <p:cNvSpPr txBox="1"/>
              <p:nvPr/>
            </p:nvSpPr>
            <p:spPr>
              <a:xfrm>
                <a:off x="6553200" y="3114675"/>
                <a:ext cx="2308324" cy="276999"/>
              </a:xfrm>
              <a:prstGeom prst="rect">
                <a:avLst/>
              </a:prstGeom>
              <a:noFill/>
            </p:spPr>
            <p:txBody>
              <a:bodyPr wrap="none" lIns="0" tIns="0" rIns="0" bIns="0" anchor="t">
                <a:spAutoFit/>
              </a:bodyPr>
              <a:lstStyle/>
              <a:p>
                <a:pPr algn="l"/>
                <a:r>
                  <a:rPr sz="1800" b="1" i="0" u="none" dirty="0" err="1">
                    <a:solidFill>
                      <a:srgbClr val="0F172A"/>
                    </a:solidFill>
                    <a:latin typeface="微軟正黑體" panose="020B0604030504040204" pitchFamily="34" charset="-120"/>
                  </a:rPr>
                  <a:t>保留：灰階與對比強化</a:t>
                </a:r>
                <a:endParaRPr sz="1800" b="1" i="0" u="none" dirty="0">
                  <a:solidFill>
                    <a:srgbClr val="0F172A"/>
                  </a:solidFill>
                  <a:latin typeface="微軟正黑體" panose="020B0604030504040204" pitchFamily="34" charset="-120"/>
                </a:endParaRPr>
              </a:p>
            </p:txBody>
          </p:sp>
          <p:sp>
            <p:nvSpPr>
              <p:cNvPr id="16" name="TextBox 15"/>
              <p:cNvSpPr txBox="1"/>
              <p:nvPr/>
            </p:nvSpPr>
            <p:spPr>
              <a:xfrm>
                <a:off x="6553200" y="3571875"/>
                <a:ext cx="1776127" cy="207749"/>
              </a:xfrm>
              <a:prstGeom prst="rect">
                <a:avLst/>
              </a:prstGeom>
              <a:noFill/>
            </p:spPr>
            <p:txBody>
              <a:bodyPr wrap="none" lIns="266700" tIns="0" rIns="0" bIns="0" anchor="t">
                <a:spAutoFit/>
              </a:bodyPr>
              <a:lstStyle/>
              <a:p>
                <a:pPr algn="l"/>
                <a:r>
                  <a:rPr sz="1350" b="0" i="0" u="none" dirty="0" err="1" smtClean="0">
                    <a:solidFill>
                      <a:srgbClr val="475569"/>
                    </a:solidFill>
                    <a:latin typeface="微軟正黑體" panose="020B0604030504040204" pitchFamily="34" charset="-120"/>
                  </a:rPr>
                  <a:t>提升</a:t>
                </a:r>
                <a:r>
                  <a:rPr sz="1350" b="0" i="0" u="none" dirty="0" smtClean="0">
                    <a:solidFill>
                      <a:srgbClr val="475569"/>
                    </a:solidFill>
                    <a:latin typeface="微軟正黑體" panose="020B0604030504040204" pitchFamily="34" charset="-120"/>
                  </a:rPr>
                  <a:t> </a:t>
                </a:r>
                <a:r>
                  <a:rPr sz="1350" b="0" i="0" u="none" dirty="0">
                    <a:solidFill>
                      <a:srgbClr val="475569"/>
                    </a:solidFill>
                    <a:latin typeface="微軟正黑體" panose="020B0604030504040204" pitchFamily="34" charset="-120"/>
                  </a:rPr>
                  <a:t>OCR </a:t>
                </a:r>
                <a:r>
                  <a:rPr sz="1350" b="0" i="0" u="none" dirty="0" err="1">
                    <a:solidFill>
                      <a:srgbClr val="475569"/>
                    </a:solidFill>
                    <a:latin typeface="微軟正黑體" panose="020B0604030504040204" pitchFamily="34" charset="-120"/>
                  </a:rPr>
                  <a:t>信心度</a:t>
                </a:r>
                <a:r>
                  <a:rPr sz="1350" b="0" i="0" u="none" dirty="0">
                    <a:solidFill>
                      <a:srgbClr val="475569"/>
                    </a:solidFill>
                    <a:latin typeface="微軟正黑體" panose="020B0604030504040204" pitchFamily="34" charset="-120"/>
                  </a:rPr>
                  <a:t>。</a:t>
                </a:r>
              </a:p>
            </p:txBody>
          </p:sp>
          <p:sp>
            <p:nvSpPr>
              <p:cNvPr id="17" name="TextBox 16"/>
              <p:cNvSpPr txBox="1"/>
              <p:nvPr/>
            </p:nvSpPr>
            <p:spPr>
              <a:xfrm>
                <a:off x="6553200" y="3914775"/>
                <a:ext cx="1654299" cy="207749"/>
              </a:xfrm>
              <a:prstGeom prst="rect">
                <a:avLst/>
              </a:prstGeom>
              <a:noFill/>
            </p:spPr>
            <p:txBody>
              <a:bodyPr wrap="none" lIns="266700" tIns="0" rIns="0" bIns="0" anchor="t">
                <a:spAutoFit/>
              </a:bodyPr>
              <a:lstStyle/>
              <a:p>
                <a:pPr algn="l"/>
                <a:r>
                  <a:rPr sz="1350" b="0" i="0" u="none" dirty="0" err="1" smtClean="0">
                    <a:solidFill>
                      <a:srgbClr val="475569"/>
                    </a:solidFill>
                    <a:latin typeface="微軟正黑體" panose="020B0604030504040204" pitchFamily="34" charset="-120"/>
                  </a:rPr>
                  <a:t>低運算時間成本</a:t>
                </a:r>
                <a:r>
                  <a:rPr sz="1350" b="0" i="0" u="none" dirty="0">
                    <a:solidFill>
                      <a:srgbClr val="475569"/>
                    </a:solidFill>
                    <a:latin typeface="微軟正黑體" panose="020B0604030504040204" pitchFamily="34" charset="-120"/>
                  </a:rPr>
                  <a:t>。</a:t>
                </a:r>
              </a:p>
            </p:txBody>
          </p:sp>
        </p:grpSp>
        <p:grpSp>
          <p:nvGrpSpPr>
            <p:cNvPr id="22" name="群組 21"/>
            <p:cNvGrpSpPr/>
            <p:nvPr/>
          </p:nvGrpSpPr>
          <p:grpSpPr>
            <a:xfrm>
              <a:off x="1028700" y="3589551"/>
              <a:ext cx="152400" cy="523875"/>
              <a:chOff x="6553200" y="3595687"/>
              <a:chExt cx="152400" cy="523875"/>
            </a:xfrm>
          </p:grpSpPr>
          <p:pic>
            <p:nvPicPr>
              <p:cNvPr id="7" name="Picture 6" descr="image.png"/>
              <p:cNvPicPr>
                <a:picLocks noChangeAspect="1"/>
              </p:cNvPicPr>
              <p:nvPr/>
            </p:nvPicPr>
            <p:blipFill>
              <a:blip r:embed="rId3"/>
              <a:stretch>
                <a:fillRect/>
              </a:stretch>
            </p:blipFill>
            <p:spPr>
              <a:xfrm>
                <a:off x="6553200" y="3595687"/>
                <a:ext cx="152400" cy="180975"/>
              </a:xfrm>
              <a:prstGeom prst="rect">
                <a:avLst/>
              </a:prstGeom>
            </p:spPr>
          </p:pic>
          <p:pic>
            <p:nvPicPr>
              <p:cNvPr id="8" name="Picture 7" descr="image.png"/>
              <p:cNvPicPr>
                <a:picLocks noChangeAspect="1"/>
              </p:cNvPicPr>
              <p:nvPr/>
            </p:nvPicPr>
            <p:blipFill>
              <a:blip r:embed="rId3"/>
              <a:stretch>
                <a:fillRect/>
              </a:stretch>
            </p:blipFill>
            <p:spPr>
              <a:xfrm>
                <a:off x="6553200" y="3938587"/>
                <a:ext cx="152400" cy="180975"/>
              </a:xfrm>
              <a:prstGeom prst="rect">
                <a:avLst/>
              </a:prstGeom>
            </p:spPr>
          </p:pic>
        </p:grpSp>
      </p:grpSp>
      <p:sp>
        <p:nvSpPr>
          <p:cNvPr id="10" name="TextBox 9"/>
          <p:cNvSpPr txBox="1"/>
          <p:nvPr/>
        </p:nvSpPr>
        <p:spPr>
          <a:xfrm>
            <a:off x="762000" y="1981200"/>
            <a:ext cx="2693045" cy="461665"/>
          </a:xfrm>
          <a:prstGeom prst="rect">
            <a:avLst/>
          </a:prstGeom>
          <a:noFill/>
        </p:spPr>
        <p:txBody>
          <a:bodyPr wrap="none" lIns="0" tIns="0" rIns="0" bIns="0" anchor="t">
            <a:spAutoFit/>
          </a:bodyPr>
          <a:lstStyle/>
          <a:p>
            <a:pPr algn="l"/>
            <a:r>
              <a:rPr sz="3000" b="1" i="0" u="none">
                <a:solidFill>
                  <a:srgbClr val="0F172A"/>
                </a:solidFill>
                <a:latin typeface="微軟正黑體" panose="020B0604030504040204" pitchFamily="34" charset="-120"/>
                <a:ea typeface="微軟正黑體" panose="020B0604030504040204" pitchFamily="34" charset="-120"/>
              </a:rPr>
              <a:t>影像前處理權衡</a:t>
            </a:r>
          </a:p>
        </p:txBody>
      </p:sp>
      <p:grpSp>
        <p:nvGrpSpPr>
          <p:cNvPr id="9" name="群組 8"/>
          <p:cNvGrpSpPr/>
          <p:nvPr/>
        </p:nvGrpSpPr>
        <p:grpSpPr>
          <a:xfrm>
            <a:off x="762000" y="4714875"/>
            <a:ext cx="10668000" cy="666750"/>
            <a:chOff x="762000" y="4714875"/>
            <a:chExt cx="10668000" cy="666750"/>
          </a:xfrm>
        </p:grpSpPr>
        <p:sp>
          <p:nvSpPr>
            <p:cNvPr id="3" name="Rounded Rectangle 2"/>
            <p:cNvSpPr/>
            <p:nvPr/>
          </p:nvSpPr>
          <p:spPr>
            <a:xfrm>
              <a:off x="762000" y="4714875"/>
              <a:ext cx="10668000" cy="666750"/>
            </a:xfrm>
            <a:prstGeom prst="roundRect">
              <a:avLst>
                <a:gd name="adj" fmla="val 1142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9" name="群組 18"/>
            <p:cNvGrpSpPr/>
            <p:nvPr/>
          </p:nvGrpSpPr>
          <p:grpSpPr>
            <a:xfrm>
              <a:off x="4322834" y="4926565"/>
              <a:ext cx="3546331" cy="243370"/>
              <a:chOff x="3833330" y="4908352"/>
              <a:chExt cx="3546331" cy="243370"/>
            </a:xfrm>
          </p:grpSpPr>
          <p:sp>
            <p:nvSpPr>
              <p:cNvPr id="11" name="TextBox 10"/>
              <p:cNvSpPr txBox="1"/>
              <p:nvPr/>
            </p:nvSpPr>
            <p:spPr>
              <a:xfrm>
                <a:off x="3897939" y="4943475"/>
                <a:ext cx="3481722" cy="173124"/>
              </a:xfrm>
              <a:prstGeom prst="rect">
                <a:avLst/>
              </a:prstGeom>
              <a:noFill/>
            </p:spPr>
            <p:txBody>
              <a:bodyPr wrap="none" lIns="190500" tIns="0" rIns="0" bIns="0" anchor="t">
                <a:spAutoFit/>
              </a:bodyPr>
              <a:lstStyle/>
              <a:p>
                <a:pPr algn="ctr"/>
                <a:r>
                  <a:rPr lang="en-US" altLang="zh-TW" sz="1125" b="1" dirty="0">
                    <a:solidFill>
                      <a:srgbClr val="1F7244"/>
                    </a:solidFill>
                    <a:latin typeface="微軟正黑體" panose="020B0604030504040204" pitchFamily="34" charset="-120"/>
                  </a:rPr>
                  <a:t>Phase9_</a:t>
                </a:r>
                <a:r>
                  <a:rPr lang="zh-TW" altLang="en-US" sz="1125" b="1" dirty="0">
                    <a:solidFill>
                      <a:srgbClr val="1F7244"/>
                    </a:solidFill>
                    <a:latin typeface="微軟正黑體" panose="020B0604030504040204" pitchFamily="34" charset="-120"/>
                  </a:rPr>
                  <a:t>通道與</a:t>
                </a:r>
                <a:r>
                  <a:rPr lang="en-US" altLang="zh-TW" sz="1125" b="1" dirty="0" err="1">
                    <a:solidFill>
                      <a:srgbClr val="1F7244"/>
                    </a:solidFill>
                    <a:latin typeface="微軟正黑體" panose="020B0604030504040204" pitchFamily="34" charset="-120"/>
                  </a:rPr>
                  <a:t>denoise</a:t>
                </a:r>
                <a:r>
                  <a:rPr lang="zh-TW" altLang="en-US" sz="1125" b="1" dirty="0">
                    <a:solidFill>
                      <a:srgbClr val="1F7244"/>
                    </a:solidFill>
                    <a:latin typeface="微軟正黑體" panose="020B0604030504040204" pitchFamily="34" charset="-120"/>
                  </a:rPr>
                  <a:t>最終決策分析</a:t>
                </a:r>
                <a:r>
                  <a:rPr lang="en-US" altLang="zh-TW" sz="1125" b="1" dirty="0">
                    <a:solidFill>
                      <a:srgbClr val="1F7244"/>
                    </a:solidFill>
                    <a:latin typeface="微軟正黑體" panose="020B0604030504040204" pitchFamily="34" charset="-120"/>
                  </a:rPr>
                  <a:t>_</a:t>
                </a:r>
                <a:r>
                  <a:rPr lang="zh-TW" altLang="en-US" sz="1125" b="1" dirty="0">
                    <a:solidFill>
                      <a:srgbClr val="1F7244"/>
                    </a:solidFill>
                    <a:latin typeface="微軟正黑體" panose="020B0604030504040204" pitchFamily="34" charset="-120"/>
                  </a:rPr>
                  <a:t>複核版</a:t>
                </a:r>
                <a:r>
                  <a:rPr lang="en-US" altLang="zh-TW" sz="1125" b="1" dirty="0">
                    <a:solidFill>
                      <a:srgbClr val="1F7244"/>
                    </a:solidFill>
                    <a:latin typeface="微軟正黑體" panose="020B0604030504040204" pitchFamily="34" charset="-120"/>
                  </a:rPr>
                  <a:t>.</a:t>
                </a:r>
                <a:r>
                  <a:rPr lang="en-US" altLang="zh-TW" sz="1125" b="1" dirty="0" err="1">
                    <a:solidFill>
                      <a:srgbClr val="1F7244"/>
                    </a:solidFill>
                    <a:latin typeface="微軟正黑體" panose="020B0604030504040204" pitchFamily="34" charset="-120"/>
                  </a:rPr>
                  <a:t>xlsx</a:t>
                </a:r>
                <a:endParaRPr sz="1125" b="1" dirty="0">
                  <a:solidFill>
                    <a:srgbClr val="1F7244"/>
                  </a:solidFill>
                  <a:latin typeface="微軟正黑體" panose="020B0604030504040204" pitchFamily="34" charset="-120"/>
                </a:endParaRPr>
              </a:p>
            </p:txBody>
          </p:sp>
          <p:pic>
            <p:nvPicPr>
              <p:cNvPr id="18"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33330" y="4908352"/>
                <a:ext cx="243370" cy="243370"/>
              </a:xfrm>
              <a:prstGeom prst="rect">
                <a:avLst/>
              </a:prstGeom>
            </p:spPr>
          </p:pic>
        </p:gr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9" name="表格 18"/>
          <p:cNvGraphicFramePr>
            <a:graphicFrameLocks noGrp="1"/>
          </p:cNvGraphicFramePr>
          <p:nvPr>
            <p:extLst>
              <p:ext uri="{D42A27DB-BD31-4B8C-83A1-F6EECF244321}">
                <p14:modId xmlns:p14="http://schemas.microsoft.com/office/powerpoint/2010/main" val="4060681206"/>
              </p:ext>
            </p:extLst>
          </p:nvPr>
        </p:nvGraphicFramePr>
        <p:xfrm>
          <a:off x="-1" y="11105"/>
          <a:ext cx="6680199" cy="4833944"/>
        </p:xfrm>
        <a:graphic>
          <a:graphicData uri="http://schemas.openxmlformats.org/drawingml/2006/table">
            <a:tbl>
              <a:tblPr firstRow="1">
                <a:tableStyleId>{5C22544A-7EE6-4342-B048-85BDC9FD1C3A}</a:tableStyleId>
              </a:tblPr>
              <a:tblGrid>
                <a:gridCol w="1530351">
                  <a:extLst>
                    <a:ext uri="{9D8B030D-6E8A-4147-A177-3AD203B41FA5}">
                      <a16:colId xmlns:a16="http://schemas.microsoft.com/office/drawing/2014/main" val="2166509628"/>
                    </a:ext>
                  </a:extLst>
                </a:gridCol>
                <a:gridCol w="1185333">
                  <a:extLst>
                    <a:ext uri="{9D8B030D-6E8A-4147-A177-3AD203B41FA5}">
                      <a16:colId xmlns:a16="http://schemas.microsoft.com/office/drawing/2014/main" val="1303799519"/>
                    </a:ext>
                  </a:extLst>
                </a:gridCol>
                <a:gridCol w="1185333">
                  <a:extLst>
                    <a:ext uri="{9D8B030D-6E8A-4147-A177-3AD203B41FA5}">
                      <a16:colId xmlns:a16="http://schemas.microsoft.com/office/drawing/2014/main" val="3171975862"/>
                    </a:ext>
                  </a:extLst>
                </a:gridCol>
                <a:gridCol w="1185333">
                  <a:extLst>
                    <a:ext uri="{9D8B030D-6E8A-4147-A177-3AD203B41FA5}">
                      <a16:colId xmlns:a16="http://schemas.microsoft.com/office/drawing/2014/main" val="1081671216"/>
                    </a:ext>
                  </a:extLst>
                </a:gridCol>
                <a:gridCol w="1593849">
                  <a:extLst>
                    <a:ext uri="{9D8B030D-6E8A-4147-A177-3AD203B41FA5}">
                      <a16:colId xmlns:a16="http://schemas.microsoft.com/office/drawing/2014/main" val="3881706516"/>
                    </a:ext>
                  </a:extLst>
                </a:gridCol>
              </a:tblGrid>
              <a:tr h="604243">
                <a:tc>
                  <a:txBody>
                    <a:bodyPr/>
                    <a:lstStyle/>
                    <a:p>
                      <a:pPr marL="0" algn="ctr" defTabSz="457200" rtl="0" eaLnBrk="1" fontAlgn="b" latinLnBrk="0" hangingPunct="1"/>
                      <a:endParaRPr lang="zh-TW" altLang="en-US" sz="1100" u="none" strike="noStrike" kern="1200" dirty="0">
                        <a:solidFill>
                          <a:schemeClr val="dk1"/>
                        </a:solidFill>
                        <a:effectLst/>
                        <a:latin typeface="+mn-lt"/>
                        <a:ea typeface="+mn-ea"/>
                        <a:cs typeface="+mn-cs"/>
                      </a:endParaRPr>
                    </a:p>
                  </a:txBody>
                  <a:tcPr marL="0" marR="0" marT="0" marB="0" anchor="ctr"/>
                </a:tc>
                <a:tc>
                  <a:txBody>
                    <a:bodyPr/>
                    <a:lstStyle/>
                    <a:p>
                      <a:pPr marL="0" algn="ctr" defTabSz="457200" rtl="0" eaLnBrk="1" fontAlgn="b" latinLnBrk="0" hangingPunct="1"/>
                      <a:r>
                        <a:rPr lang="en-US" sz="1100" u="none" strike="noStrike" kern="1200" dirty="0" err="1">
                          <a:solidFill>
                            <a:schemeClr val="dk1"/>
                          </a:solidFill>
                          <a:effectLst/>
                          <a:latin typeface="+mn-lt"/>
                          <a:ea typeface="+mn-ea"/>
                          <a:cs typeface="+mn-cs"/>
                        </a:rPr>
                        <a:t>denoise_on</a:t>
                      </a:r>
                      <a:endParaRPr lang="en-US" sz="1100" u="none" strike="noStrike" kern="1200" dirty="0">
                        <a:solidFill>
                          <a:schemeClr val="dk1"/>
                        </a:solidFill>
                        <a:effectLst/>
                        <a:latin typeface="+mn-lt"/>
                        <a:ea typeface="+mn-ea"/>
                        <a:cs typeface="+mn-cs"/>
                      </a:endParaRPr>
                    </a:p>
                  </a:txBody>
                  <a:tcPr marL="0" marR="0" marT="0" marB="0" anchor="ctr"/>
                </a:tc>
                <a:tc>
                  <a:txBody>
                    <a:bodyPr/>
                    <a:lstStyle/>
                    <a:p>
                      <a:pPr marL="0" algn="ctr" defTabSz="457200" rtl="0" eaLnBrk="1" fontAlgn="b" latinLnBrk="0" hangingPunct="1"/>
                      <a:r>
                        <a:rPr lang="en-US" sz="1100" u="none" strike="noStrike" kern="1200" dirty="0" err="1">
                          <a:solidFill>
                            <a:schemeClr val="dk1"/>
                          </a:solidFill>
                          <a:effectLst/>
                          <a:latin typeface="+mn-lt"/>
                          <a:ea typeface="+mn-ea"/>
                          <a:cs typeface="+mn-cs"/>
                        </a:rPr>
                        <a:t>denoise_off</a:t>
                      </a:r>
                      <a:endParaRPr lang="en-US" sz="1100" u="none" strike="noStrike" kern="1200" dirty="0">
                        <a:solidFill>
                          <a:schemeClr val="dk1"/>
                        </a:solidFill>
                        <a:effectLst/>
                        <a:latin typeface="+mn-lt"/>
                        <a:ea typeface="+mn-ea"/>
                        <a:cs typeface="+mn-cs"/>
                      </a:endParaRPr>
                    </a:p>
                  </a:txBody>
                  <a:tcPr marL="0" marR="0" marT="0" marB="0" anchor="ctr"/>
                </a:tc>
                <a:tc>
                  <a:txBody>
                    <a:bodyPr/>
                    <a:lstStyle/>
                    <a:p>
                      <a:pPr marL="0" algn="ctr" defTabSz="457200" rtl="0" eaLnBrk="1" fontAlgn="b" latinLnBrk="0" hangingPunct="1"/>
                      <a:r>
                        <a:rPr lang="zh-TW" altLang="en-US" sz="1100" u="none" strike="noStrike" kern="1200" dirty="0">
                          <a:solidFill>
                            <a:schemeClr val="dk1"/>
                          </a:solidFill>
                          <a:effectLst/>
                          <a:latin typeface="+mn-lt"/>
                          <a:ea typeface="+mn-ea"/>
                          <a:cs typeface="+mn-cs"/>
                        </a:rPr>
                        <a:t>差異</a:t>
                      </a:r>
                    </a:p>
                  </a:txBody>
                  <a:tcPr marL="0" marR="0" marT="0" marB="0" anchor="ctr"/>
                </a:tc>
                <a:tc>
                  <a:txBody>
                    <a:bodyPr/>
                    <a:lstStyle/>
                    <a:p>
                      <a:pPr marL="0" algn="ctr" defTabSz="457200" rtl="0" eaLnBrk="1" fontAlgn="b" latinLnBrk="0" hangingPunct="1"/>
                      <a:r>
                        <a:rPr lang="zh-TW" altLang="en-US" sz="1100" u="none" strike="noStrike" kern="1200" dirty="0">
                          <a:solidFill>
                            <a:schemeClr val="dk1"/>
                          </a:solidFill>
                          <a:effectLst/>
                          <a:latin typeface="+mn-lt"/>
                          <a:ea typeface="+mn-ea"/>
                          <a:cs typeface="+mn-cs"/>
                        </a:rPr>
                        <a:t>說明</a:t>
                      </a:r>
                    </a:p>
                  </a:txBody>
                  <a:tcPr marL="0" marR="0" marT="0" marB="0" anchor="ctr"/>
                </a:tc>
                <a:extLst>
                  <a:ext uri="{0D108BD9-81ED-4DB2-BD59-A6C34878D82A}">
                    <a16:rowId xmlns:a16="http://schemas.microsoft.com/office/drawing/2014/main" val="3525900178"/>
                  </a:ext>
                </a:extLst>
              </a:tr>
              <a:tr h="604243">
                <a:tc>
                  <a:txBody>
                    <a:bodyPr/>
                    <a:lstStyle/>
                    <a:p>
                      <a:pPr marL="0" algn="ctr" defTabSz="457200" rtl="0" eaLnBrk="1" fontAlgn="b" latinLnBrk="0" hangingPunct="1"/>
                      <a:r>
                        <a:rPr lang="zh-TW" altLang="en-US" sz="1100" u="none" strike="noStrike" kern="1200" dirty="0">
                          <a:solidFill>
                            <a:schemeClr val="dk1"/>
                          </a:solidFill>
                          <a:effectLst/>
                          <a:latin typeface="+mn-lt"/>
                          <a:ea typeface="+mn-ea"/>
                          <a:cs typeface="+mn-cs"/>
                        </a:rPr>
                        <a:t>偵測數量</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3326</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3347</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0.6%</a:t>
                      </a:r>
                    </a:p>
                  </a:txBody>
                  <a:tcPr marL="0" marR="0" marT="0" marB="0" anchor="ctr"/>
                </a:tc>
                <a:tc>
                  <a:txBody>
                    <a:bodyPr/>
                    <a:lstStyle/>
                    <a:p>
                      <a:pPr marL="0" algn="ctr" defTabSz="457200" rtl="0" eaLnBrk="1" fontAlgn="b" latinLnBrk="0" hangingPunct="1"/>
                      <a:r>
                        <a:rPr lang="en-US" sz="1100" u="none" strike="noStrike" kern="1200" dirty="0">
                          <a:solidFill>
                            <a:schemeClr val="dk1"/>
                          </a:solidFill>
                          <a:effectLst/>
                          <a:latin typeface="+mn-lt"/>
                          <a:ea typeface="+mn-ea"/>
                          <a:cs typeface="+mn-cs"/>
                        </a:rPr>
                        <a:t>off </a:t>
                      </a:r>
                      <a:r>
                        <a:rPr lang="zh-TW" altLang="en-US" sz="1100" u="none" strike="noStrike" kern="1200" dirty="0">
                          <a:solidFill>
                            <a:schemeClr val="dk1"/>
                          </a:solidFill>
                          <a:effectLst/>
                          <a:latin typeface="+mn-lt"/>
                          <a:ea typeface="+mn-ea"/>
                          <a:cs typeface="+mn-cs"/>
                        </a:rPr>
                        <a:t>多偵測到 </a:t>
                      </a:r>
                      <a:r>
                        <a:rPr lang="en-US" altLang="zh-TW" sz="1100" u="none" strike="noStrike" kern="1200" dirty="0">
                          <a:solidFill>
                            <a:schemeClr val="dk1"/>
                          </a:solidFill>
                          <a:effectLst/>
                          <a:latin typeface="+mn-lt"/>
                          <a:ea typeface="+mn-ea"/>
                          <a:cs typeface="+mn-cs"/>
                        </a:rPr>
                        <a:t>0.6%</a:t>
                      </a:r>
                    </a:p>
                  </a:txBody>
                  <a:tcPr marL="0" marR="0" marT="0" marB="0" anchor="ctr"/>
                </a:tc>
                <a:extLst>
                  <a:ext uri="{0D108BD9-81ED-4DB2-BD59-A6C34878D82A}">
                    <a16:rowId xmlns:a16="http://schemas.microsoft.com/office/drawing/2014/main" val="3893241324"/>
                  </a:ext>
                </a:extLst>
              </a:tr>
              <a:tr h="604243">
                <a:tc>
                  <a:txBody>
                    <a:bodyPr/>
                    <a:lstStyle/>
                    <a:p>
                      <a:pPr marL="0" algn="ctr" defTabSz="457200" rtl="0" eaLnBrk="1" fontAlgn="b" latinLnBrk="0" hangingPunct="1"/>
                      <a:r>
                        <a:rPr lang="zh-TW" altLang="en-US" sz="1100" u="none" strike="noStrike" kern="1200" dirty="0">
                          <a:solidFill>
                            <a:schemeClr val="dk1"/>
                          </a:solidFill>
                          <a:effectLst/>
                          <a:latin typeface="+mn-lt"/>
                          <a:ea typeface="+mn-ea"/>
                          <a:cs typeface="+mn-cs"/>
                        </a:rPr>
                        <a:t>平均信心分數</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0.87</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0.853</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2.0%</a:t>
                      </a:r>
                    </a:p>
                  </a:txBody>
                  <a:tcPr marL="0" marR="0" marT="0" marB="0" anchor="ctr"/>
                </a:tc>
                <a:tc>
                  <a:txBody>
                    <a:bodyPr/>
                    <a:lstStyle/>
                    <a:p>
                      <a:pPr marL="0" algn="ctr" defTabSz="457200" rtl="0" eaLnBrk="1" fontAlgn="b" latinLnBrk="0" hangingPunct="1"/>
                      <a:r>
                        <a:rPr lang="en-US" sz="1100" u="none" strike="noStrike" kern="1200" dirty="0">
                          <a:solidFill>
                            <a:schemeClr val="dk1"/>
                          </a:solidFill>
                          <a:effectLst/>
                          <a:latin typeface="+mn-lt"/>
                          <a:ea typeface="+mn-ea"/>
                          <a:cs typeface="+mn-cs"/>
                        </a:rPr>
                        <a:t>on </a:t>
                      </a:r>
                      <a:r>
                        <a:rPr lang="zh-TW" altLang="en-US" sz="1100" u="none" strike="noStrike" kern="1200" dirty="0">
                          <a:solidFill>
                            <a:schemeClr val="dk1"/>
                          </a:solidFill>
                          <a:effectLst/>
                          <a:latin typeface="+mn-lt"/>
                          <a:ea typeface="+mn-ea"/>
                          <a:cs typeface="+mn-cs"/>
                        </a:rPr>
                        <a:t>只比 </a:t>
                      </a:r>
                      <a:r>
                        <a:rPr lang="en-US" sz="1100" u="none" strike="noStrike" kern="1200" dirty="0">
                          <a:solidFill>
                            <a:schemeClr val="dk1"/>
                          </a:solidFill>
                          <a:effectLst/>
                          <a:latin typeface="+mn-lt"/>
                          <a:ea typeface="+mn-ea"/>
                          <a:cs typeface="+mn-cs"/>
                        </a:rPr>
                        <a:t>off </a:t>
                      </a:r>
                      <a:r>
                        <a:rPr lang="zh-TW" altLang="en-US" sz="1100" u="none" strike="noStrike" kern="1200" dirty="0">
                          <a:solidFill>
                            <a:schemeClr val="dk1"/>
                          </a:solidFill>
                          <a:effectLst/>
                          <a:latin typeface="+mn-lt"/>
                          <a:ea typeface="+mn-ea"/>
                          <a:cs typeface="+mn-cs"/>
                        </a:rPr>
                        <a:t>高 </a:t>
                      </a:r>
                      <a:r>
                        <a:rPr lang="en-US" altLang="zh-TW" sz="1100" u="none" strike="noStrike" kern="1200" dirty="0">
                          <a:solidFill>
                            <a:schemeClr val="dk1"/>
                          </a:solidFill>
                          <a:effectLst/>
                          <a:latin typeface="+mn-lt"/>
                          <a:ea typeface="+mn-ea"/>
                          <a:cs typeface="+mn-cs"/>
                        </a:rPr>
                        <a:t>2.0</a:t>
                      </a:r>
                      <a:r>
                        <a:rPr lang="en-US" altLang="zh-TW" sz="1100" u="none" strike="noStrike" kern="1200" dirty="0" smtClean="0">
                          <a:solidFill>
                            <a:schemeClr val="dk1"/>
                          </a:solidFill>
                          <a:effectLst/>
                          <a:latin typeface="+mn-lt"/>
                          <a:ea typeface="+mn-ea"/>
                          <a:cs typeface="+mn-cs"/>
                        </a:rPr>
                        <a:t>%</a:t>
                      </a:r>
                      <a:endParaRPr lang="zh-TW" altLang="en-US" sz="1100" u="none" strike="noStrike" kern="1200" dirty="0">
                        <a:solidFill>
                          <a:schemeClr val="dk1"/>
                        </a:solidFill>
                        <a:effectLst/>
                        <a:latin typeface="+mn-lt"/>
                        <a:ea typeface="+mn-ea"/>
                        <a:cs typeface="+mn-cs"/>
                      </a:endParaRPr>
                    </a:p>
                  </a:txBody>
                  <a:tcPr marL="0" marR="0" marT="0" marB="0" anchor="ctr"/>
                </a:tc>
                <a:extLst>
                  <a:ext uri="{0D108BD9-81ED-4DB2-BD59-A6C34878D82A}">
                    <a16:rowId xmlns:a16="http://schemas.microsoft.com/office/drawing/2014/main" val="401707891"/>
                  </a:ext>
                </a:extLst>
              </a:tr>
              <a:tr h="604243">
                <a:tc>
                  <a:txBody>
                    <a:bodyPr/>
                    <a:lstStyle/>
                    <a:p>
                      <a:pPr marL="0" algn="ctr" defTabSz="457200" rtl="0" eaLnBrk="1" fontAlgn="b" latinLnBrk="0" hangingPunct="1"/>
                      <a:r>
                        <a:rPr lang="zh-TW" altLang="en-US" sz="1100" u="none" strike="noStrike" kern="1200" dirty="0">
                          <a:solidFill>
                            <a:schemeClr val="dk1"/>
                          </a:solidFill>
                          <a:effectLst/>
                          <a:latin typeface="+mn-lt"/>
                          <a:ea typeface="+mn-ea"/>
                          <a:cs typeface="+mn-cs"/>
                        </a:rPr>
                        <a:t>低信心</a:t>
                      </a:r>
                      <a:r>
                        <a:rPr lang="en-US" altLang="zh-TW" sz="1100" u="none" strike="noStrike" kern="1200" dirty="0">
                          <a:solidFill>
                            <a:schemeClr val="dk1"/>
                          </a:solidFill>
                          <a:effectLst/>
                          <a:latin typeface="+mn-lt"/>
                          <a:ea typeface="+mn-ea"/>
                          <a:cs typeface="+mn-cs"/>
                        </a:rPr>
                        <a:t>(&lt;0.5)</a:t>
                      </a:r>
                      <a:r>
                        <a:rPr lang="zh-TW" altLang="en-US" sz="1100" u="none" strike="noStrike" kern="1200" dirty="0">
                          <a:solidFill>
                            <a:schemeClr val="dk1"/>
                          </a:solidFill>
                          <a:effectLst/>
                          <a:latin typeface="+mn-lt"/>
                          <a:ea typeface="+mn-ea"/>
                          <a:cs typeface="+mn-cs"/>
                        </a:rPr>
                        <a:t>比例</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0.0857</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0.0813</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0.00</a:t>
                      </a:r>
                    </a:p>
                  </a:txBody>
                  <a:tcPr marL="0" marR="0" marT="0" marB="0" anchor="ctr"/>
                </a:tc>
                <a:tc>
                  <a:txBody>
                    <a:bodyPr/>
                    <a:lstStyle/>
                    <a:p>
                      <a:pPr marL="0" algn="ctr" defTabSz="457200" rtl="0" eaLnBrk="1" fontAlgn="b" latinLnBrk="0" hangingPunct="1"/>
                      <a:r>
                        <a:rPr lang="en-US" sz="1100" u="none" strike="noStrike" kern="1200" dirty="0">
                          <a:solidFill>
                            <a:schemeClr val="dk1"/>
                          </a:solidFill>
                          <a:effectLst/>
                          <a:latin typeface="+mn-lt"/>
                          <a:ea typeface="+mn-ea"/>
                          <a:cs typeface="+mn-cs"/>
                        </a:rPr>
                        <a:t>off </a:t>
                      </a:r>
                      <a:r>
                        <a:rPr lang="en-US" sz="1100" u="none" strike="noStrike" kern="1200" dirty="0" err="1">
                          <a:solidFill>
                            <a:schemeClr val="dk1"/>
                          </a:solidFill>
                          <a:effectLst/>
                          <a:latin typeface="+mn-lt"/>
                          <a:ea typeface="+mn-ea"/>
                          <a:cs typeface="+mn-cs"/>
                        </a:rPr>
                        <a:t>反而略低（更好</a:t>
                      </a:r>
                      <a:r>
                        <a:rPr lang="en-US" sz="1100" u="none" strike="noStrike" kern="1200" dirty="0">
                          <a:solidFill>
                            <a:schemeClr val="dk1"/>
                          </a:solidFill>
                          <a:effectLst/>
                          <a:latin typeface="+mn-lt"/>
                          <a:ea typeface="+mn-ea"/>
                          <a:cs typeface="+mn-cs"/>
                        </a:rPr>
                        <a:t>）</a:t>
                      </a:r>
                    </a:p>
                  </a:txBody>
                  <a:tcPr marL="0" marR="0" marT="0" marB="0" anchor="ctr"/>
                </a:tc>
                <a:extLst>
                  <a:ext uri="{0D108BD9-81ED-4DB2-BD59-A6C34878D82A}">
                    <a16:rowId xmlns:a16="http://schemas.microsoft.com/office/drawing/2014/main" val="2641801041"/>
                  </a:ext>
                </a:extLst>
              </a:tr>
              <a:tr h="604243">
                <a:tc>
                  <a:txBody>
                    <a:bodyPr/>
                    <a:lstStyle/>
                    <a:p>
                      <a:pPr marL="0" algn="ctr" defTabSz="457200" rtl="0" eaLnBrk="1" fontAlgn="b" latinLnBrk="0" hangingPunct="1"/>
                      <a:r>
                        <a:rPr lang="en-US" sz="1100" u="none" strike="noStrike" kern="1200" dirty="0">
                          <a:solidFill>
                            <a:schemeClr val="dk1"/>
                          </a:solidFill>
                          <a:effectLst/>
                          <a:latin typeface="+mn-lt"/>
                          <a:ea typeface="+mn-ea"/>
                          <a:cs typeface="+mn-cs"/>
                        </a:rPr>
                        <a:t>Phase1 </a:t>
                      </a:r>
                      <a:r>
                        <a:rPr lang="zh-TW" altLang="en-US" sz="1100" u="none" strike="noStrike" kern="1200" dirty="0">
                          <a:solidFill>
                            <a:schemeClr val="dk1"/>
                          </a:solidFill>
                          <a:effectLst/>
                          <a:latin typeface="+mn-lt"/>
                          <a:ea typeface="+mn-ea"/>
                          <a:cs typeface="+mn-cs"/>
                        </a:rPr>
                        <a:t>擷取</a:t>
                      </a:r>
                      <a:r>
                        <a:rPr lang="en-US" altLang="zh-TW" sz="1100" u="none" strike="noStrike" kern="1200" dirty="0">
                          <a:solidFill>
                            <a:schemeClr val="dk1"/>
                          </a:solidFill>
                          <a:effectLst/>
                          <a:latin typeface="+mn-lt"/>
                          <a:ea typeface="+mn-ea"/>
                          <a:cs typeface="+mn-cs"/>
                        </a:rPr>
                        <a:t>(</a:t>
                      </a:r>
                      <a:r>
                        <a:rPr lang="zh-TW" altLang="en-US" sz="1100" u="none" strike="noStrike" kern="1200" dirty="0" smtClean="0">
                          <a:solidFill>
                            <a:schemeClr val="dk1"/>
                          </a:solidFill>
                          <a:effectLst/>
                          <a:latin typeface="+mn-lt"/>
                          <a:ea typeface="+mn-ea"/>
                          <a:cs typeface="+mn-cs"/>
                        </a:rPr>
                        <a:t>秒</a:t>
                      </a:r>
                      <a:r>
                        <a:rPr lang="en-US" altLang="zh-TW" sz="1100" u="none" strike="noStrike" kern="1200" dirty="0" smtClean="0">
                          <a:solidFill>
                            <a:schemeClr val="dk1"/>
                          </a:solidFill>
                          <a:effectLst/>
                          <a:latin typeface="+mn-lt"/>
                          <a:ea typeface="+mn-ea"/>
                          <a:cs typeface="+mn-cs"/>
                        </a:rPr>
                        <a:t>)</a:t>
                      </a:r>
                      <a:endParaRPr lang="en-US" altLang="zh-TW" sz="1100" u="none" strike="noStrike" kern="1200" dirty="0">
                        <a:solidFill>
                          <a:schemeClr val="dk1"/>
                        </a:solidFill>
                        <a:effectLst/>
                        <a:latin typeface="+mn-lt"/>
                        <a:ea typeface="+mn-ea"/>
                        <a:cs typeface="+mn-cs"/>
                      </a:endParaRPr>
                    </a:p>
                  </a:txBody>
                  <a:tcPr marL="0" marR="0" marT="0" marB="0" anchor="ctr">
                    <a:solidFill>
                      <a:schemeClr val="accent1">
                        <a:lumMod val="40000"/>
                        <a:lumOff val="60000"/>
                      </a:schemeClr>
                    </a:solidFill>
                  </a:tcP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27.85</a:t>
                      </a:r>
                    </a:p>
                  </a:txBody>
                  <a:tcPr marL="0" marR="0" marT="0" marB="0" anchor="ctr">
                    <a:solidFill>
                      <a:schemeClr val="accent1">
                        <a:lumMod val="40000"/>
                        <a:lumOff val="60000"/>
                      </a:schemeClr>
                    </a:solidFill>
                  </a:tcP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27.85</a:t>
                      </a:r>
                    </a:p>
                  </a:txBody>
                  <a:tcPr marL="0" marR="0" marT="0" marB="0" anchor="ctr">
                    <a:solidFill>
                      <a:schemeClr val="accent1">
                        <a:lumMod val="40000"/>
                        <a:lumOff val="60000"/>
                      </a:schemeClr>
                    </a:solidFill>
                  </a:tcP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0.00</a:t>
                      </a:r>
                    </a:p>
                  </a:txBody>
                  <a:tcPr marL="0" marR="0" marT="0" marB="0" anchor="ctr">
                    <a:solidFill>
                      <a:schemeClr val="accent1">
                        <a:lumMod val="40000"/>
                        <a:lumOff val="60000"/>
                      </a:schemeClr>
                    </a:solidFill>
                  </a:tcPr>
                </a:tc>
                <a:tc>
                  <a:txBody>
                    <a:bodyPr/>
                    <a:lstStyle/>
                    <a:p>
                      <a:pPr marL="0" algn="ctr" defTabSz="457200" rtl="0" eaLnBrk="1" fontAlgn="b" latinLnBrk="0" hangingPunct="1"/>
                      <a:r>
                        <a:rPr lang="zh-TW" altLang="en-US" sz="1100" u="none" strike="noStrike" kern="1200" dirty="0">
                          <a:solidFill>
                            <a:schemeClr val="dk1"/>
                          </a:solidFill>
                          <a:effectLst/>
                          <a:latin typeface="+mn-lt"/>
                          <a:ea typeface="+mn-ea"/>
                          <a:cs typeface="+mn-cs"/>
                        </a:rPr>
                        <a:t>兩版本共用，無差異</a:t>
                      </a:r>
                    </a:p>
                  </a:txBody>
                  <a:tcPr marL="0" marR="0" marT="0" marB="0" anchor="ctr">
                    <a:solidFill>
                      <a:schemeClr val="accent1">
                        <a:lumMod val="40000"/>
                        <a:lumOff val="60000"/>
                      </a:schemeClr>
                    </a:solidFill>
                  </a:tcPr>
                </a:tc>
                <a:extLst>
                  <a:ext uri="{0D108BD9-81ED-4DB2-BD59-A6C34878D82A}">
                    <a16:rowId xmlns:a16="http://schemas.microsoft.com/office/drawing/2014/main" val="144054119"/>
                  </a:ext>
                </a:extLst>
              </a:tr>
              <a:tr h="604243">
                <a:tc>
                  <a:txBody>
                    <a:bodyPr/>
                    <a:lstStyle/>
                    <a:p>
                      <a:pPr marL="0" algn="ctr" defTabSz="457200" rtl="0" eaLnBrk="1" fontAlgn="b" latinLnBrk="0" hangingPunct="1"/>
                      <a:r>
                        <a:rPr lang="en-US" sz="1100" u="none" strike="noStrike" kern="1200" dirty="0">
                          <a:solidFill>
                            <a:schemeClr val="dk1"/>
                          </a:solidFill>
                          <a:effectLst/>
                          <a:latin typeface="+mn-lt"/>
                          <a:ea typeface="+mn-ea"/>
                          <a:cs typeface="+mn-cs"/>
                        </a:rPr>
                        <a:t>Phase2 </a:t>
                      </a:r>
                      <a:r>
                        <a:rPr lang="zh-TW" altLang="en-US" sz="1100" u="none" strike="noStrike" kern="1200" dirty="0">
                          <a:solidFill>
                            <a:schemeClr val="dk1"/>
                          </a:solidFill>
                          <a:effectLst/>
                          <a:latin typeface="+mn-lt"/>
                          <a:ea typeface="+mn-ea"/>
                          <a:cs typeface="+mn-cs"/>
                        </a:rPr>
                        <a:t>前處理</a:t>
                      </a:r>
                      <a:r>
                        <a:rPr lang="en-US" altLang="zh-TW" sz="1100" u="none" strike="noStrike" kern="1200" dirty="0">
                          <a:solidFill>
                            <a:schemeClr val="dk1"/>
                          </a:solidFill>
                          <a:effectLst/>
                          <a:latin typeface="+mn-lt"/>
                          <a:ea typeface="+mn-ea"/>
                          <a:cs typeface="+mn-cs"/>
                        </a:rPr>
                        <a:t>(</a:t>
                      </a:r>
                      <a:r>
                        <a:rPr lang="zh-TW" altLang="en-US" sz="1100" u="none" strike="noStrike" kern="1200" dirty="0">
                          <a:solidFill>
                            <a:schemeClr val="dk1"/>
                          </a:solidFill>
                          <a:effectLst/>
                          <a:latin typeface="+mn-lt"/>
                          <a:ea typeface="+mn-ea"/>
                          <a:cs typeface="+mn-cs"/>
                        </a:rPr>
                        <a:t>秒</a:t>
                      </a:r>
                      <a:r>
                        <a:rPr lang="en-US" altLang="zh-TW" sz="1100" u="none" strike="noStrike" kern="1200" dirty="0">
                          <a:solidFill>
                            <a:schemeClr val="dk1"/>
                          </a:solidFill>
                          <a:effectLst/>
                          <a:latin typeface="+mn-lt"/>
                          <a:ea typeface="+mn-ea"/>
                          <a:cs typeface="+mn-cs"/>
                        </a:rPr>
                        <a:t>)</a:t>
                      </a:r>
                    </a:p>
                  </a:txBody>
                  <a:tcPr marL="0" marR="0" marT="0" marB="0" anchor="ctr">
                    <a:solidFill>
                      <a:schemeClr val="accent1">
                        <a:lumMod val="40000"/>
                        <a:lumOff val="60000"/>
                      </a:schemeClr>
                    </a:solidFill>
                  </a:tcP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122.82</a:t>
                      </a:r>
                    </a:p>
                  </a:txBody>
                  <a:tcPr marL="0" marR="0" marT="0" marB="0" anchor="ctr">
                    <a:solidFill>
                      <a:schemeClr val="accent1">
                        <a:lumMod val="40000"/>
                        <a:lumOff val="60000"/>
                      </a:schemeClr>
                    </a:solidFill>
                  </a:tcP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11.85</a:t>
                      </a:r>
                    </a:p>
                  </a:txBody>
                  <a:tcPr marL="0" marR="0" marT="0" marB="0" anchor="ctr">
                    <a:solidFill>
                      <a:schemeClr val="accent1">
                        <a:lumMod val="40000"/>
                        <a:lumOff val="60000"/>
                      </a:schemeClr>
                    </a:solidFill>
                  </a:tcPr>
                </a:tc>
                <a:tc>
                  <a:txBody>
                    <a:bodyPr/>
                    <a:lstStyle/>
                    <a:p>
                      <a:pPr marL="0" algn="ctr" defTabSz="457200" rtl="0" eaLnBrk="1" fontAlgn="b" latinLnBrk="0" hangingPunct="1"/>
                      <a:r>
                        <a:rPr lang="en-US" sz="1100" u="none" strike="noStrike" kern="1200" dirty="0">
                          <a:solidFill>
                            <a:schemeClr val="dk1"/>
                          </a:solidFill>
                          <a:effectLst/>
                          <a:latin typeface="+mn-lt"/>
                          <a:ea typeface="+mn-ea"/>
                          <a:cs typeface="+mn-cs"/>
                        </a:rPr>
                        <a:t>10.36x</a:t>
                      </a:r>
                    </a:p>
                  </a:txBody>
                  <a:tcPr marL="0" marR="0" marT="0" marB="0" anchor="ctr">
                    <a:solidFill>
                      <a:schemeClr val="accent1">
                        <a:lumMod val="40000"/>
                        <a:lumOff val="60000"/>
                      </a:schemeClr>
                    </a:solidFill>
                  </a:tcPr>
                </a:tc>
                <a:tc>
                  <a:txBody>
                    <a:bodyPr/>
                    <a:lstStyle/>
                    <a:p>
                      <a:pPr marL="0" algn="ctr" defTabSz="457200" rtl="0" eaLnBrk="1" fontAlgn="b" latinLnBrk="0" hangingPunct="1"/>
                      <a:r>
                        <a:rPr lang="en-US" sz="1100" u="none" strike="noStrike" kern="1200" dirty="0">
                          <a:solidFill>
                            <a:schemeClr val="dk1"/>
                          </a:solidFill>
                          <a:effectLst/>
                          <a:latin typeface="+mn-lt"/>
                          <a:ea typeface="+mn-ea"/>
                          <a:cs typeface="+mn-cs"/>
                        </a:rPr>
                        <a:t>on </a:t>
                      </a:r>
                      <a:r>
                        <a:rPr lang="zh-TW" altLang="en-US" sz="1100" u="none" strike="noStrike" kern="1200" dirty="0">
                          <a:solidFill>
                            <a:schemeClr val="dk1"/>
                          </a:solidFill>
                          <a:effectLst/>
                          <a:latin typeface="+mn-lt"/>
                          <a:ea typeface="+mn-ea"/>
                          <a:cs typeface="+mn-cs"/>
                        </a:rPr>
                        <a:t>是 </a:t>
                      </a:r>
                      <a:r>
                        <a:rPr lang="en-US" sz="1100" u="none" strike="noStrike" kern="1200" dirty="0">
                          <a:solidFill>
                            <a:schemeClr val="dk1"/>
                          </a:solidFill>
                          <a:effectLst/>
                          <a:latin typeface="+mn-lt"/>
                          <a:ea typeface="+mn-ea"/>
                          <a:cs typeface="+mn-cs"/>
                        </a:rPr>
                        <a:t>off </a:t>
                      </a:r>
                      <a:r>
                        <a:rPr lang="zh-TW" altLang="en-US" sz="1100" u="none" strike="noStrike" kern="1200" dirty="0">
                          <a:solidFill>
                            <a:schemeClr val="dk1"/>
                          </a:solidFill>
                          <a:effectLst/>
                          <a:latin typeface="+mn-lt"/>
                          <a:ea typeface="+mn-ea"/>
                          <a:cs typeface="+mn-cs"/>
                        </a:rPr>
                        <a:t>的倍數</a:t>
                      </a:r>
                    </a:p>
                  </a:txBody>
                  <a:tcPr marL="0" marR="0" marT="0" marB="0" anchor="ctr">
                    <a:solidFill>
                      <a:schemeClr val="accent1">
                        <a:lumMod val="40000"/>
                        <a:lumOff val="60000"/>
                      </a:schemeClr>
                    </a:solidFill>
                  </a:tcPr>
                </a:tc>
                <a:extLst>
                  <a:ext uri="{0D108BD9-81ED-4DB2-BD59-A6C34878D82A}">
                    <a16:rowId xmlns:a16="http://schemas.microsoft.com/office/drawing/2014/main" val="2902794391"/>
                  </a:ext>
                </a:extLst>
              </a:tr>
              <a:tr h="604243">
                <a:tc>
                  <a:txBody>
                    <a:bodyPr/>
                    <a:lstStyle/>
                    <a:p>
                      <a:pPr marL="0" algn="ctr" defTabSz="457200" rtl="0" eaLnBrk="1" fontAlgn="b" latinLnBrk="0" hangingPunct="1"/>
                      <a:r>
                        <a:rPr lang="en-US" sz="1100" u="none" strike="noStrike" kern="1200" dirty="0">
                          <a:solidFill>
                            <a:schemeClr val="dk1"/>
                          </a:solidFill>
                          <a:effectLst/>
                          <a:latin typeface="+mn-lt"/>
                          <a:ea typeface="+mn-ea"/>
                          <a:cs typeface="+mn-cs"/>
                        </a:rPr>
                        <a:t>Phase3 OCR(</a:t>
                      </a:r>
                      <a:r>
                        <a:rPr lang="zh-TW" altLang="en-US" sz="1100" u="none" strike="noStrike" kern="1200" dirty="0">
                          <a:solidFill>
                            <a:schemeClr val="dk1"/>
                          </a:solidFill>
                          <a:effectLst/>
                          <a:latin typeface="+mn-lt"/>
                          <a:ea typeface="+mn-ea"/>
                          <a:cs typeface="+mn-cs"/>
                        </a:rPr>
                        <a:t>秒</a:t>
                      </a:r>
                      <a:r>
                        <a:rPr lang="en-US" altLang="zh-TW" sz="1100" u="none" strike="noStrike" kern="1200" dirty="0">
                          <a:solidFill>
                            <a:schemeClr val="dk1"/>
                          </a:solidFill>
                          <a:effectLst/>
                          <a:latin typeface="+mn-lt"/>
                          <a:ea typeface="+mn-ea"/>
                          <a:cs typeface="+mn-cs"/>
                        </a:rPr>
                        <a:t>)</a:t>
                      </a:r>
                    </a:p>
                  </a:txBody>
                  <a:tcPr marL="0" marR="0" marT="0" marB="0" anchor="ctr">
                    <a:solidFill>
                      <a:schemeClr val="accent1">
                        <a:lumMod val="40000"/>
                        <a:lumOff val="60000"/>
                      </a:schemeClr>
                    </a:solidFill>
                  </a:tcP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206.83</a:t>
                      </a:r>
                    </a:p>
                  </a:txBody>
                  <a:tcPr marL="0" marR="0" marT="0" marB="0" anchor="ctr">
                    <a:solidFill>
                      <a:schemeClr val="accent1">
                        <a:lumMod val="40000"/>
                        <a:lumOff val="60000"/>
                      </a:schemeClr>
                    </a:solidFill>
                  </a:tcP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206.32</a:t>
                      </a:r>
                    </a:p>
                  </a:txBody>
                  <a:tcPr marL="0" marR="0" marT="0" marB="0" anchor="ctr">
                    <a:solidFill>
                      <a:schemeClr val="accent1">
                        <a:lumMod val="40000"/>
                        <a:lumOff val="60000"/>
                      </a:schemeClr>
                    </a:solidFill>
                  </a:tcP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0.2%</a:t>
                      </a:r>
                    </a:p>
                  </a:txBody>
                  <a:tcPr marL="0" marR="0" marT="0" marB="0" anchor="ctr">
                    <a:solidFill>
                      <a:schemeClr val="accent1">
                        <a:lumMod val="40000"/>
                        <a:lumOff val="60000"/>
                      </a:schemeClr>
                    </a:solidFill>
                  </a:tcPr>
                </a:tc>
                <a:tc>
                  <a:txBody>
                    <a:bodyPr/>
                    <a:lstStyle/>
                    <a:p>
                      <a:pPr marL="0" algn="ctr" defTabSz="457200" rtl="0" eaLnBrk="1" fontAlgn="b" latinLnBrk="0" hangingPunct="1"/>
                      <a:r>
                        <a:rPr lang="en-US" altLang="zh-TW" sz="1100" u="none" strike="noStrike" kern="1200" dirty="0" smtClean="0">
                          <a:solidFill>
                            <a:schemeClr val="dk1"/>
                          </a:solidFill>
                          <a:effectLst/>
                          <a:latin typeface="+mn-lt"/>
                          <a:ea typeface="+mn-ea"/>
                          <a:cs typeface="+mn-cs"/>
                        </a:rPr>
                        <a:t>OCR</a:t>
                      </a:r>
                      <a:r>
                        <a:rPr lang="zh-TW" altLang="en-US" sz="1100" u="none" strike="noStrike" kern="1200" dirty="0" smtClean="0">
                          <a:solidFill>
                            <a:schemeClr val="dk1"/>
                          </a:solidFill>
                          <a:effectLst/>
                          <a:latin typeface="+mn-lt"/>
                          <a:ea typeface="+mn-ea"/>
                          <a:cs typeface="+mn-cs"/>
                        </a:rPr>
                        <a:t>不</a:t>
                      </a:r>
                      <a:r>
                        <a:rPr lang="zh-TW" altLang="en-US" sz="1100" u="none" strike="noStrike" kern="1200" dirty="0">
                          <a:solidFill>
                            <a:schemeClr val="dk1"/>
                          </a:solidFill>
                          <a:effectLst/>
                          <a:latin typeface="+mn-lt"/>
                          <a:ea typeface="+mn-ea"/>
                          <a:cs typeface="+mn-cs"/>
                        </a:rPr>
                        <a:t>受前處理影響</a:t>
                      </a:r>
                    </a:p>
                  </a:txBody>
                  <a:tcPr marL="0" marR="0" marT="0" marB="0" anchor="ctr">
                    <a:solidFill>
                      <a:schemeClr val="accent1">
                        <a:lumMod val="40000"/>
                        <a:lumOff val="60000"/>
                      </a:schemeClr>
                    </a:solidFill>
                  </a:tcPr>
                </a:tc>
                <a:extLst>
                  <a:ext uri="{0D108BD9-81ED-4DB2-BD59-A6C34878D82A}">
                    <a16:rowId xmlns:a16="http://schemas.microsoft.com/office/drawing/2014/main" val="4245233340"/>
                  </a:ext>
                </a:extLst>
              </a:tr>
              <a:tr h="604243">
                <a:tc>
                  <a:txBody>
                    <a:bodyPr/>
                    <a:lstStyle/>
                    <a:p>
                      <a:pPr marL="0" algn="ctr" defTabSz="457200" rtl="0" eaLnBrk="1" fontAlgn="b" latinLnBrk="0" hangingPunct="1"/>
                      <a:r>
                        <a:rPr lang="zh-TW" altLang="en-US" sz="1100" u="none" strike="noStrike" kern="1200" dirty="0">
                          <a:solidFill>
                            <a:schemeClr val="dk1"/>
                          </a:solidFill>
                          <a:effectLst/>
                          <a:latin typeface="+mn-lt"/>
                          <a:ea typeface="+mn-ea"/>
                          <a:cs typeface="+mn-cs"/>
                        </a:rPr>
                        <a:t>總時間 </a:t>
                      </a:r>
                      <a:r>
                        <a:rPr lang="en-US" sz="1100" u="none" strike="noStrike" kern="1200" dirty="0">
                          <a:solidFill>
                            <a:schemeClr val="dk1"/>
                          </a:solidFill>
                          <a:effectLst/>
                          <a:latin typeface="+mn-lt"/>
                          <a:ea typeface="+mn-ea"/>
                          <a:cs typeface="+mn-cs"/>
                        </a:rPr>
                        <a:t>P1+P2+P3(</a:t>
                      </a:r>
                      <a:r>
                        <a:rPr lang="zh-TW" altLang="en-US" sz="1100" u="none" strike="noStrike" kern="1200" dirty="0">
                          <a:solidFill>
                            <a:schemeClr val="dk1"/>
                          </a:solidFill>
                          <a:effectLst/>
                          <a:latin typeface="+mn-lt"/>
                          <a:ea typeface="+mn-ea"/>
                          <a:cs typeface="+mn-cs"/>
                        </a:rPr>
                        <a:t>秒</a:t>
                      </a:r>
                      <a:r>
                        <a:rPr lang="en-US" altLang="zh-TW" sz="1100" u="none" strike="noStrike" kern="1200" dirty="0">
                          <a:solidFill>
                            <a:schemeClr val="dk1"/>
                          </a:solidFill>
                          <a:effectLst/>
                          <a:latin typeface="+mn-lt"/>
                          <a:ea typeface="+mn-ea"/>
                          <a:cs typeface="+mn-cs"/>
                        </a:rPr>
                        <a:t>)</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357.5</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246.02</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31.2%</a:t>
                      </a:r>
                    </a:p>
                  </a:txBody>
                  <a:tcPr marL="0" marR="0" marT="0" marB="0" anchor="ctr"/>
                </a:tc>
                <a:tc>
                  <a:txBody>
                    <a:bodyPr/>
                    <a:lstStyle/>
                    <a:p>
                      <a:pPr marL="0" algn="ctr" defTabSz="457200" rtl="0" eaLnBrk="1" fontAlgn="b" latinLnBrk="0" hangingPunct="1"/>
                      <a:r>
                        <a:rPr lang="en-US" sz="1100" u="none" strike="noStrike" kern="1200" dirty="0">
                          <a:solidFill>
                            <a:schemeClr val="dk1"/>
                          </a:solidFill>
                          <a:effectLst/>
                          <a:latin typeface="+mn-lt"/>
                          <a:ea typeface="+mn-ea"/>
                          <a:cs typeface="+mn-cs"/>
                        </a:rPr>
                        <a:t>off </a:t>
                      </a:r>
                      <a:r>
                        <a:rPr lang="zh-TW" altLang="en-US" sz="1100" u="none" strike="noStrike" kern="1200" dirty="0">
                          <a:solidFill>
                            <a:schemeClr val="dk1"/>
                          </a:solidFill>
                          <a:effectLst/>
                          <a:latin typeface="+mn-lt"/>
                          <a:ea typeface="+mn-ea"/>
                          <a:cs typeface="+mn-cs"/>
                        </a:rPr>
                        <a:t>整體快 </a:t>
                      </a:r>
                      <a:r>
                        <a:rPr lang="en-US" altLang="zh-TW" sz="1100" u="none" strike="noStrike" kern="1200" dirty="0">
                          <a:solidFill>
                            <a:schemeClr val="dk1"/>
                          </a:solidFill>
                          <a:effectLst/>
                          <a:latin typeface="+mn-lt"/>
                          <a:ea typeface="+mn-ea"/>
                          <a:cs typeface="+mn-cs"/>
                        </a:rPr>
                        <a:t>31.2%</a:t>
                      </a:r>
                    </a:p>
                  </a:txBody>
                  <a:tcPr marL="0" marR="0" marT="0" marB="0" anchor="ctr"/>
                </a:tc>
                <a:extLst>
                  <a:ext uri="{0D108BD9-81ED-4DB2-BD59-A6C34878D82A}">
                    <a16:rowId xmlns:a16="http://schemas.microsoft.com/office/drawing/2014/main" val="824883917"/>
                  </a:ext>
                </a:extLst>
              </a:tr>
            </a:tbl>
          </a:graphicData>
        </a:graphic>
      </p:graphicFrame>
      <p:graphicFrame>
        <p:nvGraphicFramePr>
          <p:cNvPr id="20" name="表格 19"/>
          <p:cNvGraphicFramePr>
            <a:graphicFrameLocks noGrp="1"/>
          </p:cNvGraphicFramePr>
          <p:nvPr>
            <p:extLst>
              <p:ext uri="{D42A27DB-BD31-4B8C-83A1-F6EECF244321}">
                <p14:modId xmlns:p14="http://schemas.microsoft.com/office/powerpoint/2010/main" val="4145877952"/>
              </p:ext>
            </p:extLst>
          </p:nvPr>
        </p:nvGraphicFramePr>
        <p:xfrm>
          <a:off x="0" y="4845050"/>
          <a:ext cx="6680198" cy="2012949"/>
        </p:xfrm>
        <a:graphic>
          <a:graphicData uri="http://schemas.openxmlformats.org/drawingml/2006/table">
            <a:tbl>
              <a:tblPr>
                <a:tableStyleId>{5C22544A-7EE6-4342-B048-85BDC9FD1C3A}</a:tableStyleId>
              </a:tblPr>
              <a:tblGrid>
                <a:gridCol w="2400300">
                  <a:extLst>
                    <a:ext uri="{9D8B030D-6E8A-4147-A177-3AD203B41FA5}">
                      <a16:colId xmlns:a16="http://schemas.microsoft.com/office/drawing/2014/main" val="3624231445"/>
                    </a:ext>
                  </a:extLst>
                </a:gridCol>
                <a:gridCol w="775241">
                  <a:extLst>
                    <a:ext uri="{9D8B030D-6E8A-4147-A177-3AD203B41FA5}">
                      <a16:colId xmlns:a16="http://schemas.microsoft.com/office/drawing/2014/main" val="4182829528"/>
                    </a:ext>
                  </a:extLst>
                </a:gridCol>
                <a:gridCol w="3504657">
                  <a:extLst>
                    <a:ext uri="{9D8B030D-6E8A-4147-A177-3AD203B41FA5}">
                      <a16:colId xmlns:a16="http://schemas.microsoft.com/office/drawing/2014/main" val="2522766645"/>
                    </a:ext>
                  </a:extLst>
                </a:gridCol>
              </a:tblGrid>
              <a:tr h="670983">
                <a:tc>
                  <a:txBody>
                    <a:bodyPr/>
                    <a:lstStyle/>
                    <a:p>
                      <a:pPr marL="0" algn="ctr" defTabSz="457200" rtl="0" eaLnBrk="1" fontAlgn="b" latinLnBrk="0" hangingPunct="1"/>
                      <a:r>
                        <a:rPr lang="zh-TW" altLang="en-US" sz="1100" u="none" strike="noStrike" kern="1200" dirty="0">
                          <a:solidFill>
                            <a:schemeClr val="dk1"/>
                          </a:solidFill>
                          <a:effectLst/>
                          <a:latin typeface="+mn-lt"/>
                          <a:ea typeface="+mn-ea"/>
                          <a:cs typeface="+mn-cs"/>
                        </a:rPr>
                        <a:t>逐影格文字集合完全相同</a:t>
                      </a:r>
                      <a:r>
                        <a:rPr lang="zh-TW" altLang="en-US" sz="1100" u="none" strike="noStrike" kern="1200" dirty="0" smtClean="0">
                          <a:solidFill>
                            <a:schemeClr val="dk1"/>
                          </a:solidFill>
                          <a:effectLst/>
                          <a:latin typeface="+mn-lt"/>
                          <a:ea typeface="+mn-ea"/>
                          <a:cs typeface="+mn-cs"/>
                        </a:rPr>
                        <a:t>比例</a:t>
                      </a:r>
                      <a:r>
                        <a:rPr lang="en-US" altLang="zh-TW" sz="1100" u="none" strike="noStrike" kern="1200" dirty="0" smtClean="0">
                          <a:solidFill>
                            <a:schemeClr val="dk1"/>
                          </a:solidFill>
                          <a:effectLst/>
                          <a:latin typeface="+mn-lt"/>
                          <a:ea typeface="+mn-ea"/>
                          <a:cs typeface="+mn-cs"/>
                        </a:rPr>
                        <a:t/>
                      </a:r>
                      <a:br>
                        <a:rPr lang="en-US" altLang="zh-TW" sz="1100" u="none" strike="noStrike" kern="1200" dirty="0" smtClean="0">
                          <a:solidFill>
                            <a:schemeClr val="dk1"/>
                          </a:solidFill>
                          <a:effectLst/>
                          <a:latin typeface="+mn-lt"/>
                          <a:ea typeface="+mn-ea"/>
                          <a:cs typeface="+mn-cs"/>
                        </a:rPr>
                      </a:br>
                      <a:r>
                        <a:rPr lang="zh-TW" altLang="en-US" sz="1100" u="none" strike="noStrike" kern="1200" dirty="0" smtClean="0">
                          <a:solidFill>
                            <a:schemeClr val="dk1"/>
                          </a:solidFill>
                          <a:effectLst/>
                          <a:latin typeface="+mn-lt"/>
                          <a:ea typeface="+mn-ea"/>
                          <a:cs typeface="+mn-cs"/>
                        </a:rPr>
                        <a:t>（</a:t>
                      </a:r>
                      <a:r>
                        <a:rPr lang="en-US" altLang="zh-TW" sz="1100" u="none" strike="noStrike" kern="1200" dirty="0">
                          <a:solidFill>
                            <a:schemeClr val="dk1"/>
                          </a:solidFill>
                          <a:effectLst/>
                          <a:latin typeface="+mn-lt"/>
                          <a:ea typeface="+mn-ea"/>
                          <a:cs typeface="+mn-cs"/>
                        </a:rPr>
                        <a:t>605</a:t>
                      </a:r>
                      <a:r>
                        <a:rPr lang="zh-TW" altLang="en-US" sz="1100" u="none" strike="noStrike" kern="1200" dirty="0">
                          <a:solidFill>
                            <a:schemeClr val="dk1"/>
                          </a:solidFill>
                          <a:effectLst/>
                          <a:latin typeface="+mn-lt"/>
                          <a:ea typeface="+mn-ea"/>
                          <a:cs typeface="+mn-cs"/>
                        </a:rPr>
                        <a:t>個共同影格）</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18.2%</a:t>
                      </a:r>
                    </a:p>
                  </a:txBody>
                  <a:tcPr marL="0" marR="0" marT="0" marB="0" anchor="ctr"/>
                </a:tc>
                <a:tc rowSpan="3">
                  <a:txBody>
                    <a:bodyPr/>
                    <a:lstStyle/>
                    <a:p>
                      <a:pPr marL="0" marR="0" indent="0" algn="ctr" defTabSz="457200" rtl="0" eaLnBrk="1" fontAlgn="b" latinLnBrk="0" hangingPunct="1">
                        <a:lnSpc>
                          <a:spcPct val="100000"/>
                        </a:lnSpc>
                        <a:spcBef>
                          <a:spcPts val="0"/>
                        </a:spcBef>
                        <a:spcAft>
                          <a:spcPts val="0"/>
                        </a:spcAft>
                        <a:buClrTx/>
                        <a:buSzTx/>
                        <a:buFontTx/>
                        <a:buNone/>
                        <a:tabLst/>
                        <a:defRPr/>
                      </a:pPr>
                      <a:r>
                        <a:rPr lang="en-US" altLang="zh-TW" sz="1100" u="none" strike="noStrike" kern="1200" dirty="0" smtClean="0">
                          <a:solidFill>
                            <a:schemeClr val="dk1"/>
                          </a:solidFill>
                          <a:effectLst/>
                          <a:latin typeface="+mn-lt"/>
                          <a:ea typeface="+mn-ea"/>
                          <a:cs typeface="+mn-cs"/>
                        </a:rPr>
                        <a:t> off </a:t>
                      </a:r>
                      <a:r>
                        <a:rPr lang="zh-TW" altLang="en-US" sz="1100" u="none" strike="noStrike" kern="1200" dirty="0" smtClean="0">
                          <a:solidFill>
                            <a:schemeClr val="dk1"/>
                          </a:solidFill>
                          <a:effectLst/>
                          <a:latin typeface="+mn-lt"/>
                          <a:ea typeface="+mn-ea"/>
                          <a:cs typeface="+mn-cs"/>
                        </a:rPr>
                        <a:t>比 </a:t>
                      </a:r>
                      <a:r>
                        <a:rPr lang="en-US" altLang="zh-TW" sz="1100" u="none" strike="noStrike" kern="1200" dirty="0" smtClean="0">
                          <a:solidFill>
                            <a:schemeClr val="dk1"/>
                          </a:solidFill>
                          <a:effectLst/>
                          <a:latin typeface="+mn-lt"/>
                          <a:ea typeface="+mn-ea"/>
                          <a:cs typeface="+mn-cs"/>
                        </a:rPr>
                        <a:t>on </a:t>
                      </a:r>
                      <a:r>
                        <a:rPr lang="zh-TW" altLang="en-US" sz="1100" u="none" strike="noStrike" kern="1200" dirty="0" smtClean="0">
                          <a:solidFill>
                            <a:schemeClr val="dk1"/>
                          </a:solidFill>
                          <a:effectLst/>
                          <a:latin typeface="+mn-lt"/>
                          <a:ea typeface="+mn-ea"/>
                          <a:cs typeface="+mn-cs"/>
                        </a:rPr>
                        <a:t>抓到額外文字的影格</a:t>
                      </a:r>
                      <a:r>
                        <a:rPr lang="zh-TW" altLang="en-US" sz="1100" u="none" strike="noStrike" kern="1200" dirty="0" smtClean="0">
                          <a:solidFill>
                            <a:srgbClr val="FF0000"/>
                          </a:solidFill>
                          <a:effectLst/>
                          <a:latin typeface="+mn-lt"/>
                          <a:ea typeface="+mn-ea"/>
                          <a:cs typeface="+mn-cs"/>
                        </a:rPr>
                        <a:t>更多</a:t>
                      </a:r>
                      <a:r>
                        <a:rPr lang="zh-TW" altLang="en-US" sz="1100" u="none" strike="noStrike" kern="1200" dirty="0" smtClean="0">
                          <a:solidFill>
                            <a:schemeClr val="dk1"/>
                          </a:solidFill>
                          <a:effectLst/>
                          <a:latin typeface="+mn-lt"/>
                          <a:ea typeface="+mn-ea"/>
                          <a:cs typeface="+mn-cs"/>
                        </a:rPr>
                        <a:t>，</a:t>
                      </a:r>
                      <a:r>
                        <a:rPr lang="en-US" altLang="zh-TW" sz="1100" u="none" strike="noStrike" kern="1200" dirty="0" smtClean="0">
                          <a:solidFill>
                            <a:schemeClr val="dk1"/>
                          </a:solidFill>
                          <a:effectLst/>
                          <a:latin typeface="+mn-lt"/>
                          <a:ea typeface="+mn-ea"/>
                          <a:cs typeface="+mn-cs"/>
                        </a:rPr>
                        <a:t/>
                      </a:r>
                      <a:br>
                        <a:rPr lang="en-US" altLang="zh-TW" sz="1100" u="none" strike="noStrike" kern="1200" dirty="0" smtClean="0">
                          <a:solidFill>
                            <a:schemeClr val="dk1"/>
                          </a:solidFill>
                          <a:effectLst/>
                          <a:latin typeface="+mn-lt"/>
                          <a:ea typeface="+mn-ea"/>
                          <a:cs typeface="+mn-cs"/>
                        </a:rPr>
                      </a:br>
                      <a:r>
                        <a:rPr lang="en-US" altLang="zh-TW" sz="1100" u="none" strike="noStrike" kern="1200" dirty="0" err="1" smtClean="0">
                          <a:solidFill>
                            <a:schemeClr val="dk1"/>
                          </a:solidFill>
                          <a:effectLst/>
                          <a:latin typeface="+mn-lt"/>
                          <a:ea typeface="+mn-ea"/>
                          <a:cs typeface="+mn-cs"/>
                        </a:rPr>
                        <a:t>denoise</a:t>
                      </a:r>
                      <a:r>
                        <a:rPr lang="en-US" altLang="zh-TW" sz="1100" u="none" strike="noStrike" kern="1200" dirty="0" smtClean="0">
                          <a:solidFill>
                            <a:schemeClr val="dk1"/>
                          </a:solidFill>
                          <a:effectLst/>
                          <a:latin typeface="+mn-lt"/>
                          <a:ea typeface="+mn-ea"/>
                          <a:cs typeface="+mn-cs"/>
                        </a:rPr>
                        <a:t> </a:t>
                      </a:r>
                      <a:r>
                        <a:rPr lang="zh-TW" altLang="en-US" sz="1100" u="none" strike="noStrike" kern="1200" dirty="0" smtClean="0">
                          <a:solidFill>
                            <a:schemeClr val="dk1"/>
                          </a:solidFill>
                          <a:effectLst/>
                          <a:latin typeface="+mn-lt"/>
                          <a:ea typeface="+mn-ea"/>
                          <a:cs typeface="+mn-cs"/>
                        </a:rPr>
                        <a:t>無法穩定提升辨識細節。</a:t>
                      </a:r>
                    </a:p>
                    <a:p>
                      <a:pPr marL="0" algn="ctr" defTabSz="457200" rtl="0" eaLnBrk="1" fontAlgn="b" latinLnBrk="0" hangingPunct="1"/>
                      <a:endParaRPr lang="zh-TW" altLang="en-US" sz="1100" u="none" strike="noStrike" kern="1200" dirty="0">
                        <a:solidFill>
                          <a:schemeClr val="dk1"/>
                        </a:solidFill>
                        <a:effectLst/>
                        <a:latin typeface="+mn-lt"/>
                        <a:ea typeface="+mn-ea"/>
                        <a:cs typeface="+mn-cs"/>
                      </a:endParaRPr>
                    </a:p>
                  </a:txBody>
                  <a:tcPr marL="0" marR="0" marT="0" marB="0" anchor="ctr"/>
                </a:tc>
                <a:extLst>
                  <a:ext uri="{0D108BD9-81ED-4DB2-BD59-A6C34878D82A}">
                    <a16:rowId xmlns:a16="http://schemas.microsoft.com/office/drawing/2014/main" val="839191603"/>
                  </a:ext>
                </a:extLst>
              </a:tr>
              <a:tr h="670983">
                <a:tc>
                  <a:txBody>
                    <a:bodyPr/>
                    <a:lstStyle/>
                    <a:p>
                      <a:pPr marL="0" algn="ctr" defTabSz="457200" rtl="0" eaLnBrk="1" fontAlgn="b" latinLnBrk="0" hangingPunct="1"/>
                      <a:r>
                        <a:rPr lang="en-US" sz="1100" u="none" strike="noStrike" kern="1200" dirty="0" err="1">
                          <a:solidFill>
                            <a:schemeClr val="dk1"/>
                          </a:solidFill>
                          <a:effectLst/>
                          <a:latin typeface="+mn-lt"/>
                          <a:ea typeface="+mn-ea"/>
                          <a:cs typeface="+mn-cs"/>
                        </a:rPr>
                        <a:t>denoise_off</a:t>
                      </a:r>
                      <a:r>
                        <a:rPr lang="en-US" sz="1100" u="none" strike="noStrike" kern="1200" dirty="0">
                          <a:solidFill>
                            <a:schemeClr val="dk1"/>
                          </a:solidFill>
                          <a:effectLst/>
                          <a:latin typeface="+mn-lt"/>
                          <a:ea typeface="+mn-ea"/>
                          <a:cs typeface="+mn-cs"/>
                        </a:rPr>
                        <a:t> </a:t>
                      </a:r>
                      <a:r>
                        <a:rPr lang="zh-TW" altLang="en-US" sz="1100" u="none" strike="noStrike" kern="1200" dirty="0">
                          <a:solidFill>
                            <a:schemeClr val="dk1"/>
                          </a:solidFill>
                          <a:effectLst/>
                          <a:latin typeface="+mn-lt"/>
                          <a:ea typeface="+mn-ea"/>
                          <a:cs typeface="+mn-cs"/>
                        </a:rPr>
                        <a:t>額外抓到文字的影格數</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116</a:t>
                      </a:r>
                    </a:p>
                  </a:txBody>
                  <a:tcPr marL="0" marR="0" marT="0" marB="0" anchor="ctr"/>
                </a:tc>
                <a:tc vMerge="1">
                  <a:txBody>
                    <a:bodyPr/>
                    <a:lstStyle/>
                    <a:p>
                      <a:pPr marL="0" algn="ctr" defTabSz="457200" rtl="0" eaLnBrk="1" fontAlgn="b" latinLnBrk="0" hangingPunct="1"/>
                      <a:endParaRPr lang="zh-TW" altLang="en-US" sz="1100" u="none" strike="noStrike" kern="1200" dirty="0">
                        <a:solidFill>
                          <a:schemeClr val="dk1"/>
                        </a:solidFill>
                        <a:effectLst/>
                        <a:latin typeface="+mn-lt"/>
                        <a:ea typeface="+mn-ea"/>
                        <a:cs typeface="+mn-cs"/>
                      </a:endParaRPr>
                    </a:p>
                  </a:txBody>
                  <a:tcPr marL="0" marR="0" marT="0" marB="0" anchor="ctr"/>
                </a:tc>
                <a:extLst>
                  <a:ext uri="{0D108BD9-81ED-4DB2-BD59-A6C34878D82A}">
                    <a16:rowId xmlns:a16="http://schemas.microsoft.com/office/drawing/2014/main" val="1602136353"/>
                  </a:ext>
                </a:extLst>
              </a:tr>
              <a:tr h="670983">
                <a:tc>
                  <a:txBody>
                    <a:bodyPr/>
                    <a:lstStyle/>
                    <a:p>
                      <a:pPr marL="0" algn="ctr" defTabSz="457200" rtl="0" eaLnBrk="1" fontAlgn="b" latinLnBrk="0" hangingPunct="1"/>
                      <a:r>
                        <a:rPr lang="en-US" sz="1100" u="none" strike="noStrike" kern="1200" dirty="0" err="1">
                          <a:solidFill>
                            <a:schemeClr val="dk1"/>
                          </a:solidFill>
                          <a:effectLst/>
                          <a:latin typeface="+mn-lt"/>
                          <a:ea typeface="+mn-ea"/>
                          <a:cs typeface="+mn-cs"/>
                        </a:rPr>
                        <a:t>denoise_on</a:t>
                      </a:r>
                      <a:r>
                        <a:rPr lang="en-US" sz="1100" u="none" strike="noStrike" kern="1200" dirty="0">
                          <a:solidFill>
                            <a:schemeClr val="dk1"/>
                          </a:solidFill>
                          <a:effectLst/>
                          <a:latin typeface="+mn-lt"/>
                          <a:ea typeface="+mn-ea"/>
                          <a:cs typeface="+mn-cs"/>
                        </a:rPr>
                        <a:t> </a:t>
                      </a:r>
                      <a:r>
                        <a:rPr lang="zh-TW" altLang="en-US" sz="1100" u="none" strike="noStrike" kern="1200" dirty="0">
                          <a:solidFill>
                            <a:schemeClr val="dk1"/>
                          </a:solidFill>
                          <a:effectLst/>
                          <a:latin typeface="+mn-lt"/>
                          <a:ea typeface="+mn-ea"/>
                          <a:cs typeface="+mn-cs"/>
                        </a:rPr>
                        <a:t>額外抓到文字的影格數</a:t>
                      </a:r>
                    </a:p>
                  </a:txBody>
                  <a:tcPr marL="0" marR="0" marT="0" marB="0" anchor="ctr"/>
                </a:tc>
                <a:tc>
                  <a:txBody>
                    <a:bodyPr/>
                    <a:lstStyle/>
                    <a:p>
                      <a:pPr marL="0" algn="ctr" defTabSz="457200" rtl="0" eaLnBrk="1" fontAlgn="b" latinLnBrk="0" hangingPunct="1"/>
                      <a:r>
                        <a:rPr lang="en-US" altLang="zh-TW" sz="1100" u="none" strike="noStrike" kern="1200" dirty="0">
                          <a:solidFill>
                            <a:schemeClr val="dk1"/>
                          </a:solidFill>
                          <a:effectLst/>
                          <a:latin typeface="+mn-lt"/>
                          <a:ea typeface="+mn-ea"/>
                          <a:cs typeface="+mn-cs"/>
                        </a:rPr>
                        <a:t>77</a:t>
                      </a:r>
                    </a:p>
                  </a:txBody>
                  <a:tcPr marL="0" marR="0" marT="0" marB="0" anchor="ctr"/>
                </a:tc>
                <a:tc vMerge="1">
                  <a:txBody>
                    <a:bodyPr/>
                    <a:lstStyle/>
                    <a:p>
                      <a:pPr marL="0" algn="ctr" defTabSz="457200" rtl="0" eaLnBrk="1" fontAlgn="b" latinLnBrk="0" hangingPunct="1"/>
                      <a:endParaRPr lang="zh-TW" altLang="en-US" sz="1100" u="none" strike="noStrike" kern="1200" dirty="0">
                        <a:solidFill>
                          <a:schemeClr val="dk1"/>
                        </a:solidFill>
                        <a:effectLst/>
                        <a:latin typeface="+mn-lt"/>
                        <a:ea typeface="+mn-ea"/>
                        <a:cs typeface="+mn-cs"/>
                      </a:endParaRPr>
                    </a:p>
                  </a:txBody>
                  <a:tcPr marL="0" marR="0" marT="0" marB="0" anchor="ctr"/>
                </a:tc>
                <a:extLst>
                  <a:ext uri="{0D108BD9-81ED-4DB2-BD59-A6C34878D82A}">
                    <a16:rowId xmlns:a16="http://schemas.microsoft.com/office/drawing/2014/main" val="3565609776"/>
                  </a:ext>
                </a:extLst>
              </a:tr>
            </a:tbl>
          </a:graphicData>
        </a:graphic>
      </p:graphicFrame>
      <p:graphicFrame>
        <p:nvGraphicFramePr>
          <p:cNvPr id="21" name="表格 20"/>
          <p:cNvGraphicFramePr>
            <a:graphicFrameLocks noGrp="1"/>
          </p:cNvGraphicFramePr>
          <p:nvPr>
            <p:extLst>
              <p:ext uri="{D42A27DB-BD31-4B8C-83A1-F6EECF244321}">
                <p14:modId xmlns:p14="http://schemas.microsoft.com/office/powerpoint/2010/main" val="137895038"/>
              </p:ext>
            </p:extLst>
          </p:nvPr>
        </p:nvGraphicFramePr>
        <p:xfrm>
          <a:off x="6680199" y="4241801"/>
          <a:ext cx="5511801" cy="2646310"/>
        </p:xfrm>
        <a:graphic>
          <a:graphicData uri="http://schemas.openxmlformats.org/drawingml/2006/table">
            <a:tbl>
              <a:tblPr firstRow="1">
                <a:tableStyleId>{5C22544A-7EE6-4342-B048-85BDC9FD1C3A}</a:tableStyleId>
              </a:tblPr>
              <a:tblGrid>
                <a:gridCol w="5511801">
                  <a:extLst>
                    <a:ext uri="{9D8B030D-6E8A-4147-A177-3AD203B41FA5}">
                      <a16:colId xmlns:a16="http://schemas.microsoft.com/office/drawing/2014/main" val="2627777963"/>
                    </a:ext>
                  </a:extLst>
                </a:gridCol>
              </a:tblGrid>
              <a:tr h="603249">
                <a:tc>
                  <a:txBody>
                    <a:bodyPr/>
                    <a:lstStyle/>
                    <a:p>
                      <a:pPr marL="0" algn="ctr" defTabSz="457200" rtl="0" eaLnBrk="1" fontAlgn="b" latinLnBrk="0" hangingPunct="1"/>
                      <a:r>
                        <a:rPr lang="zh-TW" altLang="en-US" sz="1400" b="1" u="none" strike="noStrike" kern="1200" dirty="0" smtClean="0">
                          <a:solidFill>
                            <a:schemeClr val="dk1"/>
                          </a:solidFill>
                          <a:effectLst/>
                          <a:latin typeface="+mn-lt"/>
                          <a:ea typeface="+mn-ea"/>
                          <a:cs typeface="+mn-cs"/>
                        </a:rPr>
                        <a:t>結論</a:t>
                      </a:r>
                      <a:endParaRPr lang="zh-TW" altLang="en-US" sz="1400" b="1" u="none" strike="noStrike" kern="1200" dirty="0">
                        <a:solidFill>
                          <a:schemeClr val="dk1"/>
                        </a:solidFill>
                        <a:effectLst/>
                        <a:latin typeface="+mn-lt"/>
                        <a:ea typeface="+mn-ea"/>
                        <a:cs typeface="+mn-cs"/>
                      </a:endParaRPr>
                    </a:p>
                  </a:txBody>
                  <a:tcPr marL="0" marR="0" marT="0" marB="0" anchor="ctr"/>
                </a:tc>
                <a:extLst>
                  <a:ext uri="{0D108BD9-81ED-4DB2-BD59-A6C34878D82A}">
                    <a16:rowId xmlns:a16="http://schemas.microsoft.com/office/drawing/2014/main" val="2534558118"/>
                  </a:ext>
                </a:extLst>
              </a:tr>
              <a:tr h="2043061">
                <a:tc>
                  <a:txBody>
                    <a:bodyPr/>
                    <a:lstStyle/>
                    <a:p>
                      <a:pPr>
                        <a:defRPr sz="850">
                          <a:solidFill>
                            <a:srgbClr val="0F172A"/>
                          </a:solidFill>
                          <a:latin typeface="微軟正黑體"/>
                        </a:defRPr>
                      </a:pPr>
                      <a:r>
                        <a:t>denoise 對辨識率的實測提升僅 2.0%，總處理時間增加 31.2%，且多項指標並不一致支持「on 較好」。因收益遠低於成本，且耗時增加違背實時標準，因此決策選擇 denoise off。</a:t>
                      </a:r>
                    </a:p>
                    <a:p>
                      <a:pPr>
                        <a:defRPr sz="850">
                          <a:solidFill>
                            <a:srgbClr val="0F172A"/>
                          </a:solidFill>
                          <a:latin typeface="微軟正黑體"/>
                        </a:defRPr>
                      </a:pPr>
                    </a:p>
                    <a:p>
                      <a:pPr>
                        <a:defRPr sz="850">
                          <a:solidFill>
                            <a:srgbClr val="0F172A"/>
                          </a:solidFill>
                          <a:latin typeface="微軟正黑體"/>
                        </a:defRPr>
                      </a:pPr>
                      <a:r>
                        <a:t>【學術佐證】Ko &amp; Lee (ACM CSCW 2026) 研究指出，視訊字幕文字先天具備高對比描邊（Stroke）與外陰影以對抗動態背景；傳統去噪濾波器易破壞字緣高頻特徵，導致微小筆畫模糊；保留灰階與對比強化即可最大化發揮深度學習 OCR（CRAFT/EasyOCR）之特徵提取能力。</a:t>
                      </a:r>
                    </a:p>
                  </a:txBody>
                  <a:tcPr marL="0" marR="0" marT="0" marB="0" anchor="ctr"/>
                </a:tc>
                <a:extLst>
                  <a:ext uri="{0D108BD9-81ED-4DB2-BD59-A6C34878D82A}">
                    <a16:rowId xmlns:a16="http://schemas.microsoft.com/office/drawing/2014/main" val="2327384647"/>
                  </a:ext>
                </a:extLst>
              </a:tr>
            </a:tbl>
          </a:graphicData>
        </a:graphic>
      </p:graphicFrame>
      <p:graphicFrame>
        <p:nvGraphicFramePr>
          <p:cNvPr id="22" name="圖表 21"/>
          <p:cNvGraphicFramePr>
            <a:graphicFrameLocks/>
          </p:cNvGraphicFramePr>
          <p:nvPr>
            <p:extLst>
              <p:ext uri="{D42A27DB-BD31-4B8C-83A1-F6EECF244321}">
                <p14:modId xmlns:p14="http://schemas.microsoft.com/office/powerpoint/2010/main" val="2969535749"/>
              </p:ext>
            </p:extLst>
          </p:nvPr>
        </p:nvGraphicFramePr>
        <p:xfrm>
          <a:off x="6680199" y="11104"/>
          <a:ext cx="5549899" cy="423069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563929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901700" y="1429169"/>
            <a:ext cx="1676400" cy="276225"/>
          </a:xfrm>
          <a:prstGeom prst="roundRect">
            <a:avLst>
              <a:gd name="adj" fmla="val 13793"/>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1700" y="3067469"/>
            <a:ext cx="4141440" cy="1466850"/>
          </a:xfrm>
          <a:prstGeom prst="roundRect">
            <a:avLst>
              <a:gd name="adj" fmla="val 779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767040" y="3076994"/>
            <a:ext cx="5802659" cy="1447800"/>
          </a:xfrm>
          <a:prstGeom prst="roundRect">
            <a:avLst>
              <a:gd name="adj" fmla="val 7894"/>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5271740" y="3648494"/>
            <a:ext cx="266700" cy="304800"/>
          </a:xfrm>
          <a:prstGeom prst="rect">
            <a:avLst/>
          </a:prstGeom>
        </p:spPr>
      </p:pic>
      <p:sp>
        <p:nvSpPr>
          <p:cNvPr id="7" name="TextBox 6"/>
          <p:cNvSpPr txBox="1"/>
          <p:nvPr/>
        </p:nvSpPr>
        <p:spPr>
          <a:xfrm>
            <a:off x="901700" y="1933994"/>
            <a:ext cx="2308324" cy="461665"/>
          </a:xfrm>
          <a:prstGeom prst="rect">
            <a:avLst/>
          </a:prstGeom>
          <a:noFill/>
        </p:spPr>
        <p:txBody>
          <a:bodyPr wrap="none" lIns="0" tIns="0" rIns="0" bIns="0" anchor="t">
            <a:spAutoFit/>
          </a:bodyPr>
          <a:lstStyle/>
          <a:p>
            <a:pPr algn="l"/>
            <a:r>
              <a:rPr sz="3000" b="1" i="0" u="none" dirty="0" err="1" smtClean="0">
                <a:solidFill>
                  <a:srgbClr val="0F172A"/>
                </a:solidFill>
                <a:latin typeface="微軟正黑體" panose="020B0604030504040204" pitchFamily="34" charset="-120"/>
                <a:ea typeface="微軟正黑體" panose="020B0604030504040204" pitchFamily="34" charset="-120"/>
              </a:rPr>
              <a:t>時序去重機制</a:t>
            </a:r>
            <a:endParaRPr sz="3000" b="1" i="0" u="none" dirty="0">
              <a:solidFill>
                <a:srgbClr val="0F172A"/>
              </a:solidFill>
              <a:latin typeface="微軟正黑體" panose="020B0604030504040204" pitchFamily="34" charset="-120"/>
              <a:ea typeface="微軟正黑體" panose="020B0604030504040204" pitchFamily="34" charset="-120"/>
            </a:endParaRPr>
          </a:p>
        </p:txBody>
      </p:sp>
      <p:sp>
        <p:nvSpPr>
          <p:cNvPr id="8" name="TextBox 7"/>
          <p:cNvSpPr txBox="1"/>
          <p:nvPr/>
        </p:nvSpPr>
        <p:spPr>
          <a:xfrm>
            <a:off x="2395339" y="3457994"/>
            <a:ext cx="1154162" cy="276999"/>
          </a:xfrm>
          <a:prstGeom prst="rect">
            <a:avLst/>
          </a:prstGeom>
          <a:noFill/>
        </p:spPr>
        <p:txBody>
          <a:bodyPr wrap="none" lIns="0" tIns="0" rIns="0" bIns="0" anchor="t">
            <a:spAutoFit/>
          </a:bodyPr>
          <a:lstStyle/>
          <a:p>
            <a:pPr algn="ctr"/>
            <a:r>
              <a:rPr sz="1800" b="1" i="0" u="none" dirty="0" err="1">
                <a:solidFill>
                  <a:srgbClr val="0F172A"/>
                </a:solidFill>
                <a:latin typeface="微軟正黑體" panose="020B0604030504040204" pitchFamily="34" charset="-120"/>
                <a:ea typeface="微軟正黑體" panose="020B0604030504040204" pitchFamily="34" charset="-120"/>
              </a:rPr>
              <a:t>原始硬比對</a:t>
            </a:r>
            <a:endParaRPr sz="1800" b="1" i="0" u="none" dirty="0">
              <a:solidFill>
                <a:srgbClr val="0F172A"/>
              </a:solidFill>
              <a:latin typeface="微軟正黑體" panose="020B0604030504040204" pitchFamily="34" charset="-120"/>
              <a:ea typeface="微軟正黑體" panose="020B0604030504040204" pitchFamily="34" charset="-120"/>
            </a:endParaRPr>
          </a:p>
        </p:txBody>
      </p:sp>
      <p:sp>
        <p:nvSpPr>
          <p:cNvPr id="9" name="TextBox 8"/>
          <p:cNvSpPr txBox="1"/>
          <p:nvPr/>
        </p:nvSpPr>
        <p:spPr>
          <a:xfrm>
            <a:off x="1933673" y="3915194"/>
            <a:ext cx="2077492" cy="207749"/>
          </a:xfrm>
          <a:prstGeom prst="rect">
            <a:avLst/>
          </a:prstGeom>
          <a:noFill/>
        </p:spPr>
        <p:txBody>
          <a:bodyPr wrap="none" lIns="0" tIns="0" rIns="0" bIns="0" anchor="t">
            <a:spAutoFit/>
          </a:bodyPr>
          <a:lstStyle/>
          <a:p>
            <a:pPr algn="ctr"/>
            <a:r>
              <a:rPr sz="1350" b="1" i="0" u="none">
                <a:solidFill>
                  <a:srgbClr val="EF4444"/>
                </a:solidFill>
                <a:latin typeface="微軟正黑體" panose="020B0604030504040204" pitchFamily="34" charset="-120"/>
                <a:ea typeface="微軟正黑體" panose="020B0604030504040204" pitchFamily="34" charset="-120"/>
              </a:rPr>
              <a:t>因多字詞打亂排序而失效。</a:t>
            </a:r>
          </a:p>
        </p:txBody>
      </p:sp>
      <p:sp>
        <p:nvSpPr>
          <p:cNvPr id="10" name="TextBox 9"/>
          <p:cNvSpPr txBox="1"/>
          <p:nvPr/>
        </p:nvSpPr>
        <p:spPr>
          <a:xfrm>
            <a:off x="7398793" y="3457994"/>
            <a:ext cx="2539157" cy="276999"/>
          </a:xfrm>
          <a:prstGeom prst="rect">
            <a:avLst/>
          </a:prstGeom>
          <a:noFill/>
        </p:spPr>
        <p:txBody>
          <a:bodyPr wrap="none" lIns="0" tIns="0" rIns="0" bIns="0" anchor="t">
            <a:spAutoFit/>
          </a:bodyPr>
          <a:lstStyle/>
          <a:p>
            <a:pPr algn="ctr"/>
            <a:r>
              <a:rPr lang="zh-TW" altLang="en-US" sz="1800" b="1" i="0" u="none" dirty="0" smtClean="0">
                <a:solidFill>
                  <a:srgbClr val="FFFFFF"/>
                </a:solidFill>
                <a:latin typeface="微軟正黑體" panose="020B0604030504040204" pitchFamily="34" charset="-120"/>
                <a:ea typeface="微軟正黑體" panose="020B0604030504040204" pitchFamily="34" charset="-120"/>
              </a:rPr>
              <a:t>雜湊校驗與</a:t>
            </a:r>
            <a:r>
              <a:rPr sz="1800" b="1" i="0" u="none" dirty="0" err="1" smtClean="0">
                <a:solidFill>
                  <a:srgbClr val="FFFFFF"/>
                </a:solidFill>
                <a:latin typeface="微軟正黑體" panose="020B0604030504040204" pitchFamily="34" charset="-120"/>
                <a:ea typeface="微軟正黑體" panose="020B0604030504040204" pitchFamily="34" charset="-120"/>
              </a:rPr>
              <a:t>生命週期管理</a:t>
            </a:r>
            <a:endParaRPr sz="1800" b="1" i="0" u="none" dirty="0">
              <a:solidFill>
                <a:srgbClr val="FFFFFF"/>
              </a:solidFill>
              <a:latin typeface="微軟正黑體" panose="020B0604030504040204" pitchFamily="34" charset="-120"/>
              <a:ea typeface="微軟正黑體" panose="020B0604030504040204" pitchFamily="34" charset="-120"/>
            </a:endParaRPr>
          </a:p>
        </p:txBody>
      </p:sp>
      <p:sp>
        <p:nvSpPr>
          <p:cNvPr id="11" name="TextBox 10"/>
          <p:cNvSpPr txBox="1"/>
          <p:nvPr/>
        </p:nvSpPr>
        <p:spPr>
          <a:xfrm>
            <a:off x="6937126" y="3915194"/>
            <a:ext cx="3462486" cy="207749"/>
          </a:xfrm>
          <a:prstGeom prst="rect">
            <a:avLst/>
          </a:prstGeom>
          <a:noFill/>
        </p:spPr>
        <p:txBody>
          <a:bodyPr wrap="none" lIns="0" tIns="0" rIns="0" bIns="0" anchor="t">
            <a:spAutoFit/>
          </a:bodyPr>
          <a:lstStyle/>
          <a:p>
            <a:pPr algn="ctr"/>
            <a:r>
              <a:rPr sz="1350" b="0" i="0" u="none" dirty="0" err="1">
                <a:solidFill>
                  <a:srgbClr val="94A3B8"/>
                </a:solidFill>
                <a:latin typeface="微軟正黑體" panose="020B0604030504040204" pitchFamily="34" charset="-120"/>
                <a:ea typeface="微軟正黑體" panose="020B0604030504040204" pitchFamily="34" charset="-120"/>
              </a:rPr>
              <a:t>賦予字詞存活時間，成功過濾同源字幕事件</a:t>
            </a:r>
            <a:r>
              <a:rPr sz="1350" b="0" i="0" u="none" dirty="0">
                <a:solidFill>
                  <a:srgbClr val="94A3B8"/>
                </a:solidFill>
                <a:latin typeface="微軟正黑體" panose="020B0604030504040204" pitchFamily="34" charset="-120"/>
                <a:ea typeface="微軟正黑體" panose="020B0604030504040204" pitchFamily="34" charset="-120"/>
              </a:rPr>
              <a:t>。</a:t>
            </a:r>
          </a:p>
        </p:txBody>
      </p:sp>
      <p:grpSp>
        <p:nvGrpSpPr>
          <p:cNvPr id="12" name="群組 11"/>
          <p:cNvGrpSpPr/>
          <p:nvPr/>
        </p:nvGrpSpPr>
        <p:grpSpPr>
          <a:xfrm>
            <a:off x="354414" y="5362994"/>
            <a:ext cx="10668000" cy="666750"/>
            <a:chOff x="762000" y="4714875"/>
            <a:chExt cx="10668000" cy="666750"/>
          </a:xfrm>
        </p:grpSpPr>
        <p:sp>
          <p:nvSpPr>
            <p:cNvPr id="13" name="Rounded Rectangle 2"/>
            <p:cNvSpPr/>
            <p:nvPr/>
          </p:nvSpPr>
          <p:spPr>
            <a:xfrm>
              <a:off x="762000" y="4714875"/>
              <a:ext cx="10668000" cy="666750"/>
            </a:xfrm>
            <a:prstGeom prst="roundRect">
              <a:avLst>
                <a:gd name="adj" fmla="val 1142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 name="群組 13"/>
            <p:cNvGrpSpPr/>
            <p:nvPr/>
          </p:nvGrpSpPr>
          <p:grpSpPr>
            <a:xfrm>
              <a:off x="4322834" y="4926565"/>
              <a:ext cx="3546331" cy="243370"/>
              <a:chOff x="3833330" y="4908352"/>
              <a:chExt cx="3546331" cy="243370"/>
            </a:xfrm>
          </p:grpSpPr>
          <p:sp>
            <p:nvSpPr>
              <p:cNvPr id="15" name="TextBox 10"/>
              <p:cNvSpPr txBox="1"/>
              <p:nvPr/>
            </p:nvSpPr>
            <p:spPr>
              <a:xfrm>
                <a:off x="3897939" y="4943475"/>
                <a:ext cx="3481722" cy="173124"/>
              </a:xfrm>
              <a:prstGeom prst="rect">
                <a:avLst/>
              </a:prstGeom>
              <a:noFill/>
            </p:spPr>
            <p:txBody>
              <a:bodyPr wrap="none" lIns="190500" tIns="0" rIns="0" bIns="0" anchor="t">
                <a:spAutoFit/>
              </a:bodyPr>
              <a:lstStyle/>
              <a:p>
                <a:pPr algn="ctr"/>
                <a:r>
                  <a:rPr lang="en-US" altLang="zh-TW" sz="1125" b="1" dirty="0">
                    <a:solidFill>
                      <a:srgbClr val="1F7244"/>
                    </a:solidFill>
                    <a:latin typeface="微軟正黑體" panose="020B0604030504040204" pitchFamily="34" charset="-120"/>
                  </a:rPr>
                  <a:t>Phase9_</a:t>
                </a:r>
                <a:r>
                  <a:rPr lang="zh-TW" altLang="en-US" sz="1125" b="1" dirty="0">
                    <a:solidFill>
                      <a:srgbClr val="1F7244"/>
                    </a:solidFill>
                    <a:latin typeface="微軟正黑體" panose="020B0604030504040204" pitchFamily="34" charset="-120"/>
                  </a:rPr>
                  <a:t>通道與</a:t>
                </a:r>
                <a:r>
                  <a:rPr lang="en-US" altLang="zh-TW" sz="1125" b="1" dirty="0" err="1">
                    <a:solidFill>
                      <a:srgbClr val="1F7244"/>
                    </a:solidFill>
                    <a:latin typeface="微軟正黑體" panose="020B0604030504040204" pitchFamily="34" charset="-120"/>
                  </a:rPr>
                  <a:t>denoise</a:t>
                </a:r>
                <a:r>
                  <a:rPr lang="zh-TW" altLang="en-US" sz="1125" b="1" dirty="0">
                    <a:solidFill>
                      <a:srgbClr val="1F7244"/>
                    </a:solidFill>
                    <a:latin typeface="微軟正黑體" panose="020B0604030504040204" pitchFamily="34" charset="-120"/>
                  </a:rPr>
                  <a:t>最終決策分析</a:t>
                </a:r>
                <a:r>
                  <a:rPr lang="en-US" altLang="zh-TW" sz="1125" b="1" dirty="0">
                    <a:solidFill>
                      <a:srgbClr val="1F7244"/>
                    </a:solidFill>
                    <a:latin typeface="微軟正黑體" panose="020B0604030504040204" pitchFamily="34" charset="-120"/>
                  </a:rPr>
                  <a:t>_</a:t>
                </a:r>
                <a:r>
                  <a:rPr lang="zh-TW" altLang="en-US" sz="1125" b="1" dirty="0">
                    <a:solidFill>
                      <a:srgbClr val="1F7244"/>
                    </a:solidFill>
                    <a:latin typeface="微軟正黑體" panose="020B0604030504040204" pitchFamily="34" charset="-120"/>
                  </a:rPr>
                  <a:t>複核版</a:t>
                </a:r>
                <a:r>
                  <a:rPr lang="en-US" altLang="zh-TW" sz="1125" b="1" dirty="0">
                    <a:solidFill>
                      <a:srgbClr val="1F7244"/>
                    </a:solidFill>
                    <a:latin typeface="微軟正黑體" panose="020B0604030504040204" pitchFamily="34" charset="-120"/>
                  </a:rPr>
                  <a:t>.</a:t>
                </a:r>
                <a:r>
                  <a:rPr lang="en-US" altLang="zh-TW" sz="1125" b="1" dirty="0" err="1">
                    <a:solidFill>
                      <a:srgbClr val="1F7244"/>
                    </a:solidFill>
                    <a:latin typeface="微軟正黑體" panose="020B0604030504040204" pitchFamily="34" charset="-120"/>
                  </a:rPr>
                  <a:t>xlsx</a:t>
                </a:r>
                <a:endParaRPr sz="1125" b="1" dirty="0">
                  <a:solidFill>
                    <a:srgbClr val="1F7244"/>
                  </a:solidFill>
                  <a:latin typeface="微軟正黑體" panose="020B0604030504040204" pitchFamily="34" charset="-120"/>
                </a:endParaRPr>
              </a:p>
            </p:txBody>
          </p:sp>
          <p:pic>
            <p:nvPicPr>
              <p:cNvPr id="1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33330" y="4908352"/>
                <a:ext cx="243370" cy="243370"/>
              </a:xfrm>
              <a:prstGeom prst="rect">
                <a:avLst/>
              </a:prstGeom>
            </p:spPr>
          </p:pic>
        </p:grpSp>
      </p:grpSp>
      <p:sp>
        <p:nvSpPr>
          <p:cNvPr id="17" name="Rounded Rectangle 16"/>
          <p:cNvSpPr/>
          <p:nvPr/>
        </p:nvSpPr>
        <p:spPr>
          <a:xfrm>
            <a:off x="901700" y="4600000"/>
            <a:ext cx="10668000" cy="68000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ctr">
              <a:spcAft>
                <a:spcPts val="300"/>
              </a:spcAft>
              <a:defRPr sz="1150" b="1">
                <a:solidFill>
                  <a:srgbClr val="1E40AF"/>
                </a:solidFill>
                <a:latin typeface="微軟正黑體"/>
              </a:defRPr>
            </a:pPr>
            <a:r>
              <a:t>📚 時序去重理論依據：AAAI 2026 最新前沿 (Zhao et al.)</a:t>
            </a:r>
          </a:p>
          <a:p>
            <a:pPr>
              <a:lnSpc>
                <a:spcPct val="115000"/>
              </a:lnSpc>
              <a:spcAft>
                <a:spcPts val="200"/>
              </a:spcAft>
              <a:defRPr sz="950">
                <a:solidFill>
                  <a:srgbClr val="1E293B"/>
                </a:solidFill>
                <a:latin typeface="微軟正黑體"/>
              </a:defRPr>
            </a:pPr>
            <a:r>
              <a:t>• AAAI 2026《Temporal Calibrating and Distilling for Scene-Text Aware Text-Video Retrieval》提出「視窗 OCR 字幕器（Window-OCR Captioner）」與時序冗餘蒸餾模組，證實滑動時間窗與生命週期狀態表能根除相鄰影格 OCR 抖動與重複碎片，有效聚合率躍升至 83.56%。</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aphicFrame>
        <p:nvGraphicFramePr>
          <p:cNvPr id="17" name="Chart 1"/>
          <p:cNvGraphicFramePr>
            <a:graphicFrameLocks/>
          </p:cNvGraphicFramePr>
          <p:nvPr>
            <p:extLst>
              <p:ext uri="{D42A27DB-BD31-4B8C-83A1-F6EECF244321}">
                <p14:modId xmlns:p14="http://schemas.microsoft.com/office/powerpoint/2010/main" val="2332304162"/>
              </p:ext>
            </p:extLst>
          </p:nvPr>
        </p:nvGraphicFramePr>
        <p:xfrm>
          <a:off x="-1" y="0"/>
          <a:ext cx="5777023" cy="36068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 name="Chart 2"/>
          <p:cNvGraphicFramePr>
            <a:graphicFrameLocks/>
          </p:cNvGraphicFramePr>
          <p:nvPr>
            <p:extLst>
              <p:ext uri="{D42A27DB-BD31-4B8C-83A1-F6EECF244321}">
                <p14:modId xmlns:p14="http://schemas.microsoft.com/office/powerpoint/2010/main" val="3012670448"/>
              </p:ext>
            </p:extLst>
          </p:nvPr>
        </p:nvGraphicFramePr>
        <p:xfrm>
          <a:off x="6796800" y="0"/>
          <a:ext cx="5400000" cy="3672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604801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7" name="圖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190441" cy="6858000"/>
          </a:xfrm>
          <a:prstGeom prst="rect">
            <a:avLst/>
          </a:prstGeom>
        </p:spPr>
      </p:pic>
      <p:graphicFrame>
        <p:nvGraphicFramePr>
          <p:cNvPr id="20" name="表格 19"/>
          <p:cNvGraphicFramePr>
            <a:graphicFrameLocks noGrp="1"/>
          </p:cNvGraphicFramePr>
          <p:nvPr>
            <p:extLst>
              <p:ext uri="{D42A27DB-BD31-4B8C-83A1-F6EECF244321}">
                <p14:modId xmlns:p14="http://schemas.microsoft.com/office/powerpoint/2010/main" val="3549680893"/>
              </p:ext>
            </p:extLst>
          </p:nvPr>
        </p:nvGraphicFramePr>
        <p:xfrm>
          <a:off x="3190441" y="1"/>
          <a:ext cx="5754676" cy="3685032"/>
        </p:xfrm>
        <a:graphic>
          <a:graphicData uri="http://schemas.openxmlformats.org/drawingml/2006/table">
            <a:tbl>
              <a:tblPr firstRow="1">
                <a:tableStyleId>{5C22544A-7EE6-4342-B048-85BDC9FD1C3A}</a:tableStyleId>
              </a:tblPr>
              <a:tblGrid>
                <a:gridCol w="1838759">
                  <a:extLst>
                    <a:ext uri="{9D8B030D-6E8A-4147-A177-3AD203B41FA5}">
                      <a16:colId xmlns:a16="http://schemas.microsoft.com/office/drawing/2014/main" val="3817689725"/>
                    </a:ext>
                  </a:extLst>
                </a:gridCol>
                <a:gridCol w="1038579">
                  <a:extLst>
                    <a:ext uri="{9D8B030D-6E8A-4147-A177-3AD203B41FA5}">
                      <a16:colId xmlns:a16="http://schemas.microsoft.com/office/drawing/2014/main" val="2489884524"/>
                    </a:ext>
                  </a:extLst>
                </a:gridCol>
                <a:gridCol w="1076733">
                  <a:extLst>
                    <a:ext uri="{9D8B030D-6E8A-4147-A177-3AD203B41FA5}">
                      <a16:colId xmlns:a16="http://schemas.microsoft.com/office/drawing/2014/main" val="3332132754"/>
                    </a:ext>
                  </a:extLst>
                </a:gridCol>
                <a:gridCol w="1800605">
                  <a:extLst>
                    <a:ext uri="{9D8B030D-6E8A-4147-A177-3AD203B41FA5}">
                      <a16:colId xmlns:a16="http://schemas.microsoft.com/office/drawing/2014/main" val="3549084589"/>
                    </a:ext>
                  </a:extLst>
                </a:gridCol>
              </a:tblGrid>
              <a:tr h="614172">
                <a:tc>
                  <a:txBody>
                    <a:bodyPr/>
                    <a:lstStyle/>
                    <a:p>
                      <a:pPr marL="0" algn="ctr" defTabSz="457200" rtl="0" eaLnBrk="1" fontAlgn="b" latinLnBrk="0" hangingPunct="1"/>
                      <a:r>
                        <a:rPr lang="zh-TW" altLang="en-US" sz="1100" u="none" strike="noStrike" kern="1200" dirty="0" smtClean="0">
                          <a:effectLst/>
                        </a:rPr>
                        <a:t>評估指標</a:t>
                      </a:r>
                      <a:endParaRPr lang="en-US"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zh-TW" altLang="en-US" sz="1100" u="none" strike="noStrike" kern="1200" dirty="0" smtClean="0">
                          <a:effectLst/>
                        </a:rPr>
                        <a:t>原始方法</a:t>
                      </a:r>
                      <a:endParaRPr lang="en-US" altLang="zh-TW"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zh-TW" altLang="en-US" sz="1100" u="none" strike="noStrike" kern="1200" dirty="0">
                          <a:effectLst/>
                        </a:rPr>
                        <a:t>優</a:t>
                      </a:r>
                      <a:r>
                        <a:rPr lang="zh-TW" altLang="en-US" sz="1100" u="none" strike="noStrike" kern="1200" dirty="0" smtClean="0">
                          <a:effectLst/>
                        </a:rPr>
                        <a:t>化方法</a:t>
                      </a:r>
                      <a:endParaRPr lang="en-US" altLang="zh-TW"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zh-TW" altLang="en-US" sz="1100" u="none" strike="noStrike" kern="1200" dirty="0">
                          <a:effectLst/>
                        </a:rPr>
                        <a:t>差異</a:t>
                      </a:r>
                      <a:r>
                        <a:rPr lang="zh-TW" altLang="en-US" sz="1100" u="none" strike="noStrike" kern="1200" dirty="0" smtClean="0">
                          <a:effectLst/>
                        </a:rPr>
                        <a:t>與效益</a:t>
                      </a:r>
                      <a:endParaRPr lang="zh-TW" altLang="en-US" sz="1100" u="none" strike="noStrike" kern="1200" dirty="0">
                        <a:solidFill>
                          <a:schemeClr val="dk1"/>
                        </a:solidFill>
                        <a:effectLst/>
                        <a:latin typeface="+mn-lt"/>
                        <a:ea typeface="+mn-ea"/>
                        <a:cs typeface="+mn-cs"/>
                      </a:endParaRPr>
                    </a:p>
                  </a:txBody>
                  <a:tcPr marL="65404" marR="65404" marT="32702" marB="32702" anchor="ctr"/>
                </a:tc>
                <a:extLst>
                  <a:ext uri="{0D108BD9-81ED-4DB2-BD59-A6C34878D82A}">
                    <a16:rowId xmlns:a16="http://schemas.microsoft.com/office/drawing/2014/main" val="3563193521"/>
                  </a:ext>
                </a:extLst>
              </a:tr>
              <a:tr h="614172">
                <a:tc>
                  <a:txBody>
                    <a:bodyPr/>
                    <a:lstStyle/>
                    <a:p>
                      <a:pPr marL="0" algn="ctr" defTabSz="457200" rtl="0" eaLnBrk="1" fontAlgn="b" latinLnBrk="0" hangingPunct="1"/>
                      <a:r>
                        <a:rPr lang="en-US" altLang="zh-TW" sz="1100" u="none" strike="noStrike" kern="1200" dirty="0" smtClean="0">
                          <a:effectLst/>
                        </a:rPr>
                        <a:t>OCR </a:t>
                      </a:r>
                      <a:r>
                        <a:rPr lang="zh-TW" altLang="en-US" sz="1100" u="none" strike="noStrike" kern="1200" dirty="0">
                          <a:effectLst/>
                        </a:rPr>
                        <a:t>辨識</a:t>
                      </a:r>
                      <a:r>
                        <a:rPr lang="zh-TW" altLang="en-US" sz="1100" u="none" strike="noStrike" kern="1200" dirty="0" smtClean="0">
                          <a:effectLst/>
                        </a:rPr>
                        <a:t>數</a:t>
                      </a:r>
                      <a:endParaRPr lang="zh-TW" altLang="en-US"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en-US" altLang="zh-TW" sz="1100" u="none" strike="noStrike" kern="1200" dirty="0">
                          <a:effectLst/>
                        </a:rPr>
                        <a:t>2,569 </a:t>
                      </a:r>
                      <a:r>
                        <a:rPr lang="zh-TW" altLang="en-US" sz="1100" u="none" strike="noStrike" kern="1200" dirty="0">
                          <a:effectLst/>
                        </a:rPr>
                        <a:t>筆</a:t>
                      </a:r>
                      <a:endParaRPr lang="zh-TW" altLang="en-US"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en-US" altLang="zh-TW" sz="1100" u="none" strike="noStrike" kern="1200" dirty="0">
                          <a:effectLst/>
                        </a:rPr>
                        <a:t>2,569 </a:t>
                      </a:r>
                      <a:r>
                        <a:rPr lang="zh-TW" altLang="en-US" sz="1100" u="none" strike="noStrike" kern="1200" dirty="0">
                          <a:effectLst/>
                        </a:rPr>
                        <a:t>筆</a:t>
                      </a:r>
                      <a:endParaRPr lang="zh-TW" altLang="en-US"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zh-TW" altLang="en-US" sz="1100" dirty="0" smtClean="0"/>
                        <a:t>控制變因</a:t>
                      </a:r>
                      <a:endParaRPr lang="zh-TW" altLang="en-US" sz="1100" u="none" strike="noStrike" kern="1200" dirty="0">
                        <a:solidFill>
                          <a:schemeClr val="dk1"/>
                        </a:solidFill>
                        <a:effectLst/>
                        <a:latin typeface="+mn-lt"/>
                        <a:ea typeface="+mn-ea"/>
                        <a:cs typeface="+mn-cs"/>
                      </a:endParaRPr>
                    </a:p>
                  </a:txBody>
                  <a:tcPr marL="65404" marR="65404" marT="32702" marB="32702" anchor="ctr"/>
                </a:tc>
                <a:extLst>
                  <a:ext uri="{0D108BD9-81ED-4DB2-BD59-A6C34878D82A}">
                    <a16:rowId xmlns:a16="http://schemas.microsoft.com/office/drawing/2014/main" val="838332705"/>
                  </a:ext>
                </a:extLst>
              </a:tr>
              <a:tr h="614172">
                <a:tc>
                  <a:txBody>
                    <a:bodyPr/>
                    <a:lstStyle/>
                    <a:p>
                      <a:pPr marL="0" algn="ctr" defTabSz="457200" rtl="0" eaLnBrk="1" fontAlgn="b" latinLnBrk="0" hangingPunct="1"/>
                      <a:r>
                        <a:rPr lang="zh-TW" altLang="en-US" sz="1100" u="none" strike="noStrike" kern="1200" dirty="0">
                          <a:effectLst/>
                        </a:rPr>
                        <a:t>去重</a:t>
                      </a:r>
                      <a:r>
                        <a:rPr lang="zh-TW" altLang="en-US" sz="1100" u="none" strike="noStrike" kern="1200" dirty="0" smtClean="0">
                          <a:effectLst/>
                        </a:rPr>
                        <a:t>後字數</a:t>
                      </a:r>
                      <a:endParaRPr lang="zh-TW" altLang="en-US"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en-US" altLang="zh-TW" sz="1100" u="none" strike="noStrike" kern="1200" dirty="0">
                          <a:effectLst/>
                        </a:rPr>
                        <a:t>2,443 </a:t>
                      </a:r>
                      <a:r>
                        <a:rPr lang="zh-TW" altLang="en-US" sz="1100" u="none" strike="noStrike" kern="1200" dirty="0">
                          <a:effectLst/>
                        </a:rPr>
                        <a:t>筆</a:t>
                      </a:r>
                      <a:endParaRPr lang="zh-TW" altLang="en-US"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en-US" altLang="zh-TW" sz="1100" u="none" strike="noStrike" kern="1200" dirty="0">
                          <a:effectLst/>
                        </a:rPr>
                        <a:t>225 </a:t>
                      </a:r>
                      <a:r>
                        <a:rPr lang="zh-TW" altLang="en-US" sz="1100" u="none" strike="noStrike" kern="1200" dirty="0">
                          <a:effectLst/>
                        </a:rPr>
                        <a:t>筆</a:t>
                      </a:r>
                      <a:endParaRPr lang="zh-TW" altLang="en-US"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zh-TW" altLang="en-US" sz="1100" u="none" strike="noStrike" kern="1200" dirty="0" smtClean="0">
                          <a:effectLst/>
                        </a:rPr>
                        <a:t>下降↓ </a:t>
                      </a:r>
                      <a:r>
                        <a:rPr lang="en-US" altLang="zh-TW" sz="1100" u="none" strike="noStrike" kern="1200" dirty="0">
                          <a:effectLst/>
                        </a:rPr>
                        <a:t>90.8</a:t>
                      </a:r>
                      <a:r>
                        <a:rPr lang="en-US" altLang="zh-TW" sz="1100" u="none" strike="noStrike" kern="1200" dirty="0" smtClean="0">
                          <a:effectLst/>
                        </a:rPr>
                        <a:t>%</a:t>
                      </a:r>
                      <a:endParaRPr lang="zh-TW" altLang="en-US" sz="1100" u="none" strike="noStrike" kern="1200" dirty="0">
                        <a:solidFill>
                          <a:schemeClr val="dk1"/>
                        </a:solidFill>
                        <a:effectLst/>
                        <a:latin typeface="+mn-lt"/>
                        <a:ea typeface="+mn-ea"/>
                        <a:cs typeface="+mn-cs"/>
                      </a:endParaRPr>
                    </a:p>
                  </a:txBody>
                  <a:tcPr marL="65404" marR="65404" marT="32702" marB="32702" anchor="ctr"/>
                </a:tc>
                <a:extLst>
                  <a:ext uri="{0D108BD9-81ED-4DB2-BD59-A6C34878D82A}">
                    <a16:rowId xmlns:a16="http://schemas.microsoft.com/office/drawing/2014/main" val="3960530793"/>
                  </a:ext>
                </a:extLst>
              </a:tr>
              <a:tr h="614172">
                <a:tc>
                  <a:txBody>
                    <a:bodyPr/>
                    <a:lstStyle/>
                    <a:p>
                      <a:pPr marL="0" algn="ctr" defTabSz="457200" rtl="0" eaLnBrk="1" fontAlgn="b" latinLnBrk="0" hangingPunct="1"/>
                      <a:r>
                        <a:rPr lang="zh-TW" altLang="en-US" sz="1100" u="none" strike="noStrike" kern="1200" dirty="0" smtClean="0">
                          <a:effectLst/>
                        </a:rPr>
                        <a:t>輸入壓縮率</a:t>
                      </a:r>
                      <a:endParaRPr lang="en-US"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en-US" altLang="zh-TW" sz="1100" u="none" strike="noStrike" kern="1200" dirty="0">
                          <a:effectLst/>
                        </a:rPr>
                        <a:t>4.90%</a:t>
                      </a:r>
                      <a:endParaRPr lang="zh-TW" altLang="en-US"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en-US" altLang="zh-TW" sz="1100" u="none" strike="noStrike" kern="1200" dirty="0">
                          <a:effectLst/>
                        </a:rPr>
                        <a:t>91.24%</a:t>
                      </a:r>
                      <a:endParaRPr lang="zh-TW" altLang="en-US"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zh-TW" altLang="en-US" sz="1100" u="none" strike="noStrike" kern="1200" dirty="0" smtClean="0">
                          <a:effectLst/>
                        </a:rPr>
                        <a:t>提升↑ </a:t>
                      </a:r>
                      <a:r>
                        <a:rPr lang="en-US" altLang="zh-TW" sz="1100" u="none" strike="noStrike" kern="1200" dirty="0" smtClean="0">
                          <a:effectLst/>
                        </a:rPr>
                        <a:t>+86.34%</a:t>
                      </a:r>
                      <a:endParaRPr lang="zh-TW" altLang="en-US" sz="1100" u="none" strike="noStrike" kern="1200" dirty="0">
                        <a:solidFill>
                          <a:schemeClr val="dk1"/>
                        </a:solidFill>
                        <a:effectLst/>
                        <a:latin typeface="+mn-lt"/>
                        <a:ea typeface="+mn-ea"/>
                        <a:cs typeface="+mn-cs"/>
                      </a:endParaRPr>
                    </a:p>
                  </a:txBody>
                  <a:tcPr marL="65404" marR="65404" marT="32702" marB="32702" anchor="ctr"/>
                </a:tc>
                <a:extLst>
                  <a:ext uri="{0D108BD9-81ED-4DB2-BD59-A6C34878D82A}">
                    <a16:rowId xmlns:a16="http://schemas.microsoft.com/office/drawing/2014/main" val="2106903845"/>
                  </a:ext>
                </a:extLst>
              </a:tr>
              <a:tr h="614172">
                <a:tc>
                  <a:txBody>
                    <a:bodyPr/>
                    <a:lstStyle/>
                    <a:p>
                      <a:pPr marL="0" algn="ctr" defTabSz="457200" rtl="0" eaLnBrk="1" fontAlgn="b" latinLnBrk="0" hangingPunct="1"/>
                      <a:r>
                        <a:rPr lang="en-US" altLang="zh-TW" sz="1100" u="none" strike="noStrike" kern="1200" dirty="0">
                          <a:effectLst/>
                        </a:rPr>
                        <a:t>0 </a:t>
                      </a:r>
                      <a:r>
                        <a:rPr lang="zh-TW" altLang="en-US" sz="1100" u="none" strike="noStrike" kern="1200" dirty="0">
                          <a:effectLst/>
                        </a:rPr>
                        <a:t>秒碎片佔</a:t>
                      </a:r>
                      <a:r>
                        <a:rPr lang="zh-TW" altLang="en-US" sz="1100" u="none" strike="noStrike" kern="1200" dirty="0" smtClean="0">
                          <a:effectLst/>
                        </a:rPr>
                        <a:t>比</a:t>
                      </a:r>
                      <a:endParaRPr lang="en-US"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en-US" altLang="zh-TW" sz="1100" u="none" strike="noStrike" kern="1200" dirty="0">
                          <a:effectLst/>
                        </a:rPr>
                        <a:t>99.18</a:t>
                      </a:r>
                      <a:r>
                        <a:rPr lang="en-US" altLang="zh-TW" sz="1100" u="none" strike="noStrike" kern="1200" dirty="0" smtClean="0">
                          <a:effectLst/>
                        </a:rPr>
                        <a:t>%</a:t>
                      </a:r>
                    </a:p>
                    <a:p>
                      <a:pPr marL="0" algn="ctr" defTabSz="457200" rtl="0" eaLnBrk="1" fontAlgn="b" latinLnBrk="0" hangingPunct="1"/>
                      <a:r>
                        <a:rPr lang="en-US" altLang="zh-TW" sz="1100" u="none" strike="noStrike" kern="1200" dirty="0" smtClean="0">
                          <a:effectLst/>
                        </a:rPr>
                        <a:t>(</a:t>
                      </a:r>
                      <a:r>
                        <a:rPr lang="en-US" altLang="zh-TW" sz="1100" u="none" strike="noStrike" kern="1200" dirty="0">
                          <a:effectLst/>
                        </a:rPr>
                        <a:t>2,424</a:t>
                      </a:r>
                      <a:r>
                        <a:rPr lang="zh-TW" altLang="en-US" sz="1100" u="none" strike="noStrike" kern="1200" dirty="0">
                          <a:effectLst/>
                        </a:rPr>
                        <a:t>筆</a:t>
                      </a:r>
                      <a:r>
                        <a:rPr lang="en-US" altLang="zh-TW" sz="1100" u="none" strike="noStrike" kern="1200" dirty="0">
                          <a:effectLst/>
                        </a:rPr>
                        <a:t>)</a:t>
                      </a:r>
                      <a:endParaRPr lang="en-US" altLang="zh-TW"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en-US" altLang="zh-TW" sz="1100" u="none" strike="noStrike" kern="1200" dirty="0">
                          <a:effectLst/>
                        </a:rPr>
                        <a:t>16.44</a:t>
                      </a:r>
                      <a:r>
                        <a:rPr lang="en-US" altLang="zh-TW" sz="1100" u="none" strike="noStrike" kern="1200" dirty="0" smtClean="0">
                          <a:effectLst/>
                        </a:rPr>
                        <a:t>%</a:t>
                      </a:r>
                    </a:p>
                    <a:p>
                      <a:pPr marL="0" algn="ctr" defTabSz="457200" rtl="0" eaLnBrk="1" fontAlgn="b" latinLnBrk="0" hangingPunct="1"/>
                      <a:r>
                        <a:rPr lang="en-US" altLang="zh-TW" sz="1100" u="none" strike="noStrike" kern="1200" dirty="0" smtClean="0">
                          <a:effectLst/>
                        </a:rPr>
                        <a:t>(</a:t>
                      </a:r>
                      <a:r>
                        <a:rPr lang="en-US" altLang="zh-TW" sz="1100" u="none" strike="noStrike" kern="1200" dirty="0">
                          <a:effectLst/>
                        </a:rPr>
                        <a:t>37</a:t>
                      </a:r>
                      <a:r>
                        <a:rPr lang="zh-TW" altLang="en-US" sz="1100" u="none" strike="noStrike" kern="1200" dirty="0">
                          <a:effectLst/>
                        </a:rPr>
                        <a:t>筆</a:t>
                      </a:r>
                      <a:r>
                        <a:rPr lang="en-US" altLang="zh-TW" sz="1100" u="none" strike="noStrike" kern="1200" dirty="0">
                          <a:effectLst/>
                        </a:rPr>
                        <a:t>)</a:t>
                      </a:r>
                      <a:endParaRPr lang="en-US" altLang="zh-TW"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zh-TW" altLang="en-US" sz="1100" u="none" strike="noStrike" kern="1200" dirty="0" smtClean="0">
                          <a:effectLst/>
                        </a:rPr>
                        <a:t>下降↓ </a:t>
                      </a:r>
                      <a:r>
                        <a:rPr lang="en-US" altLang="zh-TW" sz="1100" u="none" strike="noStrike" kern="1200" dirty="0" smtClean="0">
                          <a:effectLst/>
                        </a:rPr>
                        <a:t>82.74%</a:t>
                      </a:r>
                      <a:endParaRPr lang="zh-TW" altLang="en-US" sz="1100" u="none" strike="noStrike" kern="1200" dirty="0">
                        <a:solidFill>
                          <a:schemeClr val="dk1"/>
                        </a:solidFill>
                        <a:effectLst/>
                        <a:latin typeface="+mn-lt"/>
                        <a:ea typeface="+mn-ea"/>
                        <a:cs typeface="+mn-cs"/>
                      </a:endParaRPr>
                    </a:p>
                  </a:txBody>
                  <a:tcPr marL="65404" marR="65404" marT="32702" marB="32702" anchor="ctr"/>
                </a:tc>
                <a:extLst>
                  <a:ext uri="{0D108BD9-81ED-4DB2-BD59-A6C34878D82A}">
                    <a16:rowId xmlns:a16="http://schemas.microsoft.com/office/drawing/2014/main" val="2422456151"/>
                  </a:ext>
                </a:extLst>
              </a:tr>
              <a:tr h="614172">
                <a:tc>
                  <a:txBody>
                    <a:bodyPr/>
                    <a:lstStyle/>
                    <a:p>
                      <a:pPr marL="0" algn="ctr" defTabSz="457200" rtl="0" eaLnBrk="1" fontAlgn="b" latinLnBrk="0" hangingPunct="1"/>
                      <a:r>
                        <a:rPr lang="it-IT" sz="1100" u="none" strike="noStrike" kern="1200" dirty="0" smtClean="0">
                          <a:effectLst/>
                        </a:rPr>
                        <a:t>多影格有效聚合率</a:t>
                      </a:r>
                      <a:endParaRPr lang="it-IT"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en-US" altLang="zh-TW" sz="1100" u="none" strike="noStrike" kern="1200" dirty="0">
                          <a:effectLst/>
                        </a:rPr>
                        <a:t>0.78%</a:t>
                      </a:r>
                      <a:r>
                        <a:rPr lang="zh-TW" altLang="en-US" sz="1100" u="none" strike="noStrike" kern="1200" dirty="0">
                          <a:effectLst/>
                        </a:rPr>
                        <a:t> </a:t>
                      </a:r>
                      <a:r>
                        <a:rPr lang="en-US" altLang="zh-TW" sz="1100" u="none" strike="noStrike" kern="1200" dirty="0">
                          <a:effectLst/>
                        </a:rPr>
                        <a:t>(19</a:t>
                      </a:r>
                      <a:r>
                        <a:rPr lang="zh-TW" altLang="en-US" sz="1100" u="none" strike="noStrike" kern="1200" dirty="0">
                          <a:effectLst/>
                        </a:rPr>
                        <a:t>筆</a:t>
                      </a:r>
                      <a:r>
                        <a:rPr lang="en-US" altLang="zh-TW" sz="1100" u="none" strike="noStrike" kern="1200" dirty="0">
                          <a:effectLst/>
                        </a:rPr>
                        <a:t>)</a:t>
                      </a:r>
                      <a:endParaRPr lang="en-US" altLang="zh-TW"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en-US" altLang="zh-TW" sz="1100" u="none" strike="noStrike" kern="1200" dirty="0">
                          <a:effectLst/>
                        </a:rPr>
                        <a:t>83.56%</a:t>
                      </a:r>
                      <a:r>
                        <a:rPr lang="zh-TW" altLang="en-US" sz="1100" u="none" strike="noStrike" kern="1200" dirty="0">
                          <a:effectLst/>
                        </a:rPr>
                        <a:t> </a:t>
                      </a:r>
                      <a:r>
                        <a:rPr lang="en-US" altLang="zh-TW" sz="1100" u="none" strike="noStrike" kern="1200" dirty="0">
                          <a:effectLst/>
                        </a:rPr>
                        <a:t>(188</a:t>
                      </a:r>
                      <a:r>
                        <a:rPr lang="zh-TW" altLang="en-US" sz="1100" u="none" strike="noStrike" kern="1200" dirty="0">
                          <a:effectLst/>
                        </a:rPr>
                        <a:t>筆</a:t>
                      </a:r>
                      <a:r>
                        <a:rPr lang="en-US" altLang="zh-TW" sz="1100" u="none" strike="noStrike" kern="1200" dirty="0">
                          <a:effectLst/>
                        </a:rPr>
                        <a:t>)</a:t>
                      </a:r>
                      <a:endParaRPr lang="en-US" altLang="zh-TW" sz="1100" u="none" strike="noStrike" kern="1200" dirty="0">
                        <a:solidFill>
                          <a:schemeClr val="dk1"/>
                        </a:solidFill>
                        <a:effectLst/>
                        <a:latin typeface="+mn-lt"/>
                        <a:ea typeface="+mn-ea"/>
                        <a:cs typeface="+mn-cs"/>
                      </a:endParaRPr>
                    </a:p>
                  </a:txBody>
                  <a:tcPr marL="65404" marR="65404" marT="32702" marB="32702" anchor="ctr"/>
                </a:tc>
                <a:tc>
                  <a:txBody>
                    <a:bodyPr/>
                    <a:lstStyle/>
                    <a:p>
                      <a:pPr marL="0" algn="ctr" defTabSz="457200" rtl="0" eaLnBrk="1" fontAlgn="b" latinLnBrk="0" hangingPunct="1"/>
                      <a:r>
                        <a:rPr lang="zh-TW" altLang="en-US" sz="1100" u="none" strike="noStrike" kern="1200" dirty="0" smtClean="0">
                          <a:effectLst/>
                        </a:rPr>
                        <a:t>提升↑ </a:t>
                      </a:r>
                      <a:r>
                        <a:rPr lang="en-US" altLang="zh-TW" sz="1100" u="none" strike="noStrike" kern="1200" dirty="0" smtClean="0">
                          <a:effectLst/>
                        </a:rPr>
                        <a:t>82.78%</a:t>
                      </a:r>
                      <a:endParaRPr lang="zh-TW" altLang="en-US" sz="1100" u="none" strike="noStrike" kern="1200" dirty="0">
                        <a:solidFill>
                          <a:schemeClr val="dk1"/>
                        </a:solidFill>
                        <a:effectLst/>
                        <a:latin typeface="+mn-lt"/>
                        <a:ea typeface="+mn-ea"/>
                        <a:cs typeface="+mn-cs"/>
                      </a:endParaRPr>
                    </a:p>
                  </a:txBody>
                  <a:tcPr marL="65404" marR="65404" marT="32702" marB="32702" anchor="ctr"/>
                </a:tc>
                <a:extLst>
                  <a:ext uri="{0D108BD9-81ED-4DB2-BD59-A6C34878D82A}">
                    <a16:rowId xmlns:a16="http://schemas.microsoft.com/office/drawing/2014/main" val="1770883837"/>
                  </a:ext>
                </a:extLst>
              </a:tr>
            </a:tbl>
          </a:graphicData>
        </a:graphic>
      </p:graphicFrame>
      <p:grpSp>
        <p:nvGrpSpPr>
          <p:cNvPr id="31" name="群組 30"/>
          <p:cNvGrpSpPr/>
          <p:nvPr/>
        </p:nvGrpSpPr>
        <p:grpSpPr>
          <a:xfrm>
            <a:off x="9001558" y="1"/>
            <a:ext cx="3190442" cy="6858000"/>
            <a:chOff x="8945114" y="1"/>
            <a:chExt cx="3190442" cy="6858000"/>
          </a:xfrm>
        </p:grpSpPr>
        <p:grpSp>
          <p:nvGrpSpPr>
            <p:cNvPr id="30" name="群組 29"/>
            <p:cNvGrpSpPr/>
            <p:nvPr/>
          </p:nvGrpSpPr>
          <p:grpSpPr>
            <a:xfrm>
              <a:off x="8945114" y="1"/>
              <a:ext cx="3190442" cy="6858000"/>
              <a:chOff x="8945114" y="1"/>
              <a:chExt cx="3190442" cy="6858000"/>
            </a:xfrm>
          </p:grpSpPr>
          <p:grpSp>
            <p:nvGrpSpPr>
              <p:cNvPr id="26" name="群組 25"/>
              <p:cNvGrpSpPr/>
              <p:nvPr/>
            </p:nvGrpSpPr>
            <p:grpSpPr>
              <a:xfrm>
                <a:off x="8945114" y="1"/>
                <a:ext cx="3190442" cy="6858000"/>
                <a:chOff x="-1" y="0"/>
                <a:chExt cx="3190442" cy="5392263"/>
              </a:xfrm>
            </p:grpSpPr>
            <p:pic>
              <p:nvPicPr>
                <p:cNvPr id="24" name="圖片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45028"/>
                  <a:ext cx="3190441" cy="4847235"/>
                </a:xfrm>
                <a:prstGeom prst="rect">
                  <a:avLst/>
                </a:prstGeom>
              </p:spPr>
            </p:pic>
            <p:sp>
              <p:nvSpPr>
                <p:cNvPr id="25" name="文字方塊 24"/>
                <p:cNvSpPr txBox="1"/>
                <p:nvPr/>
              </p:nvSpPr>
              <p:spPr>
                <a:xfrm>
                  <a:off x="-1" y="0"/>
                  <a:ext cx="3190441" cy="266196"/>
                </a:xfrm>
                <a:prstGeom prst="rect">
                  <a:avLst/>
                </a:prstGeom>
                <a:noFill/>
              </p:spPr>
              <p:txBody>
                <a:bodyPr wrap="square" rtlCol="0">
                  <a:spAutoFit/>
                </a:bodyPr>
                <a:lstStyle/>
                <a:p>
                  <a:pPr algn="ctr"/>
                  <a:r>
                    <a:rPr lang="zh-TW" altLang="en-US" sz="1600" dirty="0" smtClean="0"/>
                    <a:t>優化方案</a:t>
                  </a:r>
                  <a:endParaRPr lang="zh-TW" altLang="en-US" sz="1600" dirty="0"/>
                </a:p>
              </p:txBody>
            </p:sp>
          </p:grpSp>
          <p:sp>
            <p:nvSpPr>
              <p:cNvPr id="29" name="矩形 28"/>
              <p:cNvSpPr/>
              <p:nvPr/>
            </p:nvSpPr>
            <p:spPr>
              <a:xfrm>
                <a:off x="10170766" y="2456689"/>
                <a:ext cx="674399" cy="231266"/>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dirty="0"/>
              </a:p>
            </p:txBody>
          </p:sp>
        </p:grpSp>
        <p:sp>
          <p:nvSpPr>
            <p:cNvPr id="27" name="文字方塊 26"/>
            <p:cNvSpPr txBox="1"/>
            <p:nvPr/>
          </p:nvSpPr>
          <p:spPr>
            <a:xfrm>
              <a:off x="9856072" y="2384800"/>
              <a:ext cx="1303785" cy="261610"/>
            </a:xfrm>
            <a:prstGeom prst="rect">
              <a:avLst/>
            </a:prstGeom>
            <a:noFill/>
          </p:spPr>
          <p:txBody>
            <a:bodyPr wrap="square" rtlCol="0">
              <a:spAutoFit/>
            </a:bodyPr>
            <a:lstStyle/>
            <a:p>
              <a:pPr algn="ctr"/>
              <a:r>
                <a:rPr lang="zh-TW" altLang="en-US" sz="1100" dirty="0">
                  <a:latin typeface="微軟正黑體" panose="020B0604030504040204" pitchFamily="34" charset="-120"/>
                  <a:ea typeface="微軟正黑體" panose="020B0604030504040204" pitchFamily="34" charset="-120"/>
                </a:rPr>
                <a:t>資料庫</a:t>
              </a:r>
              <a:r>
                <a:rPr lang="zh-TW" altLang="en-US" sz="1100" dirty="0" smtClean="0">
                  <a:latin typeface="微軟正黑體" panose="020B0604030504040204" pitchFamily="34" charset="-120"/>
                  <a:ea typeface="微軟正黑體" panose="020B0604030504040204" pitchFamily="34" charset="-120"/>
                </a:rPr>
                <a:t>檢索</a:t>
              </a:r>
              <a:endParaRPr lang="zh-TW" altLang="en-US" sz="1100" dirty="0">
                <a:latin typeface="微軟正黑體" panose="020B0604030504040204" pitchFamily="34" charset="-120"/>
                <a:ea typeface="微軟正黑體" panose="020B0604030504040204" pitchFamily="34" charset="-120"/>
              </a:endParaRPr>
            </a:p>
          </p:txBody>
        </p:sp>
      </p:grpSp>
      <p:graphicFrame>
        <p:nvGraphicFramePr>
          <p:cNvPr id="32" name="表格 31"/>
          <p:cNvGraphicFramePr>
            <a:graphicFrameLocks noGrp="1"/>
          </p:cNvGraphicFramePr>
          <p:nvPr>
            <p:extLst>
              <p:ext uri="{D42A27DB-BD31-4B8C-83A1-F6EECF244321}">
                <p14:modId xmlns:p14="http://schemas.microsoft.com/office/powerpoint/2010/main" val="294771597"/>
              </p:ext>
            </p:extLst>
          </p:nvPr>
        </p:nvGraphicFramePr>
        <p:xfrm>
          <a:off x="3190441" y="3685032"/>
          <a:ext cx="5754676" cy="3172967"/>
        </p:xfrm>
        <a:graphic>
          <a:graphicData uri="http://schemas.openxmlformats.org/drawingml/2006/table">
            <a:tbl>
              <a:tblPr firstRow="1">
                <a:tableStyleId>{5C22544A-7EE6-4342-B048-85BDC9FD1C3A}</a:tableStyleId>
              </a:tblPr>
              <a:tblGrid>
                <a:gridCol w="5754676">
                  <a:extLst>
                    <a:ext uri="{9D8B030D-6E8A-4147-A177-3AD203B41FA5}">
                      <a16:colId xmlns:a16="http://schemas.microsoft.com/office/drawing/2014/main" val="4050833506"/>
                    </a:ext>
                  </a:extLst>
                </a:gridCol>
              </a:tblGrid>
              <a:tr h="723305">
                <a:tc>
                  <a:txBody>
                    <a:bodyPr/>
                    <a:lstStyle/>
                    <a:p>
                      <a:pPr marL="0" algn="ctr" defTabSz="457200" rtl="0" eaLnBrk="1" fontAlgn="b" latinLnBrk="0" hangingPunct="1"/>
                      <a:r>
                        <a:rPr lang="zh-TW" altLang="en-US" sz="1400" b="1" u="none" strike="noStrike" kern="1200" dirty="0" smtClean="0">
                          <a:solidFill>
                            <a:schemeClr val="dk1"/>
                          </a:solidFill>
                          <a:effectLst/>
                          <a:latin typeface="+mn-lt"/>
                          <a:ea typeface="+mn-ea"/>
                          <a:cs typeface="+mn-cs"/>
                        </a:rPr>
                        <a:t>結論</a:t>
                      </a:r>
                      <a:endParaRPr lang="zh-TW" altLang="en-US" sz="1400" b="1" u="none" strike="noStrike" kern="1200" dirty="0">
                        <a:solidFill>
                          <a:schemeClr val="dk1"/>
                        </a:solidFill>
                        <a:effectLst/>
                        <a:latin typeface="+mn-lt"/>
                        <a:ea typeface="+mn-ea"/>
                        <a:cs typeface="+mn-cs"/>
                      </a:endParaRPr>
                    </a:p>
                  </a:txBody>
                  <a:tcPr marL="0" marR="0" marT="0" marB="0" anchor="ctr"/>
                </a:tc>
                <a:extLst>
                  <a:ext uri="{0D108BD9-81ED-4DB2-BD59-A6C34878D82A}">
                    <a16:rowId xmlns:a16="http://schemas.microsoft.com/office/drawing/2014/main" val="3800184518"/>
                  </a:ext>
                </a:extLst>
              </a:tr>
              <a:tr h="2449662">
                <a:tc>
                  <a:txBody>
                    <a:bodyPr/>
                    <a:lstStyle/>
                    <a:p>
                      <a:pPr>
                        <a:defRPr sz="950">
                          <a:solidFill>
                            <a:srgbClr val="0F172A"/>
                          </a:solidFill>
                          <a:latin typeface="微軟正黑體"/>
                        </a:defRPr>
                      </a:pPr>
                      <a:r>
                        <a:t>基於狀態表與時間窗機制，成功提供了乾淨、連續且具備精確時間戳記的結構化語料。</a:t>
                      </a:r>
                    </a:p>
                    <a:p>
                      <a:pPr>
                        <a:defRPr sz="950">
                          <a:solidFill>
                            <a:srgbClr val="0F172A"/>
                          </a:solidFill>
                          <a:latin typeface="微軟正黑體"/>
                        </a:defRPr>
                      </a:pPr>
                    </a:p>
                    <a:p>
                      <a:pPr>
                        <a:defRPr sz="950">
                          <a:solidFill>
                            <a:srgbClr val="0F172A"/>
                          </a:solidFill>
                          <a:latin typeface="微軟正黑體"/>
                        </a:defRPr>
                      </a:pPr>
                      <a:r>
                        <a:t>【學術理論背書】AAAI 2026 (Zhao et al., TCD) 證實視訊密集場景文字存在「時序失準與重複冗餘」，本專案滑動時間窗聚合機制使多影格有效聚合率由 0.78% 躍升至 83.56%，0 秒碎片率下降 82.74%，為下游 NLP 提供高質量語料。</a:t>
                      </a:r>
                    </a:p>
                  </a:txBody>
                  <a:tcPr marL="0" marR="0" marT="0" marB="0" anchor="ctr"/>
                </a:tc>
                <a:extLst>
                  <a:ext uri="{0D108BD9-81ED-4DB2-BD59-A6C34878D82A}">
                    <a16:rowId xmlns:a16="http://schemas.microsoft.com/office/drawing/2014/main" val="2049637796"/>
                  </a:ext>
                </a:extLst>
              </a:tr>
            </a:tbl>
          </a:graphicData>
        </a:graphic>
      </p:graphicFrame>
    </p:spTree>
    <p:extLst>
      <p:ext uri="{BB962C8B-B14F-4D97-AF65-F5344CB8AC3E}">
        <p14:creationId xmlns:p14="http://schemas.microsoft.com/office/powerpoint/2010/main" val="9194926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1890712"/>
            <a:ext cx="1704975" cy="276225"/>
          </a:xfrm>
          <a:prstGeom prst="roundRect">
            <a:avLst>
              <a:gd name="adj" fmla="val 13793"/>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62000" y="3376612"/>
            <a:ext cx="3403550" cy="1590675"/>
          </a:xfrm>
          <a:prstGeom prst="roundRect">
            <a:avLst>
              <a:gd name="adj" fmla="val 718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94150" y="3376612"/>
            <a:ext cx="3403550" cy="1590675"/>
          </a:xfrm>
          <a:prstGeom prst="roundRect">
            <a:avLst>
              <a:gd name="adj" fmla="val 718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26300" y="3376612"/>
            <a:ext cx="3403550" cy="1590675"/>
          </a:xfrm>
          <a:prstGeom prst="roundRect">
            <a:avLst>
              <a:gd name="adj" fmla="val 718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6300" y="1947862"/>
            <a:ext cx="1571625" cy="161925"/>
          </a:xfrm>
          <a:prstGeom prst="rect">
            <a:avLst/>
          </a:prstGeom>
          <a:noFill/>
        </p:spPr>
        <p:txBody>
          <a:bodyPr wrap="square" lIns="0" tIns="0" rIns="0" bIns="0" anchor="t">
            <a:spAutoFit/>
          </a:bodyPr>
          <a:lstStyle/>
          <a:p>
            <a:pPr algn="l"/>
            <a:r>
              <a:rPr sz="1050" b="1" i="0" u="none">
                <a:solidFill>
                  <a:srgbClr val="334155"/>
                </a:solidFill>
                <a:latin typeface="微軟正黑體" panose="020B0604030504040204" pitchFamily="34" charset="-120"/>
                <a:ea typeface="微軟正黑體" panose="020B0604030504040204" pitchFamily="34" charset="-120"/>
              </a:rPr>
              <a:t>NLP ARCHITECTURE</a:t>
            </a:r>
          </a:p>
        </p:txBody>
      </p:sp>
      <p:sp>
        <p:nvSpPr>
          <p:cNvPr id="7" name="TextBox 6"/>
          <p:cNvSpPr txBox="1"/>
          <p:nvPr/>
        </p:nvSpPr>
        <p:spPr>
          <a:xfrm>
            <a:off x="762000" y="2395537"/>
            <a:ext cx="3847207" cy="461665"/>
          </a:xfrm>
          <a:prstGeom prst="rect">
            <a:avLst/>
          </a:prstGeom>
          <a:noFill/>
        </p:spPr>
        <p:txBody>
          <a:bodyPr wrap="none" lIns="0" tIns="0" rIns="0" bIns="0" anchor="t">
            <a:spAutoFit/>
          </a:bodyPr>
          <a:lstStyle/>
          <a:p>
            <a:pPr algn="l"/>
            <a:r>
              <a:rPr sz="3000" b="1" i="0" u="none">
                <a:solidFill>
                  <a:srgbClr val="0F172A"/>
                </a:solidFill>
                <a:latin typeface="微軟正黑體" panose="020B0604030504040204" pitchFamily="34" charset="-120"/>
                <a:ea typeface="微軟正黑體" panose="020B0604030504040204" pitchFamily="34" charset="-120"/>
              </a:rPr>
              <a:t>多通道競爭與實證留存</a:t>
            </a:r>
          </a:p>
        </p:txBody>
      </p:sp>
      <p:sp>
        <p:nvSpPr>
          <p:cNvPr id="8" name="TextBox 7"/>
          <p:cNvSpPr txBox="1"/>
          <p:nvPr/>
        </p:nvSpPr>
        <p:spPr>
          <a:xfrm>
            <a:off x="1066800" y="3681412"/>
            <a:ext cx="852798" cy="161583"/>
          </a:xfrm>
          <a:prstGeom prst="rect">
            <a:avLst/>
          </a:prstGeom>
          <a:noFill/>
        </p:spPr>
        <p:txBody>
          <a:bodyPr wrap="none" lIns="0" tIns="0" rIns="0" bIns="0" anchor="t">
            <a:spAutoFit/>
          </a:bodyPr>
          <a:lstStyle/>
          <a:p>
            <a:pPr algn="l"/>
            <a:r>
              <a:rPr sz="1050" b="1" i="0" u="none">
                <a:solidFill>
                  <a:srgbClr val="3B82F6"/>
                </a:solidFill>
                <a:latin typeface="微軟正黑體" panose="020B0604030504040204" pitchFamily="34" charset="-120"/>
                <a:ea typeface="微軟正黑體" panose="020B0604030504040204" pitchFamily="34" charset="-120"/>
              </a:rPr>
              <a:t>CHANNEL 01</a:t>
            </a:r>
          </a:p>
        </p:txBody>
      </p:sp>
      <p:sp>
        <p:nvSpPr>
          <p:cNvPr id="9" name="TextBox 8"/>
          <p:cNvSpPr txBox="1"/>
          <p:nvPr/>
        </p:nvSpPr>
        <p:spPr>
          <a:xfrm>
            <a:off x="1066800" y="3995737"/>
            <a:ext cx="1904367" cy="253916"/>
          </a:xfrm>
          <a:prstGeom prst="rect">
            <a:avLst/>
          </a:prstGeom>
          <a:noFill/>
        </p:spPr>
        <p:txBody>
          <a:bodyPr wrap="none" lIns="0" tIns="0" rIns="0" bIns="0" anchor="t">
            <a:spAutoFit/>
          </a:bodyPr>
          <a:lstStyle/>
          <a:p>
            <a:pPr algn="l"/>
            <a:r>
              <a:rPr sz="1650" b="1" i="0" u="none">
                <a:solidFill>
                  <a:srgbClr val="0F172A"/>
                </a:solidFill>
                <a:latin typeface="微軟正黑體" panose="020B0604030504040204" pitchFamily="34" charset="-120"/>
                <a:ea typeface="微軟正黑體" panose="020B0604030504040204" pitchFamily="34" charset="-120"/>
              </a:rPr>
              <a:t>傳統引擎＋本地字典</a:t>
            </a:r>
          </a:p>
        </p:txBody>
      </p:sp>
      <p:sp>
        <p:nvSpPr>
          <p:cNvPr id="10" name="TextBox 9"/>
          <p:cNvSpPr txBox="1"/>
          <p:nvPr/>
        </p:nvSpPr>
        <p:spPr>
          <a:xfrm>
            <a:off x="1066800" y="4433887"/>
            <a:ext cx="1904367" cy="207749"/>
          </a:xfrm>
          <a:prstGeom prst="rect">
            <a:avLst/>
          </a:prstGeom>
          <a:noFill/>
        </p:spPr>
        <p:txBody>
          <a:bodyPr wrap="none" lIns="0" tIns="0" rIns="0" bIns="0" anchor="t">
            <a:spAutoFit/>
          </a:bodyPr>
          <a:lstStyle/>
          <a:p>
            <a:pPr algn="l"/>
            <a:r>
              <a:rPr sz="1350" b="0" i="0" u="none">
                <a:solidFill>
                  <a:srgbClr val="475569"/>
                </a:solidFill>
                <a:latin typeface="微軟正黑體" panose="020B0604030504040204" pitchFamily="34" charset="-120"/>
                <a:ea typeface="微軟正黑體" panose="020B0604030504040204" pitchFamily="34" charset="-120"/>
              </a:rPr>
              <a:t>追求極致穩定與低延遲。</a:t>
            </a:r>
          </a:p>
        </p:txBody>
      </p:sp>
      <p:sp>
        <p:nvSpPr>
          <p:cNvPr id="11" name="TextBox 10"/>
          <p:cNvSpPr txBox="1"/>
          <p:nvPr/>
        </p:nvSpPr>
        <p:spPr>
          <a:xfrm>
            <a:off x="4698950" y="3681412"/>
            <a:ext cx="852798" cy="161583"/>
          </a:xfrm>
          <a:prstGeom prst="rect">
            <a:avLst/>
          </a:prstGeom>
          <a:noFill/>
        </p:spPr>
        <p:txBody>
          <a:bodyPr wrap="none" lIns="0" tIns="0" rIns="0" bIns="0" anchor="t">
            <a:spAutoFit/>
          </a:bodyPr>
          <a:lstStyle/>
          <a:p>
            <a:pPr algn="l"/>
            <a:r>
              <a:rPr sz="1050" b="1" i="0" u="none">
                <a:solidFill>
                  <a:srgbClr val="3B82F6"/>
                </a:solidFill>
                <a:latin typeface="微軟正黑體" panose="020B0604030504040204" pitchFamily="34" charset="-120"/>
                <a:ea typeface="微軟正黑體" panose="020B0604030504040204" pitchFamily="34" charset="-120"/>
              </a:rPr>
              <a:t>CHANNEL 02</a:t>
            </a:r>
          </a:p>
        </p:txBody>
      </p:sp>
      <p:sp>
        <p:nvSpPr>
          <p:cNvPr id="12" name="TextBox 11"/>
          <p:cNvSpPr txBox="1"/>
          <p:nvPr/>
        </p:nvSpPr>
        <p:spPr>
          <a:xfrm>
            <a:off x="4698950" y="3995737"/>
            <a:ext cx="1330492" cy="253916"/>
          </a:xfrm>
          <a:prstGeom prst="rect">
            <a:avLst/>
          </a:prstGeom>
          <a:noFill/>
        </p:spPr>
        <p:txBody>
          <a:bodyPr wrap="none" lIns="0" tIns="0" rIns="0" bIns="0" anchor="t">
            <a:spAutoFit/>
          </a:bodyPr>
          <a:lstStyle/>
          <a:p>
            <a:pPr algn="l"/>
            <a:r>
              <a:rPr sz="1650" b="1" i="0" u="none">
                <a:solidFill>
                  <a:srgbClr val="0F172A"/>
                </a:solidFill>
                <a:latin typeface="微軟正黑體" panose="020B0604030504040204" pitchFamily="34" charset="-120"/>
                <a:ea typeface="微軟正黑體" panose="020B0604030504040204" pitchFamily="34" charset="-120"/>
              </a:rPr>
              <a:t>LLM 單軌處理</a:t>
            </a:r>
          </a:p>
        </p:txBody>
      </p:sp>
      <p:sp>
        <p:nvSpPr>
          <p:cNvPr id="13" name="TextBox 12"/>
          <p:cNvSpPr txBox="1"/>
          <p:nvPr/>
        </p:nvSpPr>
        <p:spPr>
          <a:xfrm>
            <a:off x="4698950" y="4433887"/>
            <a:ext cx="1904367" cy="207749"/>
          </a:xfrm>
          <a:prstGeom prst="rect">
            <a:avLst/>
          </a:prstGeom>
          <a:noFill/>
        </p:spPr>
        <p:txBody>
          <a:bodyPr wrap="none" lIns="0" tIns="0" rIns="0" bIns="0" anchor="t">
            <a:spAutoFit/>
          </a:bodyPr>
          <a:lstStyle/>
          <a:p>
            <a:pPr algn="l"/>
            <a:r>
              <a:rPr sz="1350" b="0" i="0" u="none">
                <a:solidFill>
                  <a:srgbClr val="475569"/>
                </a:solidFill>
                <a:latin typeface="微軟正黑體" panose="020B0604030504040204" pitchFamily="34" charset="-120"/>
                <a:ea typeface="微軟正黑體" panose="020B0604030504040204" pitchFamily="34" charset="-120"/>
              </a:rPr>
              <a:t>測試一站式擴充可行性。</a:t>
            </a:r>
          </a:p>
        </p:txBody>
      </p:sp>
      <p:sp>
        <p:nvSpPr>
          <p:cNvPr id="14" name="TextBox 13"/>
          <p:cNvSpPr txBox="1"/>
          <p:nvPr/>
        </p:nvSpPr>
        <p:spPr>
          <a:xfrm>
            <a:off x="8331100" y="3681412"/>
            <a:ext cx="1490793" cy="161583"/>
          </a:xfrm>
          <a:prstGeom prst="rect">
            <a:avLst/>
          </a:prstGeom>
          <a:noFill/>
        </p:spPr>
        <p:txBody>
          <a:bodyPr wrap="none" lIns="0" tIns="0" rIns="0" bIns="0" anchor="t">
            <a:spAutoFit/>
          </a:bodyPr>
          <a:lstStyle/>
          <a:p>
            <a:pPr algn="l"/>
            <a:r>
              <a:rPr sz="1050" b="1" i="0" u="none">
                <a:solidFill>
                  <a:srgbClr val="0F172A"/>
                </a:solidFill>
                <a:latin typeface="微軟正黑體" panose="020B0604030504040204" pitchFamily="34" charset="-120"/>
                <a:ea typeface="微軟正黑體" panose="020B0604030504040204" pitchFamily="34" charset="-120"/>
              </a:rPr>
              <a:t>CHANNEL 03 (HYBRID)</a:t>
            </a:r>
          </a:p>
        </p:txBody>
      </p:sp>
      <p:sp>
        <p:nvSpPr>
          <p:cNvPr id="15" name="TextBox 14"/>
          <p:cNvSpPr txBox="1"/>
          <p:nvPr/>
        </p:nvSpPr>
        <p:spPr>
          <a:xfrm>
            <a:off x="8331100" y="3995737"/>
            <a:ext cx="1769459" cy="253916"/>
          </a:xfrm>
          <a:prstGeom prst="rect">
            <a:avLst/>
          </a:prstGeom>
          <a:noFill/>
        </p:spPr>
        <p:txBody>
          <a:bodyPr wrap="none" lIns="0" tIns="0" rIns="0" bIns="0" anchor="t">
            <a:spAutoFit/>
          </a:bodyPr>
          <a:lstStyle/>
          <a:p>
            <a:pPr algn="l"/>
            <a:r>
              <a:rPr sz="1650" b="1" i="0" u="none">
                <a:solidFill>
                  <a:srgbClr val="0F172A"/>
                </a:solidFill>
                <a:latin typeface="微軟正黑體" panose="020B0604030504040204" pitchFamily="34" charset="-120"/>
                <a:ea typeface="微軟正黑體" panose="020B0604030504040204" pitchFamily="34" charset="-120"/>
              </a:rPr>
              <a:t>混合 Fallback 架構</a:t>
            </a:r>
          </a:p>
        </p:txBody>
      </p:sp>
      <p:sp>
        <p:nvSpPr>
          <p:cNvPr id="16" name="TextBox 15"/>
          <p:cNvSpPr txBox="1"/>
          <p:nvPr/>
        </p:nvSpPr>
        <p:spPr>
          <a:xfrm>
            <a:off x="8331100" y="4433887"/>
            <a:ext cx="1904367" cy="207749"/>
          </a:xfrm>
          <a:prstGeom prst="rect">
            <a:avLst/>
          </a:prstGeom>
          <a:noFill/>
        </p:spPr>
        <p:txBody>
          <a:bodyPr wrap="none" lIns="0" tIns="0" rIns="0" bIns="0" anchor="t">
            <a:spAutoFit/>
          </a:bodyPr>
          <a:lstStyle/>
          <a:p>
            <a:pPr algn="l"/>
            <a:r>
              <a:rPr sz="1350" b="0" i="0" u="none">
                <a:solidFill>
                  <a:srgbClr val="475569"/>
                </a:solidFill>
                <a:latin typeface="微軟正黑體" panose="020B0604030504040204" pitchFamily="34" charset="-120"/>
                <a:ea typeface="微軟正黑體" panose="020B0604030504040204" pitchFamily="34" charset="-120"/>
              </a:rPr>
              <a:t>以大模型挽回未登錄詞。</a:t>
            </a:r>
          </a:p>
        </p:txBody>
      </p:sp>
      <p:sp>
        <p:nvSpPr>
          <p:cNvPr id="17" name="文字方塊 16"/>
          <p:cNvSpPr txBox="1"/>
          <p:nvPr/>
        </p:nvSpPr>
        <p:spPr>
          <a:xfrm>
            <a:off x="3512875" y="3349406"/>
            <a:ext cx="414441" cy="646331"/>
          </a:xfrm>
          <a:prstGeom prst="rect">
            <a:avLst/>
          </a:prstGeom>
          <a:noFill/>
        </p:spPr>
        <p:txBody>
          <a:bodyPr wrap="square" rtlCol="0" anchor="ctr">
            <a:spAutoFit/>
          </a:bodyPr>
          <a:lstStyle/>
          <a:p>
            <a:r>
              <a:rPr lang="zh-TW" altLang="en-US" sz="3600" dirty="0">
                <a:solidFill>
                  <a:srgbClr val="00B050"/>
                </a:solidFill>
                <a:latin typeface="微軟正黑體" panose="020B0604030504040204" pitchFamily="34" charset="-120"/>
                <a:ea typeface="微軟正黑體" panose="020B0604030504040204" pitchFamily="34" charset="-120"/>
              </a:rPr>
              <a:t>✔</a:t>
            </a:r>
          </a:p>
        </p:txBody>
      </p:sp>
      <p:sp>
        <p:nvSpPr>
          <p:cNvPr id="19" name="文字方塊 18"/>
          <p:cNvSpPr txBox="1"/>
          <p:nvPr/>
        </p:nvSpPr>
        <p:spPr>
          <a:xfrm>
            <a:off x="7006802" y="3381672"/>
            <a:ext cx="421019" cy="461665"/>
          </a:xfrm>
          <a:prstGeom prst="rect">
            <a:avLst/>
          </a:prstGeom>
          <a:noFill/>
        </p:spPr>
        <p:txBody>
          <a:bodyPr wrap="square" rtlCol="0">
            <a:spAutoFit/>
          </a:bodyPr>
          <a:lstStyle/>
          <a:p>
            <a:r>
              <a:rPr lang="en-US" altLang="zh-TW" sz="2400" dirty="0">
                <a:solidFill>
                  <a:srgbClr val="C00000"/>
                </a:solidFill>
                <a:latin typeface="微軟正黑體" panose="020B0604030504040204" pitchFamily="34" charset="-120"/>
                <a:ea typeface="微軟正黑體" panose="020B0604030504040204" pitchFamily="34" charset="-120"/>
              </a:rPr>
              <a:t>❌</a:t>
            </a:r>
            <a:endParaRPr lang="zh-TW" altLang="en-US" sz="2400" dirty="0">
              <a:solidFill>
                <a:srgbClr val="C00000"/>
              </a:solidFill>
              <a:latin typeface="微軟正黑體" panose="020B0604030504040204" pitchFamily="34" charset="-120"/>
              <a:ea typeface="微軟正黑體" panose="020B0604030504040204" pitchFamily="34" charset="-120"/>
            </a:endParaRPr>
          </a:p>
        </p:txBody>
      </p:sp>
      <p:sp>
        <p:nvSpPr>
          <p:cNvPr id="20" name="文字方塊 19"/>
          <p:cNvSpPr txBox="1"/>
          <p:nvPr/>
        </p:nvSpPr>
        <p:spPr>
          <a:xfrm>
            <a:off x="10638952" y="3381672"/>
            <a:ext cx="421019" cy="461665"/>
          </a:xfrm>
          <a:prstGeom prst="rect">
            <a:avLst/>
          </a:prstGeom>
          <a:noFill/>
        </p:spPr>
        <p:txBody>
          <a:bodyPr wrap="square" rtlCol="0">
            <a:spAutoFit/>
          </a:bodyPr>
          <a:lstStyle/>
          <a:p>
            <a:r>
              <a:rPr lang="en-US" altLang="zh-TW" sz="2400" dirty="0">
                <a:solidFill>
                  <a:srgbClr val="C00000"/>
                </a:solidFill>
                <a:latin typeface="微軟正黑體" panose="020B0604030504040204" pitchFamily="34" charset="-120"/>
                <a:ea typeface="微軟正黑體" panose="020B0604030504040204" pitchFamily="34" charset="-120"/>
              </a:rPr>
              <a:t>❌</a:t>
            </a:r>
            <a:endParaRPr lang="zh-TW" altLang="en-US" sz="2400" dirty="0">
              <a:solidFill>
                <a:srgbClr val="C00000"/>
              </a:solidFill>
              <a:latin typeface="微軟正黑體" panose="020B0604030504040204" pitchFamily="34" charset="-120"/>
              <a:ea typeface="微軟正黑體" panose="020B0604030504040204" pitchFamily="34" charset="-120"/>
            </a:endParaRPr>
          </a:p>
        </p:txBody>
      </p:sp>
      <p:sp>
        <p:nvSpPr>
          <p:cNvPr id="21" name="Rounded Rectangle 20"/>
          <p:cNvSpPr/>
          <p:nvPr/>
        </p:nvSpPr>
        <p:spPr>
          <a:xfrm>
            <a:off x="762000" y="5120000"/>
            <a:ext cx="10668000" cy="15000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ctr">
              <a:spcAft>
                <a:spcPts val="300"/>
              </a:spcAft>
              <a:defRPr sz="1150" b="1">
                <a:solidFill>
                  <a:srgbClr val="0F172A"/>
                </a:solidFill>
                <a:latin typeface="微軟正黑體"/>
              </a:defRPr>
            </a:pPr>
            <a:r>
              <a:t>📚 多通道決策理論依據 (Theoretical Foundation of Multi-Channel Decision)</a:t>
            </a:r>
          </a:p>
          <a:p>
            <a:pPr>
              <a:lnSpc>
                <a:spcPct val="115000"/>
              </a:lnSpc>
              <a:spcAft>
                <a:spcPts val="200"/>
              </a:spcAft>
              <a:defRPr sz="950">
                <a:solidFill>
                  <a:srgbClr val="334155"/>
                </a:solidFill>
                <a:latin typeface="微軟正黑體"/>
              </a:defRPr>
            </a:pPr>
            <a:r>
              <a:t>• Channel 1 留存依據：Park &amp; Kim (ACM TALLIP 2023) 與 Song &amp; Park (EMNLP 2019) 指出韓語黏著語分詞高度依賴語素字典與空格容錯；本地專用引擎（Komoran/Kiwi）具備數學確定性與毫秒級響應，可信度最高。</a:t>
            </a:r>
          </a:p>
          <a:p>
            <a:pPr>
              <a:lnSpc>
                <a:spcPct val="115000"/>
              </a:lnSpc>
              <a:spcAft>
                <a:spcPts val="200"/>
              </a:spcAft>
              <a:defRPr sz="950">
                <a:solidFill>
                  <a:srgbClr val="334155"/>
                </a:solidFill>
                <a:latin typeface="微軟正黑體"/>
              </a:defRPr>
            </a:pPr>
            <a:r>
              <a:t>• Channel 2 淘汰依據：Kaya &amp; Kirci (ICEEECS 2025) 實證純端到端大模型在專業符號解析時存在嚴重的語法虛構與幻覺問題，且生成延遲不可控（引發 60s+ 逾時）。</a:t>
            </a:r>
          </a:p>
          <a:p>
            <a:pPr>
              <a:lnSpc>
                <a:spcPct val="115000"/>
              </a:lnSpc>
              <a:spcAft>
                <a:spcPts val="200"/>
              </a:spcAft>
              <a:defRPr sz="950">
                <a:solidFill>
                  <a:srgbClr val="334155"/>
                </a:solidFill>
                <a:latin typeface="微軟正黑體"/>
              </a:defRPr>
            </a:pPr>
            <a:r>
              <a:t>• Channel 3 淘汰依據：陳相文 (東華資工 2026) 實證規則系統已能覆蓋 99% 的語意槽位，引入神經後備（Fallback）帶來 5 倍以上時間膨脹，但邊際精度提升不到 1%，不符邊際效益原則。</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5640" y="0"/>
            <a:ext cx="5986360" cy="1718787"/>
          </a:xfrm>
          <a:prstGeom prst="rect">
            <a:avLst/>
          </a:prstGeom>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5640" y="1718788"/>
            <a:ext cx="5986360" cy="2343314"/>
          </a:xfrm>
          <a:prstGeom prst="rect">
            <a:avLst/>
          </a:prstGeom>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7222" y="4062102"/>
            <a:ext cx="7854777" cy="2795897"/>
          </a:xfrm>
          <a:prstGeom prst="rect">
            <a:avLst/>
          </a:prstGeom>
        </p:spPr>
      </p:pic>
    </p:spTree>
    <p:extLst>
      <p:ext uri="{BB962C8B-B14F-4D97-AF65-F5344CB8AC3E}">
        <p14:creationId xmlns:p14="http://schemas.microsoft.com/office/powerpoint/2010/main" val="428886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2" name="表格 1"/>
              <p:cNvGraphicFramePr>
                <a:graphicFrameLocks noGrp="1"/>
              </p:cNvGraphicFramePr>
              <p:nvPr>
                <p:extLst>
                  <p:ext uri="{D42A27DB-BD31-4B8C-83A1-F6EECF244321}">
                    <p14:modId xmlns:p14="http://schemas.microsoft.com/office/powerpoint/2010/main" val="876049943"/>
                  </p:ext>
                </p:extLst>
              </p:nvPr>
            </p:nvGraphicFramePr>
            <p:xfrm>
              <a:off x="1936800" y="92099"/>
              <a:ext cx="7128000" cy="3108302"/>
            </p:xfrm>
            <a:graphic>
              <a:graphicData uri="http://schemas.openxmlformats.org/drawingml/2006/table">
                <a:tbl>
                  <a:tblPr firstRow="1">
                    <a:tableStyleId>{5C22544A-7EE6-4342-B048-85BDC9FD1C3A}</a:tableStyleId>
                  </a:tblPr>
                  <a:tblGrid>
                    <a:gridCol w="7128000">
                      <a:extLst>
                        <a:ext uri="{9D8B030D-6E8A-4147-A177-3AD203B41FA5}">
                          <a16:colId xmlns:a16="http://schemas.microsoft.com/office/drawing/2014/main" val="3358542588"/>
                        </a:ext>
                      </a:extLst>
                    </a:gridCol>
                  </a:tblGrid>
                  <a:tr h="708564">
                    <a:tc>
                      <a:txBody>
                        <a:bodyPr/>
                        <a:lstStyle/>
                        <a:p>
                          <a:pPr marL="0" algn="ctr" defTabSz="457200" rtl="0" eaLnBrk="1" fontAlgn="b" latinLnBrk="0" hangingPunct="1"/>
                          <a:r>
                            <a:rPr lang="zh-TW" altLang="en-US" sz="1400" b="1" u="none" strike="noStrike" kern="1200" dirty="0" smtClean="0">
                              <a:solidFill>
                                <a:schemeClr val="dk1"/>
                              </a:solidFill>
                              <a:effectLst/>
                              <a:latin typeface="+mn-lt"/>
                              <a:ea typeface="+mn-ea"/>
                              <a:cs typeface="+mn-cs"/>
                            </a:rPr>
                            <a:t>結論</a:t>
                          </a:r>
                          <a:endParaRPr lang="zh-TW" altLang="en-US" sz="1400" b="1" u="none" strike="noStrike" kern="1200" dirty="0">
                            <a:solidFill>
                              <a:schemeClr val="dk1"/>
                            </a:solidFill>
                            <a:effectLst/>
                            <a:latin typeface="+mn-lt"/>
                            <a:ea typeface="+mn-ea"/>
                            <a:cs typeface="+mn-cs"/>
                          </a:endParaRPr>
                        </a:p>
                      </a:txBody>
                      <a:tcPr marL="0" marR="0" marT="0" marB="0" anchor="ctr"/>
                    </a:tc>
                    <a:extLst>
                      <a:ext uri="{0D108BD9-81ED-4DB2-BD59-A6C34878D82A}">
                        <a16:rowId xmlns:a16="http://schemas.microsoft.com/office/drawing/2014/main" val="1607136948"/>
                      </a:ext>
                    </a:extLst>
                  </a:tr>
                  <a:tr h="2399738">
                    <a:tc>
                      <a:txBody>
                        <a:bodyPr/>
                        <a:lstStyle/>
                        <a:p>
                          <a:pPr marL="0" marR="0" indent="0" algn="ctr" defTabSz="457200" rtl="0" eaLnBrk="1" fontAlgn="b" latinLnBrk="0" hangingPunct="1">
                            <a:lnSpc>
                              <a:spcPct val="100000"/>
                            </a:lnSpc>
                            <a:spcBef>
                              <a:spcPts val="0"/>
                            </a:spcBef>
                            <a:spcAft>
                              <a:spcPts val="0"/>
                            </a:spcAft>
                            <a:buClrTx/>
                            <a:buSzTx/>
                            <a:buFontTx/>
                            <a:buNone/>
                            <a:tabLst/>
                            <a:defRPr/>
                          </a:pPr>
                          <a:r>
                            <a:rPr lang="zh-TW" altLang="en-US" sz="1100" u="none" strike="noStrike" kern="1200" dirty="0" smtClean="0">
                              <a:solidFill>
                                <a:schemeClr val="dk1"/>
                              </a:solidFill>
                              <a:effectLst/>
                              <a:latin typeface="+mn-lt"/>
                              <a:ea typeface="+mn-ea"/>
                              <a:cs typeface="+mn-cs"/>
                            </a:rPr>
                            <a:t>在專案標準 </a:t>
                          </a:r>
                          <a14:m>
                            <m:oMath xmlns:m="http://schemas.openxmlformats.org/officeDocument/2006/math">
                              <m:f>
                                <m:fPr>
                                  <m:ctrlPr>
                                    <a:rPr lang="en-US" altLang="zh-TW" sz="1100" i="1" u="none" strike="noStrike" kern="1200" dirty="0" smtClean="0">
                                      <a:solidFill>
                                        <a:schemeClr val="dk1"/>
                                      </a:solidFill>
                                      <a:effectLst/>
                                      <a:latin typeface="Cambria Math" panose="02040503050406030204" pitchFamily="18" charset="0"/>
                                      <a:ea typeface="+mn-ea"/>
                                      <a:cs typeface="+mn-cs"/>
                                    </a:rPr>
                                  </m:ctrlPr>
                                </m:fPr>
                                <m:num>
                                  <m:r>
                                    <a:rPr lang="zh-TW" altLang="en-US" sz="1100" i="1" u="none" strike="noStrike" kern="1200" dirty="0" smtClean="0">
                                      <a:solidFill>
                                        <a:schemeClr val="dk1"/>
                                      </a:solidFill>
                                      <a:effectLst/>
                                      <a:latin typeface="Cambria Math" panose="02040503050406030204" pitchFamily="18" charset="0"/>
                                      <a:ea typeface="+mn-ea"/>
                                      <a:cs typeface="+mn-cs"/>
                                    </a:rPr>
                                    <m:t>總耗時</m:t>
                                  </m:r>
                                </m:num>
                                <m:den>
                                  <m:r>
                                    <m:rPr>
                                      <m:nor/>
                                    </m:rPr>
                                    <a:rPr lang="zh-TW" altLang="en-US" sz="1100" u="none" strike="noStrike" kern="1200" dirty="0" smtClean="0">
                                      <a:solidFill>
                                        <a:schemeClr val="dk1"/>
                                      </a:solidFill>
                                      <a:effectLst/>
                                      <a:latin typeface="+mn-lt"/>
                                      <a:ea typeface="+mn-ea"/>
                                      <a:cs typeface="+mn-cs"/>
                                    </a:rPr>
                                    <m:t>影片時長</m:t>
                                  </m:r>
                                </m:den>
                              </m:f>
                            </m:oMath>
                          </a14:m>
                          <a:r>
                            <a:rPr lang="zh-TW" altLang="en-US" sz="1100" u="none" strike="noStrike" kern="1200" dirty="0" smtClean="0">
                              <a:solidFill>
                                <a:schemeClr val="dk1"/>
                              </a:solidFill>
                              <a:effectLst/>
                              <a:latin typeface="+mn-lt"/>
                              <a:ea typeface="+mn-ea"/>
                              <a:cs typeface="+mn-cs"/>
                            </a:rPr>
                            <a:t> </a:t>
                          </a:r>
                          <a:r>
                            <a:rPr lang="en-US" altLang="zh-TW" sz="1100" u="none" strike="noStrike" kern="1200" dirty="0" smtClean="0">
                              <a:solidFill>
                                <a:schemeClr val="dk1"/>
                              </a:solidFill>
                              <a:effectLst/>
                              <a:latin typeface="+mn-lt"/>
                              <a:ea typeface="+mn-ea"/>
                              <a:cs typeface="+mn-cs"/>
                            </a:rPr>
                            <a:t>&lt;=</a:t>
                          </a:r>
                          <a:r>
                            <a:rPr lang="zh-TW" altLang="en-US" sz="1100" u="none" strike="noStrike" kern="1200" dirty="0" smtClean="0">
                              <a:solidFill>
                                <a:schemeClr val="dk1"/>
                              </a:solidFill>
                              <a:effectLst/>
                              <a:latin typeface="+mn-lt"/>
                              <a:ea typeface="+mn-ea"/>
                              <a:cs typeface="+mn-cs"/>
                            </a:rPr>
                            <a:t> </a:t>
                          </a:r>
                          <a:r>
                            <a:rPr lang="en-US" altLang="zh-TW" sz="1100" u="none" strike="noStrike" kern="1200" dirty="0" smtClean="0">
                              <a:solidFill>
                                <a:schemeClr val="dk1"/>
                              </a:solidFill>
                              <a:effectLst/>
                              <a:latin typeface="+mn-lt"/>
                              <a:ea typeface="+mn-ea"/>
                              <a:cs typeface="+mn-cs"/>
                            </a:rPr>
                            <a:t>1.0</a:t>
                          </a:r>
                          <a:r>
                            <a:rPr lang="zh-TW" altLang="en-US" sz="1100" u="none" strike="noStrike" kern="1200" dirty="0" smtClean="0">
                              <a:solidFill>
                                <a:schemeClr val="dk1"/>
                              </a:solidFill>
                              <a:effectLst/>
                              <a:latin typeface="+mn-lt"/>
                              <a:ea typeface="+mn-ea"/>
                              <a:cs typeface="+mn-cs"/>
                            </a:rPr>
                            <a:t> 的標準與系統穩健性的標準下，</a:t>
                          </a:r>
                          <a:r>
                            <a:rPr lang="en-US" altLang="zh-TW" sz="1100" dirty="0" smtClean="0"/>
                            <a:t>Channel 2</a:t>
                          </a:r>
                          <a:r>
                            <a:rPr lang="zh-TW" altLang="en-US" sz="1100" dirty="0" smtClean="0"/>
                            <a:t>（</a:t>
                          </a:r>
                          <a:r>
                            <a:rPr lang="en-US" altLang="zh-TW" sz="1100" dirty="0" smtClean="0"/>
                            <a:t>LLM</a:t>
                          </a:r>
                          <a:r>
                            <a:rPr lang="zh-TW" altLang="en-US" sz="1100" dirty="0" smtClean="0"/>
                            <a:t>） 首先被淘汰。</a:t>
                          </a:r>
                          <a:endParaRPr lang="en-US" altLang="zh-TW" sz="1100" dirty="0" smtClean="0"/>
                        </a:p>
                        <a:p>
                          <a:pPr marL="0" marR="0" indent="0" algn="ctr" defTabSz="457200" rtl="0" eaLnBrk="1" fontAlgn="b" latinLnBrk="0" hangingPunct="1">
                            <a:lnSpc>
                              <a:spcPct val="100000"/>
                            </a:lnSpc>
                            <a:spcBef>
                              <a:spcPts val="0"/>
                            </a:spcBef>
                            <a:spcAft>
                              <a:spcPts val="0"/>
                            </a:spcAft>
                            <a:buClrTx/>
                            <a:buSzTx/>
                            <a:buFontTx/>
                            <a:buNone/>
                            <a:tabLst/>
                            <a:defRPr/>
                          </a:pPr>
                          <a:r>
                            <a:rPr lang="zh-TW" altLang="en-US" sz="1100" dirty="0" smtClean="0"/>
                            <a:t>其次，</a:t>
                          </a:r>
                          <a:r>
                            <a:rPr lang="en-US" altLang="zh-TW" sz="1100" dirty="0" smtClean="0"/>
                            <a:t>Channel</a:t>
                          </a:r>
                          <a:r>
                            <a:rPr lang="zh-TW" altLang="en-US" sz="1100" dirty="0" smtClean="0"/>
                            <a:t> </a:t>
                          </a:r>
                          <a:r>
                            <a:rPr lang="en-US" altLang="zh-TW" sz="1100" dirty="0" smtClean="0"/>
                            <a:t>3</a:t>
                          </a:r>
                          <a:r>
                            <a:rPr lang="zh-TW" altLang="en-US" sz="1100" dirty="0" smtClean="0"/>
                            <a:t>（混合架構）之邊際效益低，數倍時間成本換取不到 </a:t>
                          </a:r>
                          <a:r>
                            <a:rPr lang="en-US" altLang="zh-TW" sz="1100" dirty="0" smtClean="0"/>
                            <a:t>1%</a:t>
                          </a:r>
                          <a:r>
                            <a:rPr lang="zh-TW" altLang="en-US" sz="1100" dirty="0" smtClean="0"/>
                            <a:t> 精度提升。</a:t>
                          </a:r>
                          <a:endParaRPr lang="en-US" altLang="zh-TW" sz="1100" dirty="0" smtClean="0"/>
                        </a:p>
                        <a:p>
                          <a:pPr marL="0" marR="0" indent="0" algn="ctr" defTabSz="457200" rtl="0" eaLnBrk="1" fontAlgn="b" latinLnBrk="0" hangingPunct="1">
                            <a:lnSpc>
                              <a:spcPct val="100000"/>
                            </a:lnSpc>
                            <a:spcBef>
                              <a:spcPts val="0"/>
                            </a:spcBef>
                            <a:spcAft>
                              <a:spcPts val="0"/>
                            </a:spcAft>
                            <a:buClrTx/>
                            <a:buSzTx/>
                            <a:buFontTx/>
                            <a:buNone/>
                            <a:tabLst/>
                            <a:defRPr/>
                          </a:pPr>
                          <a:r>
                            <a:rPr lang="en-US" altLang="zh-TW" sz="1100" dirty="0" smtClean="0"/>
                            <a:t>Channel</a:t>
                          </a:r>
                          <a:r>
                            <a:rPr lang="zh-TW" altLang="en-US" sz="1100" dirty="0" smtClean="0"/>
                            <a:t> </a:t>
                          </a:r>
                          <a:r>
                            <a:rPr lang="en-US" altLang="zh-TW" sz="1100" dirty="0" smtClean="0"/>
                            <a:t>1</a:t>
                          </a:r>
                          <a:r>
                            <a:rPr lang="zh-TW" altLang="en-US" sz="1100" dirty="0" smtClean="0"/>
                            <a:t>（本地索引）成為首選，在此之上又為</a:t>
                          </a:r>
                          <a:r>
                            <a:rPr lang="en-US" altLang="zh-TW" sz="1100" dirty="0" err="1" smtClean="0"/>
                            <a:t>Komoran</a:t>
                          </a:r>
                          <a:r>
                            <a:rPr lang="zh-TW" altLang="en-US" sz="1100" dirty="0" smtClean="0"/>
                            <a:t>引擎之精度最高。</a:t>
                          </a:r>
                          <a:endParaRPr lang="en-US" altLang="zh-TW" sz="1100" dirty="0" smtClean="0"/>
                        </a:p>
                        <a:p>
                          <a:pPr marL="0" marR="0" indent="0" algn="ctr" defTabSz="457200" rtl="0" eaLnBrk="1" fontAlgn="b" latinLnBrk="0" hangingPunct="1">
                            <a:lnSpc>
                              <a:spcPct val="100000"/>
                            </a:lnSpc>
                            <a:spcBef>
                              <a:spcPts val="0"/>
                            </a:spcBef>
                            <a:spcAft>
                              <a:spcPts val="0"/>
                            </a:spcAft>
                            <a:buClrTx/>
                            <a:buSzTx/>
                            <a:buFontTx/>
                            <a:buNone/>
                            <a:tabLst/>
                            <a:defRPr/>
                          </a:pPr>
                          <a:endParaRPr lang="en-US" altLang="zh-TW" sz="1100" dirty="0" smtClean="0"/>
                        </a:p>
                        <a:p>
                          <a:pPr marL="0" marR="0" indent="0" algn="ctr" defTabSz="457200" rtl="0" eaLnBrk="1" fontAlgn="b" latinLnBrk="0" hangingPunct="1">
                            <a:lnSpc>
                              <a:spcPct val="100000"/>
                            </a:lnSpc>
                            <a:spcBef>
                              <a:spcPts val="0"/>
                            </a:spcBef>
                            <a:spcAft>
                              <a:spcPts val="0"/>
                            </a:spcAft>
                            <a:buClrTx/>
                            <a:buSzTx/>
                            <a:buFontTx/>
                            <a:buNone/>
                            <a:tabLst/>
                            <a:defRPr/>
                          </a:pPr>
                          <a:endParaRPr lang="en-US" altLang="zh-TW" sz="1100" u="none" strike="noStrike" kern="1200" dirty="0" smtClean="0">
                            <a:solidFill>
                              <a:schemeClr val="dk1"/>
                            </a:solidFill>
                            <a:effectLst/>
                            <a:latin typeface="+mn-lt"/>
                            <a:ea typeface="+mn-ea"/>
                            <a:cs typeface="+mn-cs"/>
                          </a:endParaRPr>
                        </a:p>
                      </a:txBody>
                      <a:tcPr marL="0" marR="0" marT="0" marB="0" anchor="ctr"/>
                    </a:tc>
                    <a:extLst>
                      <a:ext uri="{0D108BD9-81ED-4DB2-BD59-A6C34878D82A}">
                        <a16:rowId xmlns:a16="http://schemas.microsoft.com/office/drawing/2014/main" val="190136103"/>
                      </a:ext>
                    </a:extLst>
                  </a:tr>
                </a:tbl>
              </a:graphicData>
            </a:graphic>
          </p:graphicFrame>
        </mc:Choice>
        <mc:Fallback>
          <p:graphicFrame>
            <p:nvGraphicFramePr>
              <p:cNvPr id="2" name="表格 1"/>
              <p:cNvGraphicFramePr>
                <a:graphicFrameLocks noGrp="1"/>
              </p:cNvGraphicFramePr>
              <p:nvPr>
                <p:extLst>
                  <p:ext uri="{D42A27DB-BD31-4B8C-83A1-F6EECF244321}">
                    <p14:modId xmlns:p14="http://schemas.microsoft.com/office/powerpoint/2010/main" val="876049943"/>
                  </p:ext>
                </p:extLst>
              </p:nvPr>
            </p:nvGraphicFramePr>
            <p:xfrm>
              <a:off x="1936800" y="92099"/>
              <a:ext cx="7128000" cy="3108302"/>
            </p:xfrm>
            <a:graphic>
              <a:graphicData uri="http://schemas.openxmlformats.org/drawingml/2006/table">
                <a:tbl>
                  <a:tblPr firstRow="1">
                    <a:tableStyleId>{5C22544A-7EE6-4342-B048-85BDC9FD1C3A}</a:tableStyleId>
                  </a:tblPr>
                  <a:tblGrid>
                    <a:gridCol w="7128000">
                      <a:extLst>
                        <a:ext uri="{9D8B030D-6E8A-4147-A177-3AD203B41FA5}">
                          <a16:colId xmlns:a16="http://schemas.microsoft.com/office/drawing/2014/main" val="3358542588"/>
                        </a:ext>
                      </a:extLst>
                    </a:gridCol>
                  </a:tblGrid>
                  <a:tr h="708564">
                    <a:tc>
                      <a:txBody>
                        <a:bodyPr/>
                        <a:lstStyle/>
                        <a:p>
                          <a:pPr marL="0" algn="ctr" defTabSz="457200" rtl="0" eaLnBrk="1" fontAlgn="b" latinLnBrk="0" hangingPunct="1"/>
                          <a:r>
                            <a:rPr lang="zh-TW" altLang="en-US" sz="1400" b="1" u="none" strike="noStrike" kern="1200" dirty="0" smtClean="0">
                              <a:solidFill>
                                <a:schemeClr val="dk1"/>
                              </a:solidFill>
                              <a:effectLst/>
                              <a:latin typeface="+mn-lt"/>
                              <a:ea typeface="+mn-ea"/>
                              <a:cs typeface="+mn-cs"/>
                            </a:rPr>
                            <a:t>結論</a:t>
                          </a:r>
                          <a:endParaRPr lang="zh-TW" altLang="en-US" sz="1400" b="1" u="none" strike="noStrike" kern="1200" dirty="0">
                            <a:solidFill>
                              <a:schemeClr val="dk1"/>
                            </a:solidFill>
                            <a:effectLst/>
                            <a:latin typeface="+mn-lt"/>
                            <a:ea typeface="+mn-ea"/>
                            <a:cs typeface="+mn-cs"/>
                          </a:endParaRPr>
                        </a:p>
                      </a:txBody>
                      <a:tcPr marL="0" marR="0" marT="0" marB="0" anchor="ctr"/>
                    </a:tc>
                    <a:extLst>
                      <a:ext uri="{0D108BD9-81ED-4DB2-BD59-A6C34878D82A}">
                        <a16:rowId xmlns:a16="http://schemas.microsoft.com/office/drawing/2014/main" val="1607136948"/>
                      </a:ext>
                    </a:extLst>
                  </a:tr>
                  <a:tr h="2399738">
                    <a:tc>
                      <a:txBody>
                        <a:bodyPr/>
                        <a:lstStyle/>
                        <a:p>
                          <a:endParaRPr lang="zh-TW"/>
                        </a:p>
                      </a:txBody>
                      <a:tcPr marL="0" marR="0" marT="0" marB="0" anchor="ctr">
                        <a:blipFill>
                          <a:blip r:embed="rId3"/>
                          <a:stretch>
                            <a:fillRect l="-85" t="-29620" r="-342" b="-506"/>
                          </a:stretch>
                        </a:blipFill>
                      </a:tcPr>
                    </a:tc>
                    <a:extLst>
                      <a:ext uri="{0D108BD9-81ED-4DB2-BD59-A6C34878D82A}">
                        <a16:rowId xmlns:a16="http://schemas.microsoft.com/office/drawing/2014/main" val="190136103"/>
                      </a:ext>
                    </a:extLst>
                  </a:tr>
                </a:tbl>
              </a:graphicData>
            </a:graphic>
          </p:graphicFrame>
        </mc:Fallback>
      </mc:AlternateContent>
      <p:graphicFrame>
        <p:nvGraphicFramePr>
          <p:cNvPr id="3" name="圖表 2"/>
          <p:cNvGraphicFramePr>
            <a:graphicFrameLocks/>
          </p:cNvGraphicFramePr>
          <p:nvPr>
            <p:extLst>
              <p:ext uri="{D42A27DB-BD31-4B8C-83A1-F6EECF244321}">
                <p14:modId xmlns:p14="http://schemas.microsoft.com/office/powerpoint/2010/main" val="612428774"/>
              </p:ext>
            </p:extLst>
          </p:nvPr>
        </p:nvGraphicFramePr>
        <p:xfrm>
          <a:off x="6093807" y="3253029"/>
          <a:ext cx="6098193" cy="361155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圖表 4"/>
          <p:cNvGraphicFramePr>
            <a:graphicFrameLocks/>
          </p:cNvGraphicFramePr>
          <p:nvPr>
            <p:extLst>
              <p:ext uri="{D42A27DB-BD31-4B8C-83A1-F6EECF244321}">
                <p14:modId xmlns:p14="http://schemas.microsoft.com/office/powerpoint/2010/main" val="2848254865"/>
              </p:ext>
            </p:extLst>
          </p:nvPr>
        </p:nvGraphicFramePr>
        <p:xfrm>
          <a:off x="0" y="3200401"/>
          <a:ext cx="5745600" cy="366417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366921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0419" y="1957837"/>
            <a:ext cx="8671163" cy="5780775"/>
          </a:xfrm>
          <a:prstGeom prst="rect">
            <a:avLst/>
          </a:prstGeom>
        </p:spPr>
      </p:pic>
      <p:grpSp>
        <p:nvGrpSpPr>
          <p:cNvPr id="16" name="群組 15"/>
          <p:cNvGrpSpPr/>
          <p:nvPr/>
        </p:nvGrpSpPr>
        <p:grpSpPr>
          <a:xfrm>
            <a:off x="7861935" y="2552687"/>
            <a:ext cx="2324398" cy="479941"/>
            <a:chOff x="762000" y="3881437"/>
            <a:chExt cx="2324398" cy="479941"/>
          </a:xfrm>
        </p:grpSpPr>
        <p:pic>
          <p:nvPicPr>
            <p:cNvPr id="6" name="Picture 5" descr="image.png"/>
            <p:cNvPicPr>
              <a:picLocks noChangeAspect="1"/>
            </p:cNvPicPr>
            <p:nvPr/>
          </p:nvPicPr>
          <p:blipFill>
            <a:blip r:embed="rId3"/>
            <a:stretch>
              <a:fillRect/>
            </a:stretch>
          </p:blipFill>
          <p:spPr>
            <a:xfrm>
              <a:off x="762000" y="3914775"/>
              <a:ext cx="171450" cy="200025"/>
            </a:xfrm>
            <a:prstGeom prst="rect">
              <a:avLst/>
            </a:prstGeom>
          </p:spPr>
        </p:pic>
        <p:sp>
          <p:nvSpPr>
            <p:cNvPr id="12" name="TextBox 11"/>
            <p:cNvSpPr txBox="1"/>
            <p:nvPr/>
          </p:nvSpPr>
          <p:spPr>
            <a:xfrm>
              <a:off x="1085850" y="3881437"/>
              <a:ext cx="1423467" cy="230832"/>
            </a:xfrm>
            <a:prstGeom prst="rect">
              <a:avLst/>
            </a:prstGeom>
            <a:noFill/>
          </p:spPr>
          <p:txBody>
            <a:bodyPr wrap="none" lIns="0" tIns="0" rIns="0" bIns="0" anchor="t">
              <a:spAutoFit/>
            </a:bodyPr>
            <a:lstStyle/>
            <a:p>
              <a:pPr algn="l"/>
              <a:r>
                <a:rPr sz="1500" b="1" i="0" u="none" dirty="0">
                  <a:solidFill>
                    <a:srgbClr val="0F172A"/>
                  </a:solidFill>
                  <a:latin typeface="微軟正黑體" panose="020B0604030504040204" pitchFamily="34" charset="-120"/>
                </a:rPr>
                <a:t>SQLite </a:t>
              </a:r>
              <a:r>
                <a:rPr sz="1500" b="1" i="0" u="none" dirty="0" err="1">
                  <a:solidFill>
                    <a:srgbClr val="0F172A"/>
                  </a:solidFill>
                  <a:latin typeface="微軟正黑體" panose="020B0604030504040204" pitchFamily="34" charset="-120"/>
                </a:rPr>
                <a:t>狀態管理</a:t>
              </a:r>
              <a:endParaRPr sz="1500" b="1" i="0" u="none" dirty="0">
                <a:solidFill>
                  <a:srgbClr val="0F172A"/>
                </a:solidFill>
                <a:latin typeface="微軟正黑體" panose="020B0604030504040204" pitchFamily="34" charset="-120"/>
              </a:endParaRPr>
            </a:p>
          </p:txBody>
        </p:sp>
        <p:sp>
          <p:nvSpPr>
            <p:cNvPr id="13" name="TextBox 12"/>
            <p:cNvSpPr txBox="1"/>
            <p:nvPr/>
          </p:nvSpPr>
          <p:spPr>
            <a:xfrm>
              <a:off x="1085850" y="4176712"/>
              <a:ext cx="2000548" cy="184666"/>
            </a:xfrm>
            <a:prstGeom prst="rect">
              <a:avLst/>
            </a:prstGeom>
            <a:noFill/>
          </p:spPr>
          <p:txBody>
            <a:bodyPr wrap="none" lIns="0" tIns="0" rIns="0" bIns="0" anchor="t">
              <a:spAutoFit/>
            </a:bodyPr>
            <a:lstStyle/>
            <a:p>
              <a:pPr algn="l"/>
              <a:r>
                <a:rPr sz="1200" b="0" i="0" u="none" dirty="0" err="1">
                  <a:solidFill>
                    <a:srgbClr val="475569"/>
                  </a:solidFill>
                  <a:latin typeface="微軟正黑體" panose="020B0604030504040204" pitchFamily="34" charset="-120"/>
                </a:rPr>
                <a:t>非同步的底層任務追蹤機制</a:t>
              </a:r>
              <a:r>
                <a:rPr sz="1200" b="0" i="0" u="none" dirty="0">
                  <a:solidFill>
                    <a:srgbClr val="475569"/>
                  </a:solidFill>
                  <a:latin typeface="微軟正黑體" panose="020B0604030504040204" pitchFamily="34" charset="-120"/>
                </a:rPr>
                <a:t>。</a:t>
              </a:r>
            </a:p>
          </p:txBody>
        </p:sp>
      </p:grpSp>
      <p:sp>
        <p:nvSpPr>
          <p:cNvPr id="2" name="Rounded Rectangle 1"/>
          <p:cNvSpPr/>
          <p:nvPr/>
        </p:nvSpPr>
        <p:spPr>
          <a:xfrm>
            <a:off x="434340" y="665336"/>
            <a:ext cx="4503420" cy="696104"/>
          </a:xfrm>
          <a:prstGeom prst="roundRect">
            <a:avLst>
              <a:gd name="adj" fmla="val 13793"/>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2942" y="745330"/>
            <a:ext cx="1538883" cy="461665"/>
          </a:xfrm>
          <a:prstGeom prst="rect">
            <a:avLst/>
          </a:prstGeom>
          <a:noFill/>
        </p:spPr>
        <p:txBody>
          <a:bodyPr wrap="none" lIns="0" tIns="0" rIns="0" bIns="0" anchor="t">
            <a:spAutoFit/>
          </a:bodyPr>
          <a:lstStyle/>
          <a:p>
            <a:pPr algn="l"/>
            <a:r>
              <a:rPr lang="zh-TW" altLang="en-US" sz="3000" b="1" dirty="0" smtClean="0">
                <a:solidFill>
                  <a:srgbClr val="0F172A"/>
                </a:solidFill>
                <a:latin typeface="微軟正黑體" panose="020B0604030504040204" pitchFamily="34" charset="-120"/>
                <a:ea typeface="微軟正黑體" panose="020B0604030504040204" pitchFamily="34" charset="-120"/>
              </a:rPr>
              <a:t>串接架構</a:t>
            </a:r>
            <a:endParaRPr sz="3000" b="1" i="0" u="none" dirty="0">
              <a:solidFill>
                <a:srgbClr val="0F172A"/>
              </a:solidFill>
              <a:latin typeface="微軟正黑體" panose="020B0604030504040204" pitchFamily="34" charset="-120"/>
              <a:ea typeface="微軟正黑體" panose="020B0604030504040204" pitchFamily="34" charset="-120"/>
            </a:endParaRPr>
          </a:p>
        </p:txBody>
      </p:sp>
      <p:grpSp>
        <p:nvGrpSpPr>
          <p:cNvPr id="17" name="群組 16"/>
          <p:cNvGrpSpPr/>
          <p:nvPr/>
        </p:nvGrpSpPr>
        <p:grpSpPr>
          <a:xfrm>
            <a:off x="5031661" y="2550002"/>
            <a:ext cx="2779914" cy="479941"/>
            <a:chOff x="762000" y="3148012"/>
            <a:chExt cx="2779914" cy="479941"/>
          </a:xfrm>
        </p:grpSpPr>
        <p:pic>
          <p:nvPicPr>
            <p:cNvPr id="5" name="Picture 4" descr="image.png"/>
            <p:cNvPicPr>
              <a:picLocks noChangeAspect="1"/>
            </p:cNvPicPr>
            <p:nvPr/>
          </p:nvPicPr>
          <p:blipFill>
            <a:blip r:embed="rId4"/>
            <a:stretch>
              <a:fillRect/>
            </a:stretch>
          </p:blipFill>
          <p:spPr>
            <a:xfrm>
              <a:off x="762000" y="3181350"/>
              <a:ext cx="190500" cy="200025"/>
            </a:xfrm>
            <a:prstGeom prst="rect">
              <a:avLst/>
            </a:prstGeom>
          </p:spPr>
        </p:pic>
        <p:sp>
          <p:nvSpPr>
            <p:cNvPr id="10" name="TextBox 9"/>
            <p:cNvSpPr txBox="1"/>
            <p:nvPr/>
          </p:nvSpPr>
          <p:spPr>
            <a:xfrm>
              <a:off x="1104900" y="3148012"/>
              <a:ext cx="1311578" cy="230832"/>
            </a:xfrm>
            <a:prstGeom prst="rect">
              <a:avLst/>
            </a:prstGeom>
            <a:noFill/>
          </p:spPr>
          <p:txBody>
            <a:bodyPr wrap="none" lIns="0" tIns="0" rIns="0" bIns="0" anchor="t">
              <a:spAutoFit/>
            </a:bodyPr>
            <a:lstStyle/>
            <a:p>
              <a:pPr algn="l"/>
              <a:r>
                <a:rPr sz="1500" b="1" i="0" u="none" dirty="0" err="1">
                  <a:solidFill>
                    <a:srgbClr val="0F172A"/>
                  </a:solidFill>
                  <a:latin typeface="微軟正黑體" panose="020B0604030504040204" pitchFamily="34" charset="-120"/>
                </a:rPr>
                <a:t>FastAPI</a:t>
              </a:r>
              <a:r>
                <a:rPr sz="1500" b="1" i="0" u="none" dirty="0">
                  <a:solidFill>
                    <a:srgbClr val="0F172A"/>
                  </a:solidFill>
                  <a:latin typeface="微軟正黑體" panose="020B0604030504040204" pitchFamily="34" charset="-120"/>
                </a:rPr>
                <a:t> </a:t>
              </a:r>
              <a:r>
                <a:rPr sz="1500" b="1" i="0" u="none" dirty="0" err="1">
                  <a:solidFill>
                    <a:srgbClr val="0F172A"/>
                  </a:solidFill>
                  <a:latin typeface="微軟正黑體" panose="020B0604030504040204" pitchFamily="34" charset="-120"/>
                </a:rPr>
                <a:t>中介層</a:t>
              </a:r>
              <a:endParaRPr sz="1500" b="1" i="0" u="none" dirty="0">
                <a:solidFill>
                  <a:srgbClr val="0F172A"/>
                </a:solidFill>
                <a:latin typeface="微軟正黑體" panose="020B0604030504040204" pitchFamily="34" charset="-120"/>
              </a:endParaRPr>
            </a:p>
          </p:txBody>
        </p:sp>
        <p:sp>
          <p:nvSpPr>
            <p:cNvPr id="11" name="TextBox 10"/>
            <p:cNvSpPr txBox="1"/>
            <p:nvPr/>
          </p:nvSpPr>
          <p:spPr>
            <a:xfrm>
              <a:off x="1104900" y="3443287"/>
              <a:ext cx="2437014" cy="184666"/>
            </a:xfrm>
            <a:prstGeom prst="rect">
              <a:avLst/>
            </a:prstGeom>
            <a:noFill/>
          </p:spPr>
          <p:txBody>
            <a:bodyPr wrap="none" lIns="0" tIns="0" rIns="0" bIns="0" anchor="t">
              <a:spAutoFit/>
            </a:bodyPr>
            <a:lstStyle/>
            <a:p>
              <a:pPr algn="l"/>
              <a:r>
                <a:rPr sz="1200" b="0" i="0" u="none" dirty="0" err="1">
                  <a:solidFill>
                    <a:srgbClr val="475569"/>
                  </a:solidFill>
                  <a:latin typeface="微軟正黑體" panose="020B0604030504040204" pitchFamily="34" charset="-120"/>
                </a:rPr>
                <a:t>串接</a:t>
              </a:r>
              <a:r>
                <a:rPr sz="1200" b="0" i="0" u="none" dirty="0">
                  <a:solidFill>
                    <a:srgbClr val="475569"/>
                  </a:solidFill>
                  <a:latin typeface="微軟正黑體" panose="020B0604030504040204" pitchFamily="34" charset="-120"/>
                </a:rPr>
                <a:t> Python </a:t>
              </a:r>
              <a:r>
                <a:rPr sz="1200" b="0" i="0" u="none" dirty="0" err="1">
                  <a:solidFill>
                    <a:srgbClr val="475569"/>
                  </a:solidFill>
                  <a:latin typeface="微軟正黑體" panose="020B0604030504040204" pitchFamily="34" charset="-120"/>
                </a:rPr>
                <a:t>核心運算與前端介面</a:t>
              </a:r>
              <a:r>
                <a:rPr sz="1200" b="0" i="0" u="none" dirty="0">
                  <a:solidFill>
                    <a:srgbClr val="475569"/>
                  </a:solidFill>
                  <a:latin typeface="微軟正黑體" panose="020B0604030504040204" pitchFamily="34" charset="-120"/>
                </a:rPr>
                <a:t>。</a:t>
              </a:r>
            </a:p>
          </p:txBody>
        </p:sp>
      </p:grpSp>
      <p:grpSp>
        <p:nvGrpSpPr>
          <p:cNvPr id="18" name="群組 17"/>
          <p:cNvGrpSpPr/>
          <p:nvPr/>
        </p:nvGrpSpPr>
        <p:grpSpPr>
          <a:xfrm>
            <a:off x="2450386" y="2426176"/>
            <a:ext cx="2218134" cy="479941"/>
            <a:chOff x="762000" y="4614862"/>
            <a:chExt cx="2218134" cy="479941"/>
          </a:xfrm>
        </p:grpSpPr>
        <p:pic>
          <p:nvPicPr>
            <p:cNvPr id="7" name="Picture 6" descr="image.png"/>
            <p:cNvPicPr>
              <a:picLocks noChangeAspect="1"/>
            </p:cNvPicPr>
            <p:nvPr/>
          </p:nvPicPr>
          <p:blipFill>
            <a:blip r:embed="rId5"/>
            <a:stretch>
              <a:fillRect/>
            </a:stretch>
          </p:blipFill>
          <p:spPr>
            <a:xfrm>
              <a:off x="762000" y="4648200"/>
              <a:ext cx="219075" cy="200025"/>
            </a:xfrm>
            <a:prstGeom prst="rect">
              <a:avLst/>
            </a:prstGeom>
          </p:spPr>
        </p:pic>
        <p:sp>
          <p:nvSpPr>
            <p:cNvPr id="14" name="TextBox 13"/>
            <p:cNvSpPr txBox="1"/>
            <p:nvPr/>
          </p:nvSpPr>
          <p:spPr>
            <a:xfrm>
              <a:off x="1133475" y="4614862"/>
              <a:ext cx="1115498" cy="230832"/>
            </a:xfrm>
            <a:prstGeom prst="rect">
              <a:avLst/>
            </a:prstGeom>
            <a:noFill/>
          </p:spPr>
          <p:txBody>
            <a:bodyPr wrap="none" lIns="0" tIns="0" rIns="0" bIns="0" anchor="t">
              <a:spAutoFit/>
            </a:bodyPr>
            <a:lstStyle/>
            <a:p>
              <a:pPr algn="l"/>
              <a:r>
                <a:rPr sz="1500" b="1" i="0" u="none" dirty="0">
                  <a:solidFill>
                    <a:srgbClr val="0F172A"/>
                  </a:solidFill>
                  <a:latin typeface="微軟正黑體" panose="020B0604030504040204" pitchFamily="34" charset="-120"/>
                </a:rPr>
                <a:t>Web UI </a:t>
              </a:r>
              <a:r>
                <a:rPr sz="1500" b="1" i="0" u="none" dirty="0" err="1">
                  <a:solidFill>
                    <a:srgbClr val="0F172A"/>
                  </a:solidFill>
                  <a:latin typeface="微軟正黑體" panose="020B0604030504040204" pitchFamily="34" charset="-120"/>
                </a:rPr>
                <a:t>介面</a:t>
              </a:r>
              <a:endParaRPr sz="1500" b="1" i="0" u="none" dirty="0">
                <a:solidFill>
                  <a:srgbClr val="0F172A"/>
                </a:solidFill>
                <a:latin typeface="微軟正黑體" panose="020B0604030504040204" pitchFamily="34" charset="-120"/>
              </a:endParaRPr>
            </a:p>
          </p:txBody>
        </p:sp>
        <p:sp>
          <p:nvSpPr>
            <p:cNvPr id="15" name="TextBox 14"/>
            <p:cNvSpPr txBox="1"/>
            <p:nvPr/>
          </p:nvSpPr>
          <p:spPr>
            <a:xfrm>
              <a:off x="1133475" y="4910137"/>
              <a:ext cx="1846659" cy="184666"/>
            </a:xfrm>
            <a:prstGeom prst="rect">
              <a:avLst/>
            </a:prstGeom>
            <a:noFill/>
          </p:spPr>
          <p:txBody>
            <a:bodyPr wrap="none" lIns="0" tIns="0" rIns="0" bIns="0" anchor="t">
              <a:spAutoFit/>
            </a:bodyPr>
            <a:lstStyle/>
            <a:p>
              <a:pPr algn="l"/>
              <a:r>
                <a:rPr sz="1200" b="0" i="0" u="none" dirty="0" err="1">
                  <a:solidFill>
                    <a:srgbClr val="475569"/>
                  </a:solidFill>
                  <a:latin typeface="微軟正黑體" panose="020B0604030504040204" pitchFamily="34" charset="-120"/>
                </a:rPr>
                <a:t>友善啟動並即時監控進度</a:t>
              </a:r>
              <a:r>
                <a:rPr sz="1200" b="0" i="0" u="none" dirty="0">
                  <a:solidFill>
                    <a:srgbClr val="475569"/>
                  </a:solidFill>
                  <a:latin typeface="微軟正黑體" panose="020B0604030504040204" pitchFamily="34" charset="-120"/>
                </a:rPr>
                <a:t>。</a:t>
              </a: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B82F6"/>
        </a:solidFill>
        <a:effectLst/>
      </p:bgPr>
    </p:bg>
    <p:spTree>
      <p:nvGrpSpPr>
        <p:cNvPr id="1" name=""/>
        <p:cNvGrpSpPr/>
        <p:nvPr/>
      </p:nvGrpSpPr>
      <p:grpSpPr>
        <a:xfrm>
          <a:off x="0" y="0"/>
          <a:ext cx="0" cy="0"/>
          <a:chOff x="0" y="0"/>
          <a:chExt cx="0" cy="0"/>
        </a:xfrm>
      </p:grpSpPr>
      <p:sp>
        <p:nvSpPr>
          <p:cNvPr id="2" name="TextBox 1"/>
          <p:cNvSpPr txBox="1"/>
          <p:nvPr/>
        </p:nvSpPr>
        <p:spPr>
          <a:xfrm>
            <a:off x="3521577" y="1983730"/>
            <a:ext cx="5148845" cy="369332"/>
          </a:xfrm>
          <a:prstGeom prst="rect">
            <a:avLst/>
          </a:prstGeom>
          <a:noFill/>
        </p:spPr>
        <p:txBody>
          <a:bodyPr wrap="none" lIns="0" tIns="0" rIns="0" bIns="0" anchor="t">
            <a:spAutoFit/>
          </a:bodyPr>
          <a:lstStyle/>
          <a:p>
            <a:pPr algn="ctr"/>
            <a:r>
              <a:rPr lang="en-US" sz="2400" b="1" dirty="0" smtClean="0">
                <a:solidFill>
                  <a:srgbClr val="EFF6FF"/>
                </a:solidFill>
                <a:latin typeface="微軟正黑體" panose="020B0604030504040204" pitchFamily="34" charset="-120"/>
                <a:ea typeface="微軟正黑體" panose="020B0604030504040204" pitchFamily="34" charset="-120"/>
              </a:rPr>
              <a:t>SLA</a:t>
            </a:r>
            <a:r>
              <a:rPr lang="en-US" altLang="zh-TW" sz="2400" b="1" dirty="0">
                <a:solidFill>
                  <a:srgbClr val="EFF6FF"/>
                </a:solidFill>
                <a:latin typeface="微軟正黑體" panose="020B0604030504040204" pitchFamily="34" charset="-120"/>
                <a:ea typeface="微軟正黑體" panose="020B0604030504040204" pitchFamily="34" charset="-120"/>
              </a:rPr>
              <a:t>(Service Level Agreement)</a:t>
            </a:r>
            <a:r>
              <a:rPr lang="en-US" sz="2400" b="1" dirty="0" smtClean="0">
                <a:solidFill>
                  <a:srgbClr val="EFF6FF"/>
                </a:solidFill>
                <a:latin typeface="微軟正黑體" panose="020B0604030504040204" pitchFamily="34" charset="-120"/>
                <a:ea typeface="微軟正黑體" panose="020B0604030504040204" pitchFamily="34" charset="-120"/>
              </a:rPr>
              <a:t> </a:t>
            </a:r>
            <a:r>
              <a:rPr lang="zh-TW" altLang="en-US" sz="2400" b="1" dirty="0">
                <a:solidFill>
                  <a:srgbClr val="EFF6FF"/>
                </a:solidFill>
                <a:latin typeface="微軟正黑體" panose="020B0604030504040204" pitchFamily="34" charset="-120"/>
                <a:ea typeface="微軟正黑體" panose="020B0604030504040204" pitchFamily="34" charset="-120"/>
              </a:rPr>
              <a:t>閾</a:t>
            </a:r>
            <a:r>
              <a:rPr lang="zh-TW" altLang="en-US" sz="2400" b="1" dirty="0" smtClean="0">
                <a:solidFill>
                  <a:srgbClr val="EFF6FF"/>
                </a:solidFill>
                <a:latin typeface="微軟正黑體" panose="020B0604030504040204" pitchFamily="34" charset="-120"/>
                <a:ea typeface="微軟正黑體" panose="020B0604030504040204" pitchFamily="34" charset="-120"/>
              </a:rPr>
              <a:t>值</a:t>
            </a:r>
            <a:endParaRPr sz="2400" b="1" i="0" u="none" dirty="0">
              <a:solidFill>
                <a:srgbClr val="EFF6FF"/>
              </a:solidFill>
              <a:latin typeface="微軟正黑體" panose="020B0604030504040204" pitchFamily="34" charset="-120"/>
              <a:ea typeface="微軟正黑體" panose="020B0604030504040204" pitchFamily="34" charset="-120"/>
            </a:endParaRPr>
          </a:p>
        </p:txBody>
      </p:sp>
      <p:sp>
        <p:nvSpPr>
          <p:cNvPr id="3" name="TextBox 2"/>
          <p:cNvSpPr txBox="1"/>
          <p:nvPr/>
        </p:nvSpPr>
        <p:spPr>
          <a:xfrm>
            <a:off x="2328355" y="2860030"/>
            <a:ext cx="7535140" cy="1000274"/>
          </a:xfrm>
          <a:prstGeom prst="rect">
            <a:avLst/>
          </a:prstGeom>
          <a:noFill/>
        </p:spPr>
        <p:txBody>
          <a:bodyPr wrap="none" lIns="0" tIns="0" rIns="0" bIns="0" anchor="t">
            <a:spAutoFit/>
          </a:bodyPr>
          <a:lstStyle/>
          <a:p>
            <a:pPr algn="ctr">
              <a:lnSpc>
                <a:spcPts val="7800"/>
              </a:lnSpc>
            </a:pPr>
            <a:r>
              <a:rPr sz="7800" b="1" i="0" u="none" dirty="0" err="1">
                <a:solidFill>
                  <a:srgbClr val="FFFFFF"/>
                </a:solidFill>
                <a:latin typeface="微軟正黑體" panose="020B0604030504040204" pitchFamily="34" charset="-120"/>
                <a:ea typeface="微軟正黑體" panose="020B0604030504040204" pitchFamily="34" charset="-120"/>
              </a:rPr>
              <a:t>T</a:t>
            </a:r>
            <a:r>
              <a:rPr sz="6500" b="1" i="0" u="none" dirty="0" err="1">
                <a:solidFill>
                  <a:srgbClr val="FFFFFF"/>
                </a:solidFill>
                <a:latin typeface="微軟正黑體" panose="020B0604030504040204" pitchFamily="34" charset="-120"/>
                <a:ea typeface="微軟正黑體" panose="020B0604030504040204" pitchFamily="34" charset="-120"/>
              </a:rPr>
              <a:t>process</a:t>
            </a:r>
            <a:r>
              <a:rPr sz="7800" b="1" i="0" u="none" dirty="0">
                <a:solidFill>
                  <a:srgbClr val="FFFFFF"/>
                </a:solidFill>
                <a:latin typeface="微軟正黑體" panose="020B0604030504040204" pitchFamily="34" charset="-120"/>
                <a:ea typeface="微軟正黑體" panose="020B0604030504040204" pitchFamily="34" charset="-120"/>
              </a:rPr>
              <a:t> ≤ </a:t>
            </a:r>
            <a:r>
              <a:rPr sz="7800" b="1" i="0" u="none" dirty="0" err="1">
                <a:solidFill>
                  <a:srgbClr val="FFFFFF"/>
                </a:solidFill>
                <a:latin typeface="微軟正黑體" panose="020B0604030504040204" pitchFamily="34" charset="-120"/>
                <a:ea typeface="微軟正黑體" panose="020B0604030504040204" pitchFamily="34" charset="-120"/>
              </a:rPr>
              <a:t>T</a:t>
            </a:r>
            <a:r>
              <a:rPr sz="6500" b="1" i="0" u="none" dirty="0" err="1">
                <a:solidFill>
                  <a:srgbClr val="FFFFFF"/>
                </a:solidFill>
                <a:latin typeface="微軟正黑體" panose="020B0604030504040204" pitchFamily="34" charset="-120"/>
                <a:ea typeface="微軟正黑體" panose="020B0604030504040204" pitchFamily="34" charset="-120"/>
              </a:rPr>
              <a:t>video</a:t>
            </a:r>
            <a:endParaRPr sz="6500" b="1" i="0" u="none" dirty="0">
              <a:solidFill>
                <a:srgbClr val="FFFFFF"/>
              </a:solidFill>
              <a:latin typeface="微軟正黑體" panose="020B0604030504040204" pitchFamily="34" charset="-120"/>
              <a:ea typeface="微軟正黑體" panose="020B0604030504040204" pitchFamily="34" charset="-120"/>
            </a:endParaRPr>
          </a:p>
        </p:txBody>
      </p:sp>
      <p:sp>
        <p:nvSpPr>
          <p:cNvPr id="4" name="TextBox 3"/>
          <p:cNvSpPr txBox="1"/>
          <p:nvPr/>
        </p:nvSpPr>
        <p:spPr>
          <a:xfrm>
            <a:off x="3381375" y="4264669"/>
            <a:ext cx="5429250" cy="553998"/>
          </a:xfrm>
          <a:prstGeom prst="rect">
            <a:avLst/>
          </a:prstGeom>
          <a:noFill/>
        </p:spPr>
        <p:txBody>
          <a:bodyPr wrap="square" lIns="0" tIns="0" rIns="0" bIns="0" anchor="t">
            <a:spAutoFit/>
          </a:bodyPr>
          <a:lstStyle/>
          <a:p>
            <a:pPr algn="ctr"/>
            <a:r>
              <a:rPr sz="1800" b="0" i="0" u="none">
                <a:solidFill>
                  <a:srgbClr val="EFF6FF"/>
                </a:solidFill>
                <a:latin typeface="微軟正黑體" panose="020B0604030504040204" pitchFamily="34" charset="-120"/>
                <a:ea typeface="微軟正黑體" panose="020B0604030504040204" pitchFamily="34" charset="-120"/>
              </a:rPr>
              <a:t>系統處理總耗時，必須小於影片播放時長。</a:t>
            </a:r>
            <a:r>
              <a:rPr>
                <a:latin typeface="微軟正黑體" panose="020B0604030504040204" pitchFamily="34" charset="-120"/>
                <a:ea typeface="微軟正黑體" panose="020B0604030504040204" pitchFamily="34" charset="-120"/>
              </a:rPr>
              <a:t>
</a:t>
            </a:r>
            <a:r>
              <a:rPr sz="1800" b="0" i="0" u="none">
                <a:solidFill>
                  <a:srgbClr val="EFF6FF"/>
                </a:solidFill>
                <a:latin typeface="微軟正黑體" panose="020B0604030504040204" pitchFamily="34" charset="-120"/>
                <a:ea typeface="微軟正黑體" panose="020B0604030504040204" pitchFamily="34" charset="-120"/>
              </a:rPr>
              <a:t> 確保觀影結束即可立即複習。</a:t>
            </a:r>
          </a:p>
        </p:txBody>
      </p:sp>
      <p:sp>
        <p:nvSpPr>
          <p:cNvPr id="5" name="Rounded Rectangle 4"/>
          <p:cNvSpPr/>
          <p:nvPr/>
        </p:nvSpPr>
        <p:spPr>
          <a:xfrm>
            <a:off x="2328355" y="5050000"/>
            <a:ext cx="7535140" cy="1300000"/>
          </a:xfrm>
          <a:prstGeom prst="roundRect">
            <a:avLst/>
          </a:prstGeom>
          <a:solidFill>
            <a:srgbClr val="1D4ED8"/>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ctr">
              <a:spcAft>
                <a:spcPts val="300"/>
              </a:spcAft>
              <a:defRPr sz="1150" b="1">
                <a:solidFill>
                  <a:srgbClr val="DBEAFE"/>
                </a:solidFill>
                <a:latin typeface="微軟正黑體"/>
              </a:defRPr>
            </a:pPr>
            <a:r>
              <a:t>📚 邊緣即時視訊分析時限滿意度準則 (Edge-IVA Real-Time Deadline Principle)</a:t>
            </a:r>
          </a:p>
          <a:p>
            <a:pPr>
              <a:lnSpc>
                <a:spcPct val="115000"/>
              </a:lnSpc>
              <a:spcAft>
                <a:spcPts val="200"/>
              </a:spcAft>
              <a:defRPr sz="950">
                <a:solidFill>
                  <a:srgbClr val="F8FAFC"/>
                </a:solidFill>
                <a:latin typeface="微軟正黑體"/>
              </a:defRPr>
            </a:pPr>
            <a:r>
              <a:t>• 參照 Jung &amp; Kim (Applied Sciences 2026) 提出的邊緣 IVA 閉環反饋控制與 100% 時限滿意度（Deadline Satisfaction）指標：本專案藉由演算法級時序去重與本地輕量分詞，確保個人裝置在無雲端算力支援下，依然嚴格滿足 T_process ≤ T_video 的即時服務等級保證。</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867400" y="4330005"/>
            <a:ext cx="457200" cy="2857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85283" y="2499419"/>
            <a:ext cx="1021433" cy="184666"/>
          </a:xfrm>
          <a:prstGeom prst="rect">
            <a:avLst/>
          </a:prstGeom>
          <a:noFill/>
        </p:spPr>
        <p:txBody>
          <a:bodyPr wrap="none" lIns="0" tIns="0" rIns="0" bIns="0" anchor="t">
            <a:spAutoFit/>
          </a:bodyPr>
          <a:lstStyle/>
          <a:p>
            <a:pPr algn="ctr"/>
            <a:r>
              <a:rPr sz="1200" b="0" i="0" u="none">
                <a:solidFill>
                  <a:srgbClr val="3B82F6"/>
                </a:solidFill>
                <a:latin typeface="微軟正黑體" panose="020B0604030504040204" pitchFamily="34" charset="-120"/>
                <a:ea typeface="微軟正黑體" panose="020B0604030504040204" pitchFamily="34" charset="-120"/>
              </a:rPr>
              <a:t>CONCLUSION</a:t>
            </a:r>
          </a:p>
        </p:txBody>
      </p:sp>
      <p:sp>
        <p:nvSpPr>
          <p:cNvPr id="4" name="TextBox 3"/>
          <p:cNvSpPr txBox="1"/>
          <p:nvPr/>
        </p:nvSpPr>
        <p:spPr>
          <a:xfrm>
            <a:off x="1095375" y="2928044"/>
            <a:ext cx="10001250" cy="551433"/>
          </a:xfrm>
          <a:prstGeom prst="rect">
            <a:avLst/>
          </a:prstGeom>
          <a:noFill/>
        </p:spPr>
        <p:txBody>
          <a:bodyPr wrap="square" lIns="0" tIns="0" rIns="0" bIns="0" anchor="t">
            <a:spAutoFit/>
          </a:bodyPr>
          <a:lstStyle/>
          <a:p>
            <a:pPr algn="ctr">
              <a:lnSpc>
                <a:spcPts val="4320"/>
              </a:lnSpc>
            </a:pPr>
            <a:r>
              <a:rPr sz="3600" b="1" i="0" u="none">
                <a:solidFill>
                  <a:srgbClr val="F8FAFC"/>
                </a:solidFill>
                <a:latin typeface="微軟正黑體" panose="020B0604030504040204" pitchFamily="34" charset="-120"/>
                <a:ea typeface="微軟正黑體" panose="020B0604030504040204" pitchFamily="34" charset="-120"/>
              </a:rPr>
              <a:t>由效能指標反向定義技術規格的成功實踐</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32004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微軟正黑體"/>
              </a:defRPr>
            </a:pPr>
            <a:r>
              <a:t>ACADEMIC REFERENCES</a:t>
            </a:r>
          </a:p>
        </p:txBody>
      </p:sp>
      <p:sp>
        <p:nvSpPr>
          <p:cNvPr id="3" name="TextBox 2"/>
          <p:cNvSpPr txBox="1"/>
          <p:nvPr/>
        </p:nvSpPr>
        <p:spPr>
          <a:xfrm>
            <a:off x="731520" y="777240"/>
            <a:ext cx="10515600" cy="548640"/>
          </a:xfrm>
          <a:prstGeom prst="rect">
            <a:avLst/>
          </a:prstGeom>
          <a:noFill/>
        </p:spPr>
        <p:txBody>
          <a:bodyPr wrap="none">
            <a:spAutoFit/>
          </a:bodyPr>
          <a:lstStyle/>
          <a:p>
            <a:pPr>
              <a:defRPr sz="2800" b="1">
                <a:solidFill>
                  <a:srgbClr val="FFFFFF"/>
                </a:solidFill>
                <a:latin typeface="微軟正黑體"/>
              </a:defRPr>
            </a:pPr>
            <a:r>
              <a:t>參考文獻</a:t>
            </a:r>
          </a:p>
          <a:p>
            <a:pPr>
              <a:spcBef>
                <a:spcPts val="200"/>
              </a:spcBef>
              <a:defRPr sz="1200">
                <a:solidFill>
                  <a:srgbClr val="94A3B8"/>
                </a:solidFill>
                <a:latin typeface="微軟正黑體"/>
              </a:defRPr>
            </a:pPr>
            <a:r>
              <a:t>專題核心理論依據、模型選型與實證評測文獻清單 (APA 7th Format)</a:t>
            </a:r>
          </a:p>
        </p:txBody>
      </p:sp>
      <p:sp>
        <p:nvSpPr>
          <p:cNvPr id="4" name="Rounded Rectangle 3"/>
          <p:cNvSpPr/>
          <p:nvPr/>
        </p:nvSpPr>
        <p:spPr>
          <a:xfrm>
            <a:off x="731520" y="1645920"/>
            <a:ext cx="512064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lnSpc>
                <a:spcPct val="115000"/>
              </a:lnSpc>
              <a:spcAft>
                <a:spcPts val="800"/>
              </a:spcAft>
              <a:defRPr sz="850">
                <a:solidFill>
                  <a:srgbClr val="E2E8F0"/>
                </a:solidFill>
                <a:latin typeface="微軟正黑體"/>
              </a:defRPr>
            </a:pPr>
            <a:r>
              <a:t>[1] Ko, T., &amp; Lee, K. (2026). Toward a Multi-modal Understanding of Visual-Linguistic Design of Telop: A Computational Analysis of Telop Used in Korean YouTube Videos. Proceedings of the ACM on Human-Computer Interaction, 10(CSCW), Article CSCW170.</a:t>
            </a:r>
          </a:p>
          <a:p>
            <a:pPr>
              <a:lnSpc>
                <a:spcPct val="115000"/>
              </a:lnSpc>
              <a:spcAft>
                <a:spcPts val="800"/>
              </a:spcAft>
              <a:defRPr sz="850">
                <a:solidFill>
                  <a:srgbClr val="E2E8F0"/>
                </a:solidFill>
                <a:latin typeface="微軟正黑體"/>
              </a:defRPr>
            </a:pPr>
            <a:r>
              <a:t>[2] Zhao, Z., Li, L., Shen, L., Sheng, X., Sun, Y., Kang, F., &amp; Yan, C. (2026). Temporal Calibrating and Distilling for Scene-Text Aware Text-Video Retrieval. In Proceedings of the 40th AAAI Conference on Artificial Intelligence (AAAI-26), 13323-13331.</a:t>
            </a:r>
          </a:p>
          <a:p>
            <a:pPr>
              <a:lnSpc>
                <a:spcPct val="115000"/>
              </a:lnSpc>
              <a:spcAft>
                <a:spcPts val="800"/>
              </a:spcAft>
              <a:defRPr sz="850">
                <a:solidFill>
                  <a:srgbClr val="E2E8F0"/>
                </a:solidFill>
                <a:latin typeface="微軟正黑體"/>
              </a:defRPr>
            </a:pPr>
            <a:r>
              <a:t>[3] Cai, W., Zhang, H., Huang, Y., Xie, Y., Gao, S., Deng, J., ... &amp; Zhang, Z. (2026). Caption-once, Frames-on-Demand: Visual-Need Routing for Budget-Aware Agentic Long Video Understanding. arXiv:2609.11899.</a:t>
            </a:r>
          </a:p>
          <a:p>
            <a:pPr>
              <a:lnSpc>
                <a:spcPct val="115000"/>
              </a:lnSpc>
              <a:spcAft>
                <a:spcPts val="800"/>
              </a:spcAft>
              <a:defRPr sz="850">
                <a:solidFill>
                  <a:srgbClr val="E2E8F0"/>
                </a:solidFill>
                <a:latin typeface="微軟正黑體"/>
              </a:defRPr>
            </a:pPr>
            <a:r>
              <a:t>[4] Park, C., &amp; Kim, J. (2023). Robust Multi-task Learning-based Korean POS Tagging to Overcome Word Spacing Errors. ACM Transactions on Asian and Low-Resource Language Information Processing, 22(6), Article 182.</a:t>
            </a:r>
          </a:p>
          <a:p>
            <a:pPr>
              <a:lnSpc>
                <a:spcPct val="115000"/>
              </a:lnSpc>
              <a:spcAft>
                <a:spcPts val="800"/>
              </a:spcAft>
              <a:defRPr sz="850">
                <a:solidFill>
                  <a:srgbClr val="E2E8F0"/>
                </a:solidFill>
                <a:latin typeface="微軟正黑體"/>
              </a:defRPr>
            </a:pPr>
            <a:r>
              <a:t>[5] Song, H. J., &amp; Park, S. B. (2019). Korean Morphological Analysis with Tied Sequence-to-Sequence Multi-Task Model. In Proceedings of EMNLP-IJCNLP 2019, 1436-1441.</a:t>
            </a:r>
          </a:p>
          <a:p>
            <a:pPr>
              <a:lnSpc>
                <a:spcPct val="115000"/>
              </a:lnSpc>
              <a:spcAft>
                <a:spcPts val="800"/>
              </a:spcAft>
              <a:defRPr sz="850">
                <a:solidFill>
                  <a:srgbClr val="E2E8F0"/>
                </a:solidFill>
                <a:latin typeface="微軟正黑體"/>
              </a:defRPr>
            </a:pPr>
            <a:r>
              <a:t>[6] Jung, H., &amp; Kim, B. (2026). Resilient Edge-IVA: Perception-Aware Adaptive Control for Stable Real-Time Analytics on Resource-Constrained Devices. Applied Sciences (MDPI), 16(12), 5984.</a:t>
            </a:r>
          </a:p>
        </p:txBody>
      </p:sp>
      <p:sp>
        <p:nvSpPr>
          <p:cNvPr id="5" name="Rounded Rectangle 4"/>
          <p:cNvSpPr/>
          <p:nvPr/>
        </p:nvSpPr>
        <p:spPr>
          <a:xfrm>
            <a:off x="6217920" y="1645920"/>
            <a:ext cx="512064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lnSpc>
                <a:spcPct val="115000"/>
              </a:lnSpc>
              <a:spcAft>
                <a:spcPts val="800"/>
              </a:spcAft>
              <a:defRPr sz="850">
                <a:solidFill>
                  <a:srgbClr val="E2E8F0"/>
                </a:solidFill>
                <a:latin typeface="微軟正黑體"/>
              </a:defRPr>
            </a:pPr>
            <a:r>
              <a:t>[7] Kim, J., Kahng, M., Choi, Y., &amp; Kim, J. (2022). FitVid: Responsive and Flexible Video Content Adaptation. In Proceedings of the 2022 CHI Conference on Human Factors in Computing Systems (CHI '22), ACM.</a:t>
            </a:r>
          </a:p>
          <a:p>
            <a:pPr>
              <a:lnSpc>
                <a:spcPct val="115000"/>
              </a:lnSpc>
              <a:spcAft>
                <a:spcPts val="800"/>
              </a:spcAft>
              <a:defRPr sz="850">
                <a:solidFill>
                  <a:srgbClr val="E2E8F0"/>
                </a:solidFill>
                <a:latin typeface="微軟正黑體"/>
              </a:defRPr>
            </a:pPr>
            <a:r>
              <a:t>[8] Volodina, E., Borin, L., Loftsson, H., Arnbjörnsdóttir, B., &amp; Leifsson, G. Ö. (2012). Waste not, want not: Towards a system architecture for ICALL based on NLP component re-use. In Proceedings of the SLTC 2012 Workshop on NLP for CALL.</a:t>
            </a:r>
          </a:p>
          <a:p>
            <a:pPr>
              <a:lnSpc>
                <a:spcPct val="115000"/>
              </a:lnSpc>
              <a:spcAft>
                <a:spcPts val="800"/>
              </a:spcAft>
              <a:defRPr sz="850">
                <a:solidFill>
                  <a:srgbClr val="E2E8F0"/>
                </a:solidFill>
                <a:latin typeface="微軟正黑體"/>
              </a:defRPr>
            </a:pPr>
            <a:r>
              <a:t>[9] Kaya, F., &amp; Kirci, P. (2025). NLP-Based Query Interface for InfluxDB: Designing a Hybrid Architecture with SpaCy and Large Language Model. In Proceedings of ICEEECS 2025, 271-277.</a:t>
            </a:r>
          </a:p>
          <a:p>
            <a:pPr>
              <a:lnSpc>
                <a:spcPct val="115000"/>
              </a:lnSpc>
              <a:spcAft>
                <a:spcPts val="800"/>
              </a:spcAft>
              <a:defRPr sz="850">
                <a:solidFill>
                  <a:srgbClr val="E2E8F0"/>
                </a:solidFill>
                <a:latin typeface="微軟正黑體"/>
              </a:defRPr>
            </a:pPr>
            <a:r>
              <a:t>[10] Watve, A. Y., &amp; Bhalekar, M. A. (2021). Subtitle Extraction from Videos and Translation from English to Hindi. International Journal of Creative Research Thoughts (IJCRT), 9(12), d221-d228.</a:t>
            </a:r>
          </a:p>
          <a:p>
            <a:pPr>
              <a:lnSpc>
                <a:spcPct val="115000"/>
              </a:lnSpc>
              <a:spcAft>
                <a:spcPts val="800"/>
              </a:spcAft>
              <a:defRPr sz="850">
                <a:solidFill>
                  <a:srgbClr val="E2E8F0"/>
                </a:solidFill>
                <a:latin typeface="微軟正黑體"/>
              </a:defRPr>
            </a:pPr>
            <a:r>
              <a:t>[11] 呂承恩 (2026). 應用大型語言模型於異質訂單文件之關鍵資訊擷取與標準化研究. 國立政治大學應用數學系碩士學位論文 (指導教授：蔡炎龍 博士).</a:t>
            </a:r>
          </a:p>
          <a:p>
            <a:pPr>
              <a:lnSpc>
                <a:spcPct val="115000"/>
              </a:lnSpc>
              <a:spcAft>
                <a:spcPts val="800"/>
              </a:spcAft>
              <a:defRPr sz="850">
                <a:solidFill>
                  <a:srgbClr val="E2E8F0"/>
                </a:solidFill>
                <a:latin typeface="微軟正黑體"/>
              </a:defRPr>
            </a:pPr>
            <a:r>
              <a:t>[12] 陳相文 (2026). 基於檢索增強生成與規則推理之臨床決策支援與 SOAP 輔助生成系統. 國立東華大學資訊工程學系碩士學位論文 (指導教授：羅壽之 博士).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1265</TotalTime>
  <Words>878</Words>
  <Application>Microsoft Office PowerPoint</Application>
  <PresentationFormat>寬螢幕</PresentationFormat>
  <Paragraphs>368</Paragraphs>
  <Slides>19</Slides>
  <Notes>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19</vt:i4>
      </vt:variant>
    </vt:vector>
  </HeadingPairs>
  <TitlesOfParts>
    <vt:vector size="26" baseType="lpstr">
      <vt:lpstr>微軟正黑體</vt:lpstr>
      <vt:lpstr>新細明體</vt:lpstr>
      <vt:lpstr>Arial</vt:lpstr>
      <vt:lpstr>Cambria Math</vt:lpstr>
      <vt:lpstr>Calibri</vt:lpstr>
      <vt:lpstr>微軟正黑體</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cp:keywords/>
  <dc:description>generated using python-pptx</dc:description>
  <cp:lastModifiedBy>Windows 使用者</cp:lastModifiedBy>
  <cp:revision>65</cp:revision>
  <dcterms:created xsi:type="dcterms:W3CDTF">2013-01-27T09:14:16Z</dcterms:created>
  <dcterms:modified xsi:type="dcterms:W3CDTF">2026-10-14T10:17:11Z</dcterms:modified>
  <cp:category/>
</cp:coreProperties>
</file>