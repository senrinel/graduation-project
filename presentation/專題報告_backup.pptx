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0" r:id="rId7"/>
    <p:sldId id="268" r:id="rId8"/>
    <p:sldId id="269" r:id="rId9"/>
    <p:sldId id="261" r:id="rId10"/>
    <p:sldId id="271" r:id="rId11"/>
    <p:sldId id="262" r:id="rId12"/>
    <p:sldId id="273" r:id="rId13"/>
    <p:sldId id="272" r:id="rId14"/>
    <p:sldId id="263" r:id="rId15"/>
    <p:sldId id="274" r:id="rId16"/>
    <p:sldId id="275" r:id="rId17"/>
    <p:sldId id="264" r:id="rId18"/>
    <p:sldId id="265" r:id="rId19"/>
    <p:sldId id="266" r:id="rId20"/>
  </p:sldIdLst>
  <p:sldSz cx="12192000" cy="6858000"/>
  <p:notesSz cx="6858000" cy="9144000"/>
  <p:embeddedFontLst>
    <p:embeddedFont>
      <p:font typeface="微軟正黑體" panose="020B0604030504040204" pitchFamily="34" charset="-120"/>
      <p:regular r:id="rId22"/>
      <p:bold r:id="rId23"/>
    </p:embeddedFont>
    <p:embeddedFont>
      <p:font typeface="Cambria Math" panose="02040503050406030204" pitchFamily="18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微軟正黑體" panose="020B0604030504040204" pitchFamily="34" charset="-120"/>
      <p:regular r:id="rId22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D241C44-977F-4403-9CE4-F75A5EDBC839}">
          <p14:sldIdLst>
            <p14:sldId id="256"/>
            <p14:sldId id="257"/>
            <p14:sldId id="258"/>
            <p14:sldId id="259"/>
            <p14:sldId id="260"/>
            <p14:sldId id="270"/>
            <p14:sldId id="268"/>
            <p14:sldId id="269"/>
            <p14:sldId id="261"/>
            <p14:sldId id="271"/>
            <p14:sldId id="262"/>
            <p14:sldId id="273"/>
            <p14:sldId id="272"/>
          </p14:sldIdLst>
        </p14:section>
        <p14:section name="未命名的章節" id="{290F005D-4519-4B08-8B96-CEA3630E709E}">
          <p14:sldIdLst>
            <p14:sldId id="263"/>
            <p14:sldId id="274"/>
            <p14:sldId id="275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1239"/>
    <a:srgbClr val="7BA1CE"/>
    <a:srgbClr val="FA1249"/>
    <a:srgbClr val="EEEEEE"/>
    <a:srgbClr val="1F7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39" autoAdjust="0"/>
  </p:normalViewPr>
  <p:slideViewPr>
    <p:cSldViewPr snapToGrid="0" snapToObjects="1">
      <p:cViewPr>
        <p:scale>
          <a:sx n="75" d="100"/>
          <a:sy n="75" d="100"/>
        </p:scale>
        <p:origin x="1282" y="965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inKJ\Desktop\Graduation-Project\Sampling_Rate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inKJ\Desktop\Graduation-Project\Sampling_Rate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inKJ\Desktop\Graduation-Project\Sampling_Rate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inKJ\Desktop\Graduation-Project\Sampling_Rate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inKJ\Desktop\Graduation-Project\finaltest\Phase9_&#36890;&#36947;&#33287;denoise&#26368;&#32066;&#27770;&#31574;&#20998;&#26512;_&#35079;&#26680;&#29256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inKJ\Desktop\Graduation-Project\&#26178;&#24207;&#21435;&#37325;&#28436;&#31639;&#27861;&#20778;&#21270;&#23526;&#39511;&#20998;&#26512;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inKJ\Desktop\Graduation-Project\&#26178;&#24207;&#21435;&#37325;&#28436;&#31639;&#27861;&#20778;&#21270;&#23526;&#39511;&#20998;&#26512;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inKJ\Desktop\phase%205%20&#20998;&#26512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inKJ\Desktop\phase%205%20&#20998;&#26512;.xlsx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sz="2400" dirty="0"/>
              <a:t>識別效率</a:t>
            </a:r>
            <a:r>
              <a:rPr lang="en-US" sz="2400" dirty="0"/>
              <a:t>:</a:t>
            </a:r>
            <a:r>
              <a:rPr lang="zh-TW" sz="2400" dirty="0"/>
              <a:t>不顯著</a:t>
            </a:r>
            <a:r>
              <a:rPr lang="en-US" sz="2400" dirty="0"/>
              <a:t>,</a:t>
            </a:r>
            <a:r>
              <a:rPr lang="zh-TW" sz="2400" dirty="0"/>
              <a:t>平均</a:t>
            </a:r>
            <a:r>
              <a:rPr lang="en-US" sz="2400" dirty="0"/>
              <a:t>75%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Data!$C$1</c:f>
              <c:strCache>
                <c:ptCount val="1"/>
                <c:pt idx="0">
                  <c:v>OCR總耗時(s)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.0_);[Red]\(#,##0.0\)" sourceLinked="0"/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Data!$A$2:$A$17</c:f>
              <c:numCache>
                <c:formatCode>General</c:formatCode>
                <c:ptCount val="16"/>
                <c:pt idx="0">
                  <c:v>0.25</c:v>
                </c:pt>
                <c:pt idx="1">
                  <c:v>0.375</c:v>
                </c:pt>
                <c:pt idx="2">
                  <c:v>0.5</c:v>
                </c:pt>
                <c:pt idx="3">
                  <c:v>0.6</c:v>
                </c:pt>
                <c:pt idx="4">
                  <c:v>0.7</c:v>
                </c:pt>
                <c:pt idx="5">
                  <c:v>0.8</c:v>
                </c:pt>
                <c:pt idx="6">
                  <c:v>0.9</c:v>
                </c:pt>
                <c:pt idx="7">
                  <c:v>1</c:v>
                </c:pt>
                <c:pt idx="8">
                  <c:v>1.1000000000000001</c:v>
                </c:pt>
                <c:pt idx="9">
                  <c:v>1.2</c:v>
                </c:pt>
                <c:pt idx="10">
                  <c:v>1.3</c:v>
                </c:pt>
                <c:pt idx="11">
                  <c:v>1.4</c:v>
                </c:pt>
                <c:pt idx="12">
                  <c:v>1.5</c:v>
                </c:pt>
                <c:pt idx="13">
                  <c:v>2</c:v>
                </c:pt>
                <c:pt idx="14">
                  <c:v>2.5</c:v>
                </c:pt>
                <c:pt idx="15">
                  <c:v>3</c:v>
                </c:pt>
              </c:numCache>
            </c:numRef>
          </c:xVal>
          <c:yVal>
            <c:numRef>
              <c:f>Data!$G$2:$G$17</c:f>
              <c:numCache>
                <c:formatCode>General</c:formatCode>
                <c:ptCount val="16"/>
                <c:pt idx="0">
                  <c:v>75.8</c:v>
                </c:pt>
                <c:pt idx="1">
                  <c:v>81.099999999999994</c:v>
                </c:pt>
                <c:pt idx="2">
                  <c:v>74</c:v>
                </c:pt>
                <c:pt idx="3">
                  <c:v>77.7</c:v>
                </c:pt>
                <c:pt idx="4">
                  <c:v>76.099999999999994</c:v>
                </c:pt>
                <c:pt idx="5">
                  <c:v>75</c:v>
                </c:pt>
                <c:pt idx="6">
                  <c:v>77.2</c:v>
                </c:pt>
                <c:pt idx="7">
                  <c:v>73.5</c:v>
                </c:pt>
                <c:pt idx="8">
                  <c:v>75.3</c:v>
                </c:pt>
                <c:pt idx="9">
                  <c:v>76.5</c:v>
                </c:pt>
                <c:pt idx="10">
                  <c:v>77.599999999999994</c:v>
                </c:pt>
                <c:pt idx="11">
                  <c:v>74.099999999999994</c:v>
                </c:pt>
                <c:pt idx="12">
                  <c:v>76</c:v>
                </c:pt>
                <c:pt idx="13">
                  <c:v>73.7</c:v>
                </c:pt>
                <c:pt idx="14">
                  <c:v>75.2</c:v>
                </c:pt>
                <c:pt idx="15">
                  <c:v>74.400000000000006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860-43B3-BD9E-08EF5949ADE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17645544"/>
        <c:axId val="517647184"/>
      </c:scatterChart>
      <c:valAx>
        <c:axId val="517645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sz="1800" dirty="0"/>
                  <a:t>取樣率</a:t>
                </a:r>
                <a:r>
                  <a:rPr lang="en-US" sz="1800" dirty="0"/>
                  <a:t>(FPS)</a:t>
                </a:r>
              </a:p>
            </c:rich>
          </c:tx>
          <c:layout>
            <c:manualLayout>
              <c:xMode val="edge"/>
              <c:yMode val="edge"/>
              <c:x val="0.39912470318253046"/>
              <c:y val="0.9265888851902973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17647184"/>
        <c:crosses val="autoZero"/>
        <c:crossBetween val="midCat"/>
      </c:valAx>
      <c:valAx>
        <c:axId val="517647184"/>
        <c:scaling>
          <c:orientation val="minMax"/>
          <c:max val="85"/>
          <c:min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wordArtVertRtl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sz="1800" dirty="0"/>
                  <a:t>字典</a:t>
                </a:r>
                <a:r>
                  <a:rPr lang="zh-TW" sz="1800" dirty="0" smtClean="0"/>
                  <a:t>命中率</a:t>
                </a:r>
                <a:r>
                  <a:rPr lang="en-US" altLang="zh-TW" sz="1800" dirty="0" smtClean="0"/>
                  <a:t>(%)</a:t>
                </a:r>
                <a:endParaRPr lang="en-US" sz="1800" dirty="0"/>
              </a:p>
            </c:rich>
          </c:tx>
          <c:layout>
            <c:manualLayout>
              <c:xMode val="edge"/>
              <c:yMode val="edge"/>
              <c:x val="2.0923259405501618E-2"/>
              <c:y val="0.353953110757358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wordArtVertRtl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17645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sz="2400" dirty="0"/>
              <a:t>運算成本</a:t>
            </a:r>
            <a:r>
              <a:rPr lang="en-US" sz="2400" dirty="0"/>
              <a:t>:</a:t>
            </a:r>
            <a:r>
              <a:rPr lang="zh-TW" sz="2400" dirty="0"/>
              <a:t>顯著正相關</a:t>
            </a:r>
            <a:endParaRPr lang="en-US" sz="2400" dirty="0"/>
          </a:p>
        </c:rich>
      </c:tx>
      <c:layout>
        <c:manualLayout>
          <c:xMode val="edge"/>
          <c:yMode val="edge"/>
          <c:x val="0.23107344632768362"/>
          <c:y val="1.85185185185185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0.1643031727283335"/>
          <c:y val="9.4870370370370369E-2"/>
          <c:w val="0.80022794608301084"/>
          <c:h val="0.8069383202099738"/>
        </c:manualLayout>
      </c:layout>
      <c:scatterChart>
        <c:scatterStyle val="lineMarker"/>
        <c:varyColors val="0"/>
        <c:ser>
          <c:idx val="0"/>
          <c:order val="0"/>
          <c:tx>
            <c:strRef>
              <c:f>Data!$C$1</c:f>
              <c:strCache>
                <c:ptCount val="1"/>
                <c:pt idx="0">
                  <c:v>OCR總耗時(s)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3024316949398881E-2"/>
                  <c:y val="-3.609725867599883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6CD3-4E4F-A767-0609F876D7FB}"/>
                </c:ext>
              </c:extLst>
            </c:dLbl>
            <c:dLbl>
              <c:idx val="1"/>
              <c:layout>
                <c:manualLayout>
                  <c:x val="-1.0291561840464927E-3"/>
                  <c:y val="3.427311169437153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6CD3-4E4F-A767-0609F876D7FB}"/>
                </c:ext>
              </c:extLst>
            </c:dLbl>
            <c:dLbl>
              <c:idx val="2"/>
              <c:layout>
                <c:manualLayout>
                  <c:x val="-6.6023107140737017E-2"/>
                  <c:y val="-3.79491105278506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6CD3-4E4F-A767-0609F876D7FB}"/>
                </c:ext>
              </c:extLst>
            </c:dLbl>
            <c:dLbl>
              <c:idx val="3"/>
              <c:layout>
                <c:manualLayout>
                  <c:x val="1.1969634007291605E-2"/>
                  <c:y val="2.131014873140857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6CD3-4E4F-A767-0609F876D7FB}"/>
                </c:ext>
              </c:extLst>
            </c:dLbl>
            <c:dLbl>
              <c:idx val="4"/>
              <c:layout>
                <c:manualLayout>
                  <c:x val="-5.7357247013178285E-2"/>
                  <c:y val="-3.79491105278506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6CD3-4E4F-A767-0609F876D7FB}"/>
                </c:ext>
              </c:extLst>
            </c:dLbl>
            <c:dLbl>
              <c:idx val="5"/>
              <c:layout>
                <c:manualLayout>
                  <c:x val="2.6528279021590273E-2"/>
                  <c:y val="4.643482064741907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6CD3-4E4F-A767-0609F876D7FB}"/>
                </c:ext>
              </c:extLst>
            </c:dLbl>
            <c:dLbl>
              <c:idx val="6"/>
              <c:layout>
                <c:manualLayout>
                  <c:x val="-5.5797392190217676E-2"/>
                  <c:y val="-3.23935549722951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6CD3-4E4F-A767-0609F876D7FB}"/>
                </c:ext>
              </c:extLst>
            </c:dLbl>
            <c:dLbl>
              <c:idx val="7"/>
              <c:layout>
                <c:manualLayout>
                  <c:x val="2.4361813989700592E-2"/>
                  <c:y val="4.643482064741907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6CD3-4E4F-A767-0609F876D7FB}"/>
                </c:ext>
              </c:extLst>
            </c:dLbl>
            <c:dLbl>
              <c:idx val="8"/>
              <c:layout>
                <c:manualLayout>
                  <c:x val="-6.2296787285886807E-2"/>
                  <c:y val="-3.79491105278506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6CD3-4E4F-A767-0609F876D7FB}"/>
                </c:ext>
              </c:extLst>
            </c:dLbl>
            <c:dLbl>
              <c:idx val="9"/>
              <c:layout>
                <c:manualLayout>
                  <c:x val="3.302767411725932E-2"/>
                  <c:y val="-9.1207349081371617E-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6CD3-4E4F-A767-0609F876D7FB}"/>
                </c:ext>
              </c:extLst>
            </c:dLbl>
            <c:dLbl>
              <c:idx val="10"/>
              <c:layout>
                <c:manualLayout>
                  <c:x val="-6.0130322253997046E-2"/>
                  <c:y val="-3.98009623797026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6CD3-4E4F-A767-0609F876D7FB}"/>
                </c:ext>
              </c:extLst>
            </c:dLbl>
            <c:dLbl>
              <c:idx val="11"/>
              <c:layout>
                <c:manualLayout>
                  <c:x val="1.1363023798362414E-2"/>
                  <c:y val="6.495333916593759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6CD3-4E4F-A767-0609F876D7FB}"/>
                </c:ext>
              </c:extLst>
            </c:dLbl>
            <c:dLbl>
              <c:idx val="12"/>
              <c:layout>
                <c:manualLayout>
                  <c:x val="-9.2627297732342281E-2"/>
                  <c:y val="-4.16528142315543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6CD3-4E4F-A767-0609F876D7FB}"/>
                </c:ext>
              </c:extLst>
            </c:dLbl>
            <c:dLbl>
              <c:idx val="13"/>
              <c:layout>
                <c:manualLayout>
                  <c:x val="-6.2296787285886807E-2"/>
                  <c:y val="-5.09120734908136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E-6CD3-4E4F-A767-0609F876D7FB}"/>
                </c:ext>
              </c:extLst>
            </c:dLbl>
            <c:dLbl>
              <c:idx val="14"/>
              <c:layout>
                <c:manualLayout>
                  <c:x val="-7.0962647413445462E-2"/>
                  <c:y val="-3.23935549722951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6CD3-4E4F-A767-0609F876D7FB}"/>
                </c:ext>
              </c:extLst>
            </c:dLbl>
            <c:numFmt formatCode="#,##0.0_);[Red]\(#,##0.0\)" sourceLinked="0"/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Data!$A$2:$A$17</c:f>
              <c:numCache>
                <c:formatCode>General</c:formatCode>
                <c:ptCount val="16"/>
                <c:pt idx="0">
                  <c:v>0.25</c:v>
                </c:pt>
                <c:pt idx="1">
                  <c:v>0.375</c:v>
                </c:pt>
                <c:pt idx="2">
                  <c:v>0.5</c:v>
                </c:pt>
                <c:pt idx="3">
                  <c:v>0.6</c:v>
                </c:pt>
                <c:pt idx="4">
                  <c:v>0.7</c:v>
                </c:pt>
                <c:pt idx="5">
                  <c:v>0.8</c:v>
                </c:pt>
                <c:pt idx="6">
                  <c:v>0.9</c:v>
                </c:pt>
                <c:pt idx="7">
                  <c:v>1</c:v>
                </c:pt>
                <c:pt idx="8">
                  <c:v>1.1000000000000001</c:v>
                </c:pt>
                <c:pt idx="9">
                  <c:v>1.2</c:v>
                </c:pt>
                <c:pt idx="10">
                  <c:v>1.3</c:v>
                </c:pt>
                <c:pt idx="11">
                  <c:v>1.4</c:v>
                </c:pt>
                <c:pt idx="12">
                  <c:v>1.5</c:v>
                </c:pt>
                <c:pt idx="13">
                  <c:v>2</c:v>
                </c:pt>
                <c:pt idx="14">
                  <c:v>2.5</c:v>
                </c:pt>
                <c:pt idx="15">
                  <c:v>3</c:v>
                </c:pt>
              </c:numCache>
            </c:numRef>
          </c:xVal>
          <c:yVal>
            <c:numRef>
              <c:f>Data!$C$2:$C$17</c:f>
              <c:numCache>
                <c:formatCode>General</c:formatCode>
                <c:ptCount val="16"/>
                <c:pt idx="0">
                  <c:v>36.1</c:v>
                </c:pt>
                <c:pt idx="1">
                  <c:v>48.6</c:v>
                </c:pt>
                <c:pt idx="2">
                  <c:v>64.81</c:v>
                </c:pt>
                <c:pt idx="3">
                  <c:v>77.89</c:v>
                </c:pt>
                <c:pt idx="4">
                  <c:v>90.54</c:v>
                </c:pt>
                <c:pt idx="5">
                  <c:v>105.9</c:v>
                </c:pt>
                <c:pt idx="6">
                  <c:v>118.95</c:v>
                </c:pt>
                <c:pt idx="7">
                  <c:v>129.43</c:v>
                </c:pt>
                <c:pt idx="8">
                  <c:v>145.09</c:v>
                </c:pt>
                <c:pt idx="9">
                  <c:v>156.19999999999999</c:v>
                </c:pt>
                <c:pt idx="10">
                  <c:v>168.97</c:v>
                </c:pt>
                <c:pt idx="11">
                  <c:v>185.56</c:v>
                </c:pt>
                <c:pt idx="12">
                  <c:v>207.99</c:v>
                </c:pt>
                <c:pt idx="13">
                  <c:v>277.22000000000003</c:v>
                </c:pt>
                <c:pt idx="14">
                  <c:v>329.26</c:v>
                </c:pt>
                <c:pt idx="15">
                  <c:v>387.3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C40-493A-8252-ABDD6D63229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17645544"/>
        <c:axId val="517647184"/>
      </c:scatterChart>
      <c:valAx>
        <c:axId val="517645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sz="1800" dirty="0"/>
                  <a:t>取樣率</a:t>
                </a:r>
                <a:r>
                  <a:rPr lang="en-US" sz="1800" dirty="0"/>
                  <a:t>(FPS)</a:t>
                </a:r>
              </a:p>
            </c:rich>
          </c:tx>
          <c:layout>
            <c:manualLayout>
              <c:xMode val="edge"/>
              <c:yMode val="edge"/>
              <c:x val="0.39460492014769349"/>
              <c:y val="0.94135651793525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17647184"/>
        <c:crosses val="autoZero"/>
        <c:crossBetween val="midCat"/>
      </c:valAx>
      <c:valAx>
        <c:axId val="517647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wordArtVertRtl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sz="1800" dirty="0"/>
                  <a:t>總耗時</a:t>
                </a:r>
                <a:r>
                  <a:rPr lang="en-US" sz="1800" dirty="0"/>
                  <a:t>(</a:t>
                </a:r>
                <a:r>
                  <a:rPr lang="zh-TW" sz="1800" dirty="0"/>
                  <a:t>秒</a:t>
                </a:r>
                <a:r>
                  <a:rPr lang="en-US" sz="1800" dirty="0"/>
                  <a:t>)</a:t>
                </a:r>
              </a:p>
            </c:rich>
          </c:tx>
          <c:layout>
            <c:manualLayout>
              <c:xMode val="edge"/>
              <c:yMode val="edge"/>
              <c:x val="2.0923172739000843E-2"/>
              <c:y val="0.3965457859434236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wordArtVertRtl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17645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sz="2400" dirty="0"/>
              <a:t>資訊量</a:t>
            </a:r>
            <a:r>
              <a:rPr lang="en-US" sz="2400" dirty="0"/>
              <a:t>:</a:t>
            </a:r>
            <a:r>
              <a:rPr lang="zh-TW" sz="2400" dirty="0"/>
              <a:t>顯著正相關</a:t>
            </a:r>
            <a:r>
              <a:rPr lang="en-US" sz="2400" dirty="0" smtClean="0"/>
              <a:t>,</a:t>
            </a:r>
            <a:r>
              <a:rPr lang="zh-TW" sz="2400" dirty="0" smtClean="0"/>
              <a:t>邊際</a:t>
            </a:r>
            <a:r>
              <a:rPr lang="zh-TW" sz="2400" dirty="0"/>
              <a:t>效益遞減</a:t>
            </a:r>
            <a:endParaRPr lang="en-US" sz="2400" dirty="0"/>
          </a:p>
        </c:rich>
      </c:tx>
      <c:layout>
        <c:manualLayout>
          <c:xMode val="edge"/>
          <c:yMode val="edge"/>
          <c:x val="0.16520565074972063"/>
          <c:y val="1.48148148148148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0.10573969524135376"/>
          <c:y val="0.10783333333333334"/>
          <c:w val="0.82913008419384526"/>
          <c:h val="0.7876698745990085"/>
        </c:manualLayout>
      </c:layout>
      <c:scatterChart>
        <c:scatterStyle val="lineMarker"/>
        <c:varyColors val="0"/>
        <c:ser>
          <c:idx val="0"/>
          <c:order val="0"/>
          <c:tx>
            <c:strRef>
              <c:f>Data!$D$2:$D$17</c:f>
              <c:strCache>
                <c:ptCount val="16"/>
                <c:pt idx="0">
                  <c:v>47</c:v>
                </c:pt>
                <c:pt idx="1">
                  <c:v>69</c:v>
                </c:pt>
                <c:pt idx="2">
                  <c:v>90</c:v>
                </c:pt>
                <c:pt idx="3">
                  <c:v>97</c:v>
                </c:pt>
                <c:pt idx="4">
                  <c:v>96</c:v>
                </c:pt>
                <c:pt idx="5">
                  <c:v>112</c:v>
                </c:pt>
                <c:pt idx="6">
                  <c:v>134</c:v>
                </c:pt>
                <c:pt idx="7">
                  <c:v>141</c:v>
                </c:pt>
                <c:pt idx="8">
                  <c:v>139</c:v>
                </c:pt>
                <c:pt idx="9">
                  <c:v>141</c:v>
                </c:pt>
                <c:pt idx="10">
                  <c:v>154</c:v>
                </c:pt>
                <c:pt idx="11">
                  <c:v>167</c:v>
                </c:pt>
                <c:pt idx="12">
                  <c:v>179</c:v>
                </c:pt>
                <c:pt idx="13">
                  <c:v>211</c:v>
                </c:pt>
                <c:pt idx="14">
                  <c:v>243</c:v>
                </c:pt>
                <c:pt idx="15">
                  <c:v>270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2.112317042721374E-2"/>
                  <c:y val="-1.38750364537766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809F-4CD4-9CA9-0F1854065E6A}"/>
                </c:ext>
              </c:extLst>
            </c:dLbl>
            <c:dLbl>
              <c:idx val="1"/>
              <c:layout>
                <c:manualLayout>
                  <c:x val="-7.3203929215958349E-2"/>
                  <c:y val="-2.49861475648878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809F-4CD4-9CA9-0F1854065E6A}"/>
                </c:ext>
              </c:extLst>
            </c:dLbl>
            <c:dLbl>
              <c:idx val="2"/>
              <c:layout>
                <c:manualLayout>
                  <c:x val="-9.7287444018470365E-2"/>
                  <c:y val="-2.31342957130360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809F-4CD4-9CA9-0F1854065E6A}"/>
                </c:ext>
              </c:extLst>
            </c:dLbl>
            <c:dLbl>
              <c:idx val="3"/>
              <c:layout>
                <c:manualLayout>
                  <c:x val="-6.9022728594097638E-2"/>
                  <c:y val="-5.289034703995327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809F-4CD4-9CA9-0F1854065E6A}"/>
                </c:ext>
              </c:extLst>
            </c:dLbl>
            <c:dLbl>
              <c:idx val="4"/>
              <c:layout>
                <c:manualLayout>
                  <c:x val="4.1154654100245436E-2"/>
                  <c:y val="3.04429862933799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809F-4CD4-9CA9-0F1854065E6A}"/>
                </c:ext>
              </c:extLst>
            </c:dLbl>
            <c:dLbl>
              <c:idx val="5"/>
              <c:layout>
                <c:manualLayout>
                  <c:x val="-9.8601071425201289E-2"/>
                  <c:y val="-6.585331000291637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809F-4CD4-9CA9-0F1854065E6A}"/>
                </c:ext>
              </c:extLst>
            </c:dLbl>
            <c:dLbl>
              <c:idx val="6"/>
              <c:layout>
                <c:manualLayout>
                  <c:x val="1.9308057423130767E-2"/>
                  <c:y val="7.8591134441528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809F-4CD4-9CA9-0F1854065E6A}"/>
                </c:ext>
              </c:extLst>
            </c:dLbl>
            <c:dLbl>
              <c:idx val="7"/>
              <c:layout>
                <c:manualLayout>
                  <c:x val="-5.800940411675911E-2"/>
                  <c:y val="-3.992738407699044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809F-4CD4-9CA9-0F1854065E6A}"/>
                </c:ext>
              </c:extLst>
            </c:dLbl>
            <c:dLbl>
              <c:idx val="8"/>
              <c:layout>
                <c:manualLayout>
                  <c:x val="-3.8871810388361955E-3"/>
                  <c:y val="2.85911344415281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809F-4CD4-9CA9-0F1854065E6A}"/>
                </c:ext>
              </c:extLst>
            </c:dLbl>
            <c:dLbl>
              <c:idx val="9"/>
              <c:layout>
                <c:manualLayout>
                  <c:x val="-6.336413831902124E-2"/>
                  <c:y val="-7.69644211140274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809F-4CD4-9CA9-0F1854065E6A}"/>
                </c:ext>
              </c:extLst>
            </c:dLbl>
            <c:dLbl>
              <c:idx val="10"/>
              <c:layout>
                <c:manualLayout>
                  <c:x val="2.5106867038622437E-2"/>
                  <c:y val="2.303557888597251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809F-4CD4-9CA9-0F1854065E6A}"/>
                </c:ext>
              </c:extLst>
            </c:dLbl>
            <c:dLbl>
              <c:idx val="14"/>
              <c:layout>
                <c:manualLayout>
                  <c:x val="-6.7744999194055605E-2"/>
                  <c:y val="-3.05417031204432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C-809F-4CD4-9CA9-0F1854065E6A}"/>
                </c:ext>
              </c:extLst>
            </c:dLbl>
            <c:numFmt formatCode="#,##0.0_);[Red]\(#,##0.0\)" sourceLinked="0"/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Data!$A$2:$A$17</c:f>
              <c:numCache>
                <c:formatCode>General</c:formatCode>
                <c:ptCount val="16"/>
                <c:pt idx="0">
                  <c:v>0.25</c:v>
                </c:pt>
                <c:pt idx="1">
                  <c:v>0.375</c:v>
                </c:pt>
                <c:pt idx="2">
                  <c:v>0.5</c:v>
                </c:pt>
                <c:pt idx="3">
                  <c:v>0.6</c:v>
                </c:pt>
                <c:pt idx="4">
                  <c:v>0.7</c:v>
                </c:pt>
                <c:pt idx="5">
                  <c:v>0.8</c:v>
                </c:pt>
                <c:pt idx="6">
                  <c:v>0.9</c:v>
                </c:pt>
                <c:pt idx="7">
                  <c:v>1</c:v>
                </c:pt>
                <c:pt idx="8">
                  <c:v>1.1000000000000001</c:v>
                </c:pt>
                <c:pt idx="9">
                  <c:v>1.2</c:v>
                </c:pt>
                <c:pt idx="10">
                  <c:v>1.3</c:v>
                </c:pt>
                <c:pt idx="11">
                  <c:v>1.4</c:v>
                </c:pt>
                <c:pt idx="12">
                  <c:v>1.5</c:v>
                </c:pt>
                <c:pt idx="13">
                  <c:v>2</c:v>
                </c:pt>
                <c:pt idx="14">
                  <c:v>2.5</c:v>
                </c:pt>
                <c:pt idx="15">
                  <c:v>3</c:v>
                </c:pt>
              </c:numCache>
            </c:numRef>
          </c:xVal>
          <c:yVal>
            <c:numRef>
              <c:f>Data!$D$2:$D$17</c:f>
              <c:numCache>
                <c:formatCode>General</c:formatCode>
                <c:ptCount val="16"/>
                <c:pt idx="0">
                  <c:v>47</c:v>
                </c:pt>
                <c:pt idx="1">
                  <c:v>69</c:v>
                </c:pt>
                <c:pt idx="2">
                  <c:v>90</c:v>
                </c:pt>
                <c:pt idx="3">
                  <c:v>97</c:v>
                </c:pt>
                <c:pt idx="4">
                  <c:v>96</c:v>
                </c:pt>
                <c:pt idx="5">
                  <c:v>112</c:v>
                </c:pt>
                <c:pt idx="6">
                  <c:v>134</c:v>
                </c:pt>
                <c:pt idx="7">
                  <c:v>141</c:v>
                </c:pt>
                <c:pt idx="8">
                  <c:v>139</c:v>
                </c:pt>
                <c:pt idx="9">
                  <c:v>141</c:v>
                </c:pt>
                <c:pt idx="10">
                  <c:v>154</c:v>
                </c:pt>
                <c:pt idx="11">
                  <c:v>167</c:v>
                </c:pt>
                <c:pt idx="12">
                  <c:v>179</c:v>
                </c:pt>
                <c:pt idx="13">
                  <c:v>211</c:v>
                </c:pt>
                <c:pt idx="14">
                  <c:v>243</c:v>
                </c:pt>
                <c:pt idx="15">
                  <c:v>270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09F-4CD4-9CA9-0F1854065E6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17645544"/>
        <c:axId val="517647184"/>
      </c:scatterChart>
      <c:valAx>
        <c:axId val="517645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sz="1800" dirty="0"/>
                  <a:t>取樣率</a:t>
                </a:r>
                <a:r>
                  <a:rPr lang="en-US" sz="1800" dirty="0"/>
                  <a:t>(FPS)</a:t>
                </a:r>
              </a:p>
            </c:rich>
          </c:tx>
          <c:layout>
            <c:manualLayout>
              <c:xMode val="edge"/>
              <c:yMode val="edge"/>
              <c:x val="0.39912476024737936"/>
              <c:y val="0.933949110527850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17647184"/>
        <c:crosses val="autoZero"/>
        <c:crossBetween val="midCat"/>
      </c:valAx>
      <c:valAx>
        <c:axId val="517647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wordArtVertRtl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sz="1800" dirty="0"/>
                  <a:t>去重後句數</a:t>
                </a:r>
                <a:r>
                  <a:rPr lang="en-US" sz="1800" dirty="0"/>
                  <a:t>(</a:t>
                </a:r>
                <a:r>
                  <a:rPr lang="zh-TW" sz="1800" dirty="0"/>
                  <a:t>句</a:t>
                </a:r>
                <a:r>
                  <a:rPr lang="en-US" sz="1800" dirty="0"/>
                  <a:t>)</a:t>
                </a:r>
              </a:p>
            </c:rich>
          </c:tx>
          <c:layout>
            <c:manualLayout>
              <c:xMode val="edge"/>
              <c:yMode val="edge"/>
              <c:x val="1.4538604736424516E-4"/>
              <c:y val="0.3531835812190142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wordArtVertRtl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17645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zh-TW" sz="2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效益</a:t>
            </a:r>
            <a:r>
              <a:rPr lang="en-US" sz="2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/</a:t>
            </a:r>
            <a:r>
              <a:rPr lang="zh-TW" sz="2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代價 比例</a:t>
            </a:r>
            <a:endParaRPr lang="en-US" sz="24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endParaRPr>
          </a:p>
        </c:rich>
      </c:tx>
      <c:layout>
        <c:manualLayout>
          <c:xMode val="edge"/>
          <c:yMode val="edge"/>
          <c:x val="0.42574475065616796"/>
          <c:y val="2.78053601436362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7.0223097112860886E-2"/>
          <c:y val="0.10423302672511095"/>
          <c:w val="0.89988631889763782"/>
          <c:h val="0.7874590381797516"/>
        </c:manualLayout>
      </c:layout>
      <c:scatterChart>
        <c:scatterStyle val="lineMarker"/>
        <c:varyColors val="0"/>
        <c:ser>
          <c:idx val="0"/>
          <c:order val="0"/>
          <c:tx>
            <c:strRef>
              <c:f>Data!$C$1</c:f>
              <c:strCache>
                <c:ptCount val="1"/>
                <c:pt idx="0">
                  <c:v>OCR總耗時(s)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5.8525344488188975E-2"/>
                  <c:y val="-2.8932170538958375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50B-4498-9404-7DE0CE8BFA86}"/>
                </c:ext>
              </c:extLst>
            </c:dLbl>
            <c:dLbl>
              <c:idx val="6"/>
              <c:layout>
                <c:manualLayout>
                  <c:x val="-2.2006643700787441E-2"/>
                  <c:y val="-3.81133399025017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250B-4498-9404-7DE0CE8BFA86}"/>
                </c:ext>
              </c:extLst>
            </c:dLbl>
            <c:dLbl>
              <c:idx val="7"/>
              <c:layout>
                <c:manualLayout>
                  <c:x val="-1.4322424540682452E-2"/>
                  <c:y val="-3.4405958550016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50B-4498-9404-7DE0CE8BFA86}"/>
                </c:ext>
              </c:extLst>
            </c:dLbl>
            <c:dLbl>
              <c:idx val="8"/>
              <c:layout>
                <c:manualLayout>
                  <c:x val="-6.2254183070866144E-2"/>
                  <c:y val="1.935107106101313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250B-4498-9404-7DE0CE8BFA86}"/>
                </c:ext>
              </c:extLst>
            </c:dLbl>
            <c:dLbl>
              <c:idx val="9"/>
              <c:layout>
                <c:manualLayout>
                  <c:x val="-3.222703412073491E-2"/>
                  <c:y val="3.60342871471947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250B-4498-9404-7DE0CE8BFA86}"/>
                </c:ext>
              </c:extLst>
            </c:dLbl>
            <c:dLbl>
              <c:idx val="10"/>
              <c:layout>
                <c:manualLayout>
                  <c:x val="-2.7803723753280839E-2"/>
                  <c:y val="-3.996703057874412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250B-4498-9404-7DE0CE8BFA86}"/>
                </c:ext>
              </c:extLst>
            </c:dLbl>
            <c:dLbl>
              <c:idx val="11"/>
              <c:layout>
                <c:manualLayout>
                  <c:x val="-1.6828483396097226E-2"/>
                  <c:y val="-4.7381793283713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250B-4498-9404-7DE0CE8BFA86}"/>
                </c:ext>
              </c:extLst>
            </c:dLbl>
            <c:dLbl>
              <c:idx val="12"/>
              <c:layout>
                <c:manualLayout>
                  <c:x val="-9.8689304461942254E-3"/>
                  <c:y val="-2.69911958450472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250B-4498-9404-7DE0CE8BFA86}"/>
                </c:ext>
              </c:extLst>
            </c:dLbl>
            <c:numFmt formatCode="#,##0.00_);[Red]\(#,##0.00\)" sourceLinked="0"/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Data!$A$2:$A$17</c:f>
              <c:numCache>
                <c:formatCode>General</c:formatCode>
                <c:ptCount val="16"/>
                <c:pt idx="0">
                  <c:v>0.25</c:v>
                </c:pt>
                <c:pt idx="1">
                  <c:v>0.375</c:v>
                </c:pt>
                <c:pt idx="2">
                  <c:v>0.5</c:v>
                </c:pt>
                <c:pt idx="3">
                  <c:v>0.6</c:v>
                </c:pt>
                <c:pt idx="4">
                  <c:v>0.7</c:v>
                </c:pt>
                <c:pt idx="5">
                  <c:v>0.8</c:v>
                </c:pt>
                <c:pt idx="6">
                  <c:v>0.9</c:v>
                </c:pt>
                <c:pt idx="7">
                  <c:v>1</c:v>
                </c:pt>
                <c:pt idx="8">
                  <c:v>1.1000000000000001</c:v>
                </c:pt>
                <c:pt idx="9">
                  <c:v>1.2</c:v>
                </c:pt>
                <c:pt idx="10">
                  <c:v>1.3</c:v>
                </c:pt>
                <c:pt idx="11">
                  <c:v>1.4</c:v>
                </c:pt>
                <c:pt idx="12">
                  <c:v>1.5</c:v>
                </c:pt>
                <c:pt idx="13">
                  <c:v>2</c:v>
                </c:pt>
                <c:pt idx="14">
                  <c:v>2.5</c:v>
                </c:pt>
                <c:pt idx="15">
                  <c:v>3</c:v>
                </c:pt>
              </c:numCache>
            </c:numRef>
          </c:xVal>
          <c:yVal>
            <c:numRef>
              <c:f>Data!$H$2:$H$17</c:f>
              <c:numCache>
                <c:formatCode>General</c:formatCode>
                <c:ptCount val="16"/>
                <c:pt idx="0">
                  <c:v>1.3019390581717452</c:v>
                </c:pt>
                <c:pt idx="1">
                  <c:v>1.419753086419753</c:v>
                </c:pt>
                <c:pt idx="2">
                  <c:v>1.3886745872550532</c:v>
                </c:pt>
                <c:pt idx="3">
                  <c:v>1.2453460007703172</c:v>
                </c:pt>
                <c:pt idx="4">
                  <c:v>1.0603048376408217</c:v>
                </c:pt>
                <c:pt idx="5">
                  <c:v>1.0576015108593011</c:v>
                </c:pt>
                <c:pt idx="6">
                  <c:v>1.126523749474569</c:v>
                </c:pt>
                <c:pt idx="7">
                  <c:v>1.0893919493162327</c:v>
                </c:pt>
                <c:pt idx="8">
                  <c:v>0.95802605279481701</c:v>
                </c:pt>
                <c:pt idx="9">
                  <c:v>0.90268886043533936</c:v>
                </c:pt>
                <c:pt idx="10">
                  <c:v>0.91140439131206719</c:v>
                </c:pt>
                <c:pt idx="11">
                  <c:v>0.89997844363009272</c:v>
                </c:pt>
                <c:pt idx="12">
                  <c:v>0.86061829895668063</c:v>
                </c:pt>
                <c:pt idx="13">
                  <c:v>0.76112834571820209</c:v>
                </c:pt>
                <c:pt idx="14">
                  <c:v>0.73801858713478707</c:v>
                </c:pt>
                <c:pt idx="15">
                  <c:v>0.69713400464756003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50B-4498-9404-7DE0CE8BFA8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17645544"/>
        <c:axId val="517647184"/>
      </c:scatterChart>
      <c:valAx>
        <c:axId val="517645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sz="10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sz="18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rPr>
                  <a:t>取樣率</a:t>
                </a:r>
                <a:r>
                  <a:rPr lang="en-US" sz="18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rPr>
                  <a:t>(FPS)</a:t>
                </a:r>
              </a:p>
            </c:rich>
          </c:tx>
          <c:layout>
            <c:manualLayout>
              <c:xMode val="edge"/>
              <c:yMode val="edge"/>
              <c:x val="0.4553746719160105"/>
              <c:y val="0.930271162834757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sz="100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17647184"/>
        <c:crosses val="autoZero"/>
        <c:crossBetween val="midCat"/>
      </c:valAx>
      <c:valAx>
        <c:axId val="517647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wordArtVertRtl" wrap="square" anchor="ctr" anchorCtr="1"/>
              <a:lstStyle/>
              <a:p>
                <a:pPr algn="ctr" rtl="0">
                  <a:defRPr sz="10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sz="18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rPr>
                  <a:t>單位時間句數</a:t>
                </a:r>
                <a:r>
                  <a:rPr lang="en-US" sz="18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TW" sz="18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rPr>
                  <a:t>句</a:t>
                </a:r>
                <a:r>
                  <a:rPr lang="en-US" sz="18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rPr>
                  <a:t>/s)</a:t>
                </a:r>
              </a:p>
            </c:rich>
          </c:tx>
          <c:layout>
            <c:manualLayout>
              <c:xMode val="edge"/>
              <c:yMode val="edge"/>
              <c:x val="1.2289780183727034E-2"/>
              <c:y val="0.384671174978620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wordArtVertRtl" wrap="square" anchor="ctr" anchorCtr="1"/>
            <a:lstStyle/>
            <a:p>
              <a:pPr algn="ctr" rtl="0">
                <a:defRPr sz="100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17645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dirty="0"/>
              <a:t>耗時差異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Denoise開關評估!$H$6</c:f>
              <c:strCache>
                <c:ptCount val="1"/>
                <c:pt idx="0">
                  <c:v>Phase1 擷取(秒)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Denoise開關評估!$G$7:$G$8</c:f>
              <c:strCache>
                <c:ptCount val="2"/>
                <c:pt idx="0">
                  <c:v>denoise_on</c:v>
                </c:pt>
                <c:pt idx="1">
                  <c:v>denoise_off</c:v>
                </c:pt>
              </c:strCache>
            </c:strRef>
          </c:cat>
          <c:val>
            <c:numRef>
              <c:f>Denoise開關評估!$H$7:$H$8</c:f>
              <c:numCache>
                <c:formatCode>General</c:formatCode>
                <c:ptCount val="2"/>
                <c:pt idx="0">
                  <c:v>27.85</c:v>
                </c:pt>
                <c:pt idx="1">
                  <c:v>27.85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58-4BD0-AFEE-088581FAA6C8}"/>
            </c:ext>
          </c:extLst>
        </c:ser>
        <c:ser>
          <c:idx val="1"/>
          <c:order val="1"/>
          <c:tx>
            <c:strRef>
              <c:f>Denoise開關評估!$I$6</c:f>
              <c:strCache>
                <c:ptCount val="1"/>
                <c:pt idx="0">
                  <c:v>Phase2 前處理(秒)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Denoise開關評估!$G$7:$G$8</c:f>
              <c:strCache>
                <c:ptCount val="2"/>
                <c:pt idx="0">
                  <c:v>denoise_on</c:v>
                </c:pt>
                <c:pt idx="1">
                  <c:v>denoise_off</c:v>
                </c:pt>
              </c:strCache>
            </c:strRef>
          </c:cat>
          <c:val>
            <c:numRef>
              <c:f>Denoise開關評估!$I$7:$I$8</c:f>
              <c:numCache>
                <c:formatCode>General</c:formatCode>
                <c:ptCount val="2"/>
                <c:pt idx="0">
                  <c:v>122.82</c:v>
                </c:pt>
                <c:pt idx="1">
                  <c:v>11.85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58-4BD0-AFEE-088581FAA6C8}"/>
            </c:ext>
          </c:extLst>
        </c:ser>
        <c:ser>
          <c:idx val="2"/>
          <c:order val="2"/>
          <c:tx>
            <c:strRef>
              <c:f>Denoise開關評估!$J$6</c:f>
              <c:strCache>
                <c:ptCount val="1"/>
                <c:pt idx="0">
                  <c:v>Phase3 OCR(秒)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Denoise開關評估!$G$7:$G$8</c:f>
              <c:strCache>
                <c:ptCount val="2"/>
                <c:pt idx="0">
                  <c:v>denoise_on</c:v>
                </c:pt>
                <c:pt idx="1">
                  <c:v>denoise_off</c:v>
                </c:pt>
              </c:strCache>
            </c:strRef>
          </c:cat>
          <c:val>
            <c:numRef>
              <c:f>Denoise開關評估!$J$7:$J$8</c:f>
              <c:numCache>
                <c:formatCode>General</c:formatCode>
                <c:ptCount val="2"/>
                <c:pt idx="0">
                  <c:v>206.83</c:v>
                </c:pt>
                <c:pt idx="1">
                  <c:v>206.32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58-4BD0-AFEE-088581FAA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91949656"/>
        <c:axId val="491949984"/>
      </c:barChart>
      <c:catAx>
        <c:axId val="491949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91949984"/>
        <c:crosses val="autoZero"/>
        <c:auto val="1"/>
        <c:lblAlgn val="ctr"/>
        <c:lblOffset val="100"/>
        <c:noMultiLvlLbl val="0"/>
      </c:catAx>
      <c:valAx>
        <c:axId val="491949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dirty="0"/>
                  <a:t>處理時間</a:t>
                </a:r>
                <a:r>
                  <a:rPr lang="en-US" dirty="0"/>
                  <a:t>(</a:t>
                </a:r>
                <a:r>
                  <a:rPr lang="zh-TW" dirty="0"/>
                  <a:t>秒</a:t>
                </a:r>
                <a:r>
                  <a:rPr lang="en-US" dirty="0"/>
                  <a:t>)</a:t>
                </a:r>
                <a:endParaRPr lang="zh-TW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91949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 baseline="0">
                <a:latin typeface="Microsoft JhengHei"/>
              </a:defRPr>
            </a:pPr>
            <a:r>
              <a:rPr lang="zh-TW" altLang="en-US" sz="1200" b="1" baseline="0" dirty="0">
                <a:latin typeface="Microsoft JhengHei"/>
              </a:rPr>
              <a:t>優化前後</a:t>
            </a:r>
            <a:r>
              <a:rPr lang="en-US" sz="1200" b="1" baseline="0" dirty="0" err="1">
                <a:latin typeface="Microsoft JhengHei"/>
              </a:rPr>
              <a:t>輸出筆數對比</a:t>
            </a:r>
            <a:endParaRPr lang="en-US" sz="1200" b="1" baseline="0" dirty="0">
              <a:latin typeface="Microsoft JhengHei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效能視覺化圖表!$B$5</c:f>
              <c:strCache>
                <c:ptCount val="1"/>
                <c:pt idx="0">
                  <c:v>原始方案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效能視覺化圖表!$A$6:$A$8</c:f>
              <c:strCache>
                <c:ptCount val="3"/>
                <c:pt idx="0">
                  <c:v>資料集A (3,326 筆)</c:v>
                </c:pt>
                <c:pt idx="1">
                  <c:v>資料集B (2,569 筆)</c:v>
                </c:pt>
                <c:pt idx="2">
                  <c:v>Top 5 高頻字彙辨識結果(筆)</c:v>
                </c:pt>
              </c:strCache>
            </c:strRef>
          </c:cat>
          <c:val>
            <c:numRef>
              <c:f>效能視覺化圖表!$B$6:$B$8</c:f>
              <c:numCache>
                <c:formatCode>#,##0</c:formatCode>
                <c:ptCount val="3"/>
                <c:pt idx="0">
                  <c:v>3180</c:v>
                </c:pt>
                <c:pt idx="1">
                  <c:v>2443</c:v>
                </c:pt>
                <c:pt idx="2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9B-4613-B88E-7B989A1C5CE8}"/>
            </c:ext>
          </c:extLst>
        </c:ser>
        <c:ser>
          <c:idx val="1"/>
          <c:order val="1"/>
          <c:tx>
            <c:strRef>
              <c:f>效能視覺化圖表!$C$5</c:f>
              <c:strCache>
                <c:ptCount val="1"/>
                <c:pt idx="0">
                  <c:v>優化方案</c:v>
                </c:pt>
              </c:strCache>
            </c:strRef>
          </c:tx>
          <c:spPr>
            <a:solidFill>
              <a:srgbClr val="37562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效能視覺化圖表!$A$6:$A$8</c:f>
              <c:strCache>
                <c:ptCount val="3"/>
                <c:pt idx="0">
                  <c:v>資料集A (3,326 筆)</c:v>
                </c:pt>
                <c:pt idx="1">
                  <c:v>資料集B (2,569 筆)</c:v>
                </c:pt>
                <c:pt idx="2">
                  <c:v>Top 5 高頻字彙辨識結果(筆)</c:v>
                </c:pt>
              </c:strCache>
            </c:strRef>
          </c:cat>
          <c:val>
            <c:numRef>
              <c:f>效能視覺化圖表!$C$6:$C$8</c:f>
              <c:numCache>
                <c:formatCode>#,##0</c:formatCode>
                <c:ptCount val="3"/>
                <c:pt idx="0">
                  <c:v>145</c:v>
                </c:pt>
                <c:pt idx="1">
                  <c:v>225</c:v>
                </c:pt>
                <c:pt idx="2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9B-4613-B88E-7B989A1C5C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0010001"/>
        <c:axId val="50010002"/>
      </c:barChart>
      <c:catAx>
        <c:axId val="500100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0"/>
        <c:axPos val="l"/>
        <c:majorGridlines/>
        <c:title>
          <c:tx>
            <c:rich>
              <a:bodyPr rot="0" vert="eaVert"/>
              <a:lstStyle/>
              <a:p>
                <a:pPr>
                  <a:defRPr sz="1000" baseline="0">
                    <a:latin typeface="Microsoft JhengHei"/>
                  </a:defRPr>
                </a:pPr>
                <a:r>
                  <a:rPr lang="en-US" sz="1000" baseline="0">
                    <a:latin typeface="Microsoft JhengHei"/>
                  </a:rPr>
                  <a:t>輸出筆數 (筆)</a:t>
                </a:r>
              </a:p>
            </c:rich>
          </c:tx>
          <c:layout/>
          <c:overlay val="0"/>
        </c:title>
        <c:numFmt formatCode="#,##0" sourceLinked="1"/>
        <c:majorTickMark val="out"/>
        <c:minorTickMark val="none"/>
        <c:tickLblPos val="nextTo"/>
        <c:crossAx val="50010001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 baseline="0">
                <a:latin typeface="Microsoft JhengHei"/>
              </a:defRPr>
            </a:pPr>
            <a:r>
              <a:rPr lang="en-US" sz="1200" b="1" baseline="0">
                <a:latin typeface="Microsoft JhengHei"/>
              </a:rPr>
              <a:t>品質指標比對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效能視覺化圖表!$B$11</c:f>
              <c:strCache>
                <c:ptCount val="1"/>
                <c:pt idx="0">
                  <c:v>原始方案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效能視覺化圖表!$A$12:$A$14</c:f>
              <c:strCache>
                <c:ptCount val="3"/>
                <c:pt idx="0">
                  <c:v>無效字段佔比</c:v>
                </c:pt>
                <c:pt idx="1">
                  <c:v>多影格字段合成率</c:v>
                </c:pt>
                <c:pt idx="2">
                  <c:v>冗餘字段壓縮率</c:v>
                </c:pt>
              </c:strCache>
            </c:strRef>
          </c:cat>
          <c:val>
            <c:numRef>
              <c:f>效能視覺化圖表!$B$12:$B$14</c:f>
              <c:numCache>
                <c:formatCode>0.0%</c:formatCode>
                <c:ptCount val="3"/>
                <c:pt idx="0">
                  <c:v>0.99180000000000001</c:v>
                </c:pt>
                <c:pt idx="1">
                  <c:v>7.7999999999999996E-3</c:v>
                </c:pt>
                <c:pt idx="2">
                  <c:v>4.9000000000000002E-2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C0-4328-B018-6DEB5BAC4D9E}"/>
            </c:ext>
          </c:extLst>
        </c:ser>
        <c:ser>
          <c:idx val="1"/>
          <c:order val="1"/>
          <c:tx>
            <c:strRef>
              <c:f>效能視覺化圖表!$C$11</c:f>
              <c:strCache>
                <c:ptCount val="1"/>
                <c:pt idx="0">
                  <c:v>優化方案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效能視覺化圖表!$A$12:$A$14</c:f>
              <c:strCache>
                <c:ptCount val="3"/>
                <c:pt idx="0">
                  <c:v>無效字段佔比</c:v>
                </c:pt>
                <c:pt idx="1">
                  <c:v>多影格字段合成率</c:v>
                </c:pt>
                <c:pt idx="2">
                  <c:v>冗餘字段壓縮率</c:v>
                </c:pt>
              </c:strCache>
            </c:strRef>
          </c:cat>
          <c:val>
            <c:numRef>
              <c:f>效能視覺化圖表!$C$12:$C$14</c:f>
              <c:numCache>
                <c:formatCode>0.0%</c:formatCode>
                <c:ptCount val="3"/>
                <c:pt idx="0">
                  <c:v>0.16439999999999999</c:v>
                </c:pt>
                <c:pt idx="1">
                  <c:v>0.83560000000000001</c:v>
                </c:pt>
                <c:pt idx="2">
                  <c:v>0.91239999999999999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C0-4328-B018-6DEB5BAC4D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0020001"/>
        <c:axId val="50020002"/>
      </c:barChart>
      <c:catAx>
        <c:axId val="500200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50020002"/>
        <c:crosses val="autoZero"/>
        <c:auto val="1"/>
        <c:lblAlgn val="ctr"/>
        <c:lblOffset val="100"/>
        <c:noMultiLvlLbl val="0"/>
      </c:catAx>
      <c:valAx>
        <c:axId val="50020002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0" vert="eaVert"/>
              <a:lstStyle/>
              <a:p>
                <a:pPr>
                  <a:defRPr sz="1000" baseline="0">
                    <a:latin typeface="Microsoft JhengHei"/>
                  </a:defRPr>
                </a:pPr>
                <a:r>
                  <a:rPr lang="en-US" sz="1000" baseline="0">
                    <a:latin typeface="Microsoft JhengHei"/>
                  </a:rPr>
                  <a:t>百分比 (%)</a:t>
                </a:r>
              </a:p>
            </c:rich>
          </c:tx>
          <c:layout/>
          <c:overlay val="0"/>
        </c:title>
        <c:numFmt formatCode="0.0%" sourceLinked="1"/>
        <c:majorTickMark val="out"/>
        <c:minorTickMark val="none"/>
        <c:tickLblPos val="nextTo"/>
        <c:crossAx val="50020001"/>
        <c:crosses val="autoZero"/>
        <c:crossBetween val="between"/>
      </c:valAx>
    </c:plotArea>
    <c:legend>
      <c:legendPos val="t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baseline="0" dirty="0"/>
              <a:t>SLA </a:t>
            </a:r>
            <a:r>
              <a:rPr lang="zh-TW" altLang="en-US" sz="1400" b="0" i="0" u="none" strike="noStrike" baseline="0" dirty="0"/>
              <a:t>合規性分佈圖 </a:t>
            </a:r>
            <a:endParaRPr lang="zh-TW" alt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工作表1!$K$1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F8-40C5-9806-B4250D10B3D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工作表1!$J$2:$J$6</c:f>
              <c:strCache>
                <c:ptCount val="5"/>
                <c:pt idx="0">
                  <c:v>Channel 1 - Komoran</c:v>
                </c:pt>
                <c:pt idx="1">
                  <c:v>Channel 1 - Mecab</c:v>
                </c:pt>
                <c:pt idx="2">
                  <c:v>Channel 1 - Okt</c:v>
                </c:pt>
                <c:pt idx="3">
                  <c:v>Channel 2 (純 LLM)</c:v>
                </c:pt>
                <c:pt idx="4">
                  <c:v>Channel 3 (混合)</c:v>
                </c:pt>
              </c:strCache>
            </c:strRef>
          </c:cat>
          <c:val>
            <c:numRef>
              <c:f>工作表1!$K$2:$K$6</c:f>
              <c:numCache>
                <c:formatCode>General</c:formatCode>
                <c:ptCount val="5"/>
                <c:pt idx="0">
                  <c:v>0.63</c:v>
                </c:pt>
                <c:pt idx="1">
                  <c:v>0.63</c:v>
                </c:pt>
                <c:pt idx="2">
                  <c:v>0.62</c:v>
                </c:pt>
                <c:pt idx="3">
                  <c:v>1.36</c:v>
                </c:pt>
                <c:pt idx="4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F8-40C5-9806-B4250D10B3D2}"/>
            </c:ext>
          </c:extLst>
        </c:ser>
        <c:ser>
          <c:idx val="1"/>
          <c:order val="1"/>
          <c:tx>
            <c:strRef>
              <c:f>工作表1!$L$1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0F8-40C5-9806-B4250D10B3D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工作表1!$J$2:$J$6</c:f>
              <c:strCache>
                <c:ptCount val="5"/>
                <c:pt idx="0">
                  <c:v>Channel 1 - Komoran</c:v>
                </c:pt>
                <c:pt idx="1">
                  <c:v>Channel 1 - Mecab</c:v>
                </c:pt>
                <c:pt idx="2">
                  <c:v>Channel 1 - Okt</c:v>
                </c:pt>
                <c:pt idx="3">
                  <c:v>Channel 2 (純 LLM)</c:v>
                </c:pt>
                <c:pt idx="4">
                  <c:v>Channel 3 (混合)</c:v>
                </c:pt>
              </c:strCache>
            </c:strRef>
          </c:cat>
          <c:val>
            <c:numRef>
              <c:f>工作表1!$L$2:$L$6</c:f>
              <c:numCache>
                <c:formatCode>General</c:formatCode>
                <c:ptCount val="5"/>
                <c:pt idx="0">
                  <c:v>0.71</c:v>
                </c:pt>
                <c:pt idx="1">
                  <c:v>0.71</c:v>
                </c:pt>
                <c:pt idx="2">
                  <c:v>0.7</c:v>
                </c:pt>
                <c:pt idx="3">
                  <c:v>2.33</c:v>
                </c:pt>
                <c:pt idx="4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0F8-40C5-9806-B4250D10B3D2}"/>
            </c:ext>
          </c:extLst>
        </c:ser>
        <c:ser>
          <c:idx val="2"/>
          <c:order val="2"/>
          <c:tx>
            <c:strRef>
              <c:f>工作表1!$M$1</c:f>
              <c:strCache>
                <c:ptCount val="1"/>
                <c:pt idx="0">
                  <c:v>平均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0F8-40C5-9806-B4250D10B3D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工作表1!$J$2:$J$6</c:f>
              <c:strCache>
                <c:ptCount val="5"/>
                <c:pt idx="0">
                  <c:v>Channel 1 - Komoran</c:v>
                </c:pt>
                <c:pt idx="1">
                  <c:v>Channel 1 - Mecab</c:v>
                </c:pt>
                <c:pt idx="2">
                  <c:v>Channel 1 - Okt</c:v>
                </c:pt>
                <c:pt idx="3">
                  <c:v>Channel 2 (純 LLM)</c:v>
                </c:pt>
                <c:pt idx="4">
                  <c:v>Channel 3 (混合)</c:v>
                </c:pt>
              </c:strCache>
            </c:strRef>
          </c:cat>
          <c:val>
            <c:numRef>
              <c:f>工作表1!$M$2:$M$6</c:f>
              <c:numCache>
                <c:formatCode>General</c:formatCode>
                <c:ptCount val="5"/>
                <c:pt idx="0">
                  <c:v>0.66999999999999993</c:v>
                </c:pt>
                <c:pt idx="1">
                  <c:v>0.66999999999999993</c:v>
                </c:pt>
                <c:pt idx="2">
                  <c:v>0.65999999999999992</c:v>
                </c:pt>
                <c:pt idx="3">
                  <c:v>1.8450000000000002</c:v>
                </c:pt>
                <c:pt idx="4">
                  <c:v>0.79499999999999993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0F8-40C5-9806-B4250D10B3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76516920"/>
        <c:axId val="576517576"/>
      </c:barChart>
      <c:lineChart>
        <c:grouping val="standard"/>
        <c:varyColors val="0"/>
        <c:ser>
          <c:idx val="3"/>
          <c:order val="3"/>
          <c:tx>
            <c:strRef>
              <c:f>工作表1!$N$1</c:f>
              <c:strCache>
                <c:ptCount val="1"/>
                <c:pt idx="0">
                  <c:v>閾值 Y=1.0</c:v>
                </c:pt>
              </c:strCache>
            </c:strRef>
          </c:tx>
          <c:spPr>
            <a:ln w="25400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none"/>
          </c:marker>
          <c:dPt>
            <c:idx val="4"/>
            <c:marker>
              <c:symbol val="none"/>
            </c:marker>
            <c:bubble3D val="0"/>
            <c:spPr>
              <a:ln w="25400" cap="rnd">
                <a:solidFill>
                  <a:srgbClr val="FF0000"/>
                </a:solidFill>
                <a:prstDash val="dash"/>
                <a:round/>
                <a:tailEnd type="none"/>
              </a:ln>
              <a:effectLst/>
            </c:spPr>
            <c:extLst>
              <c:ext xmlns:c16="http://schemas.microsoft.com/office/drawing/2014/chart" uri="{C3380CC4-5D6E-409C-BE32-E72D297353CC}">
                <c16:uniqueId val="{0000000A-30F8-40C5-9806-B4250D10B3D2}"/>
              </c:ext>
            </c:extLst>
          </c:dPt>
          <c:dLbls>
            <c:delete val="1"/>
          </c:dLbls>
          <c:cat>
            <c:strRef>
              <c:f>工作表1!$J$2:$J$6</c:f>
              <c:strCache>
                <c:ptCount val="5"/>
                <c:pt idx="0">
                  <c:v>Channel 1 - Komoran</c:v>
                </c:pt>
                <c:pt idx="1">
                  <c:v>Channel 1 - Mecab</c:v>
                </c:pt>
                <c:pt idx="2">
                  <c:v>Channel 1 - Okt</c:v>
                </c:pt>
                <c:pt idx="3">
                  <c:v>Channel 2 (純 LLM)</c:v>
                </c:pt>
                <c:pt idx="4">
                  <c:v>Channel 3 (混合)</c:v>
                </c:pt>
              </c:strCache>
            </c:strRef>
          </c:cat>
          <c:val>
            <c:numRef>
              <c:f>工作表1!$N$2:$N$6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30F8-40C5-9806-B4250D10B3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76516920"/>
        <c:axId val="576517576"/>
      </c:lineChart>
      <c:catAx>
        <c:axId val="576516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76517576"/>
        <c:crosses val="autoZero"/>
        <c:auto val="1"/>
        <c:lblAlgn val="ctr"/>
        <c:lblOffset val="100"/>
        <c:noMultiLvlLbl val="0"/>
      </c:catAx>
      <c:valAx>
        <c:axId val="576517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76516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layout>
        <c:manualLayout>
          <c:xMode val="edge"/>
          <c:yMode val="edge"/>
          <c:x val="0.77648895926361183"/>
          <c:y val="0.12189106903368101"/>
          <c:w val="0.21067787093334195"/>
          <c:h val="0.22932719448937056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solidFill>
      <a:schemeClr val="bg1"/>
    </a:solidFill>
    <a:ln w="12700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1400" b="0" i="0" u="none" strike="noStrike" baseline="0" dirty="0"/>
              <a:t>成本</a:t>
            </a:r>
            <a:r>
              <a:rPr lang="zh-TW" altLang="en-US" sz="1400" b="0" i="0" u="none" strike="noStrike" baseline="0" dirty="0" smtClean="0"/>
              <a:t>效益</a:t>
            </a:r>
            <a:endParaRPr lang="zh-TW" alt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ubbleChart>
        <c:varyColors val="0"/>
        <c:ser>
          <c:idx val="0"/>
          <c:order val="0"/>
          <c:spPr>
            <a:solidFill>
              <a:schemeClr val="accent1">
                <a:alpha val="75000"/>
              </a:schemeClr>
            </a:solidFill>
            <a:ln>
              <a:solidFill>
                <a:schemeClr val="accent1">
                  <a:alpha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75000"/>
                  <a:alpha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545A-4E6E-A3DC-97EFA9BEA42C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45A-4E6E-A3DC-97EFA9BEA42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75000"/>
                  <a:alpha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545A-4E6E-A3DC-97EFA9BEA42C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solidFill>
                  <a:schemeClr val="accent1">
                    <a:alpha val="4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45A-4E6E-A3DC-97EFA9BEA42C}"/>
              </c:ext>
            </c:extLst>
          </c:dPt>
          <c:dPt>
            <c:idx val="4"/>
            <c:invertIfNegative val="0"/>
            <c:bubble3D val="0"/>
            <c:spPr>
              <a:solidFill>
                <a:srgbClr val="FA123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45A-4E6E-A3DC-97EFA9BEA42C}"/>
              </c:ext>
            </c:extLst>
          </c:dPt>
          <c:dLbls>
            <c:dLbl>
              <c:idx val="0"/>
              <c:layout>
                <c:manualLayout>
                  <c:x val="-0.15914795669729881"/>
                  <c:y val="-0.12824155151808908"/>
                </c:manualLayout>
              </c:layout>
              <c:tx>
                <c:rich>
                  <a:bodyPr/>
                  <a:lstStyle/>
                  <a:p>
                    <a:fld id="{71C2FFEF-B000-413A-A87C-970B27D52EBC}" type="CELLRANGE">
                      <a:rPr lang="en-US" altLang="zh-TW"/>
                      <a:pPr/>
                      <a:t>[CELLRANGE]</a:t>
                    </a:fld>
                    <a:r>
                      <a:rPr lang="en-US" altLang="zh-TW" baseline="0"/>
                      <a:t>, </a:t>
                    </a:r>
                    <a:fld id="{79D08987-34D2-4AFE-BB66-B3E9C5B2BF42}" type="YVALUE">
                      <a:rPr lang="en-US" altLang="zh-TW" baseline="0"/>
                      <a:pPr/>
                      <a:t>[Y 值]</a:t>
                    </a:fld>
                    <a:endParaRPr lang="en-US" altLang="zh-TW" baseline="0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871466861598436"/>
                      <c:h val="8.6545717335315769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545A-4E6E-A3DC-97EFA9BEA42C}"/>
                </c:ext>
              </c:extLst>
            </c:dLbl>
            <c:dLbl>
              <c:idx val="1"/>
              <c:layout>
                <c:manualLayout>
                  <c:x val="1.3262322472848788E-2"/>
                  <c:y val="-9.0115684850549063E-2"/>
                </c:manualLayout>
              </c:layout>
              <c:tx>
                <c:rich>
                  <a:bodyPr/>
                  <a:lstStyle/>
                  <a:p>
                    <a:fld id="{F2E5584D-464E-41CC-9B03-B741F180C236}" type="CELLRANGE">
                      <a:rPr lang="en-US" altLang="zh-TW"/>
                      <a:pPr/>
                      <a:t>[CELLRANGE]</a:t>
                    </a:fld>
                    <a:r>
                      <a:rPr lang="en-US" altLang="zh-TW" baseline="0"/>
                      <a:t>, </a:t>
                    </a:r>
                    <a:fld id="{259383A5-2008-4A3C-8E1D-1BDAC17882A2}" type="YVALUE">
                      <a:rPr lang="en-US" altLang="zh-TW" baseline="0"/>
                      <a:pPr/>
                      <a:t>[Y 值]</a:t>
                    </a:fld>
                    <a:endParaRPr lang="en-US" altLang="zh-TW" baseline="0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778943887496519"/>
                      <c:h val="8.6545717335315769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545A-4E6E-A3DC-97EFA9BEA42C}"/>
                </c:ext>
              </c:extLst>
            </c:dLbl>
            <c:dLbl>
              <c:idx val="2"/>
              <c:layout>
                <c:manualLayout>
                  <c:x val="-7.073238652186023E-2"/>
                  <c:y val="0.11091161212375268"/>
                </c:manualLayout>
              </c:layout>
              <c:tx>
                <c:rich>
                  <a:bodyPr/>
                  <a:lstStyle/>
                  <a:p>
                    <a:fld id="{6B301D34-7245-44B1-B116-70BD17E21E6F}" type="CELLRANGE">
                      <a:rPr lang="en-US" altLang="zh-TW"/>
                      <a:pPr/>
                      <a:t>[CELLRANGE]</a:t>
                    </a:fld>
                    <a:r>
                      <a:rPr lang="en-US" altLang="zh-TW" baseline="0"/>
                      <a:t>, </a:t>
                    </a:r>
                    <a:fld id="{54D08C67-AA6F-4287-84D3-2100558A582C}" type="YVALUE">
                      <a:rPr lang="en-US" altLang="zh-TW" baseline="0"/>
                      <a:pPr/>
                      <a:t>[Y 值]</a:t>
                    </a:fld>
                    <a:endParaRPr lang="en-US" altLang="zh-TW" baseline="0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545A-4E6E-A3DC-97EFA9BEA42C}"/>
                </c:ext>
              </c:extLst>
            </c:dLbl>
            <c:dLbl>
              <c:idx val="3"/>
              <c:layout>
                <c:manualLayout>
                  <c:x val="-5.3049289891395152E-2"/>
                  <c:y val="-0.10051364848715087"/>
                </c:manualLayout>
              </c:layout>
              <c:tx>
                <c:rich>
                  <a:bodyPr/>
                  <a:lstStyle/>
                  <a:p>
                    <a:fld id="{0EDB6F38-4CDD-4092-A972-1CF6F8DCDCB2}" type="CELLRANGE">
                      <a:rPr lang="en-US" altLang="zh-TW"/>
                      <a:pPr/>
                      <a:t>[CELLRANGE]</a:t>
                    </a:fld>
                    <a:r>
                      <a:rPr lang="en-US" altLang="zh-TW" baseline="0"/>
                      <a:t>, </a:t>
                    </a:r>
                    <a:fld id="{3D942C44-F590-4B09-B63C-981E0652E027}" type="YVALUE">
                      <a:rPr lang="en-US" altLang="zh-TW" baseline="0"/>
                      <a:pPr/>
                      <a:t>[Y 值]</a:t>
                    </a:fld>
                    <a:endParaRPr lang="en-US" altLang="zh-TW" baseline="0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545A-4E6E-A3DC-97EFA9BEA42C}"/>
                </c:ext>
              </c:extLst>
            </c:dLbl>
            <c:dLbl>
              <c:idx val="4"/>
              <c:layout>
                <c:manualLayout>
                  <c:x val="-1.5472709551656919E-2"/>
                  <c:y val="8.3183709092814515E-2"/>
                </c:manualLayout>
              </c:layout>
              <c:tx>
                <c:rich>
                  <a:bodyPr/>
                  <a:lstStyle/>
                  <a:p>
                    <a:fld id="{B0B6FF51-8912-4A9C-A929-3CF7695A4B8C}" type="CELLRANGE">
                      <a:rPr lang="en-US" altLang="zh-TW"/>
                      <a:pPr/>
                      <a:t>[CELLRANGE]</a:t>
                    </a:fld>
                    <a:r>
                      <a:rPr lang="en-US" altLang="zh-TW" baseline="0"/>
                      <a:t>, </a:t>
                    </a:r>
                    <a:fld id="{E2A710AB-12CD-41DC-B1BC-0F4D31BF39E8}" type="YVALUE">
                      <a:rPr lang="en-US" altLang="zh-TW" baseline="0"/>
                      <a:pPr/>
                      <a:t>[Y 值]</a:t>
                    </a:fld>
                    <a:endParaRPr lang="en-US" altLang="zh-TW" baseline="0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545A-4E6E-A3DC-97EFA9BEA4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工作表1!$K$11:$K$15</c:f>
              <c:numCache>
                <c:formatCode>General</c:formatCode>
                <c:ptCount val="5"/>
                <c:pt idx="0">
                  <c:v>0.67</c:v>
                </c:pt>
                <c:pt idx="1">
                  <c:v>0.67</c:v>
                </c:pt>
                <c:pt idx="2">
                  <c:v>0.66</c:v>
                </c:pt>
                <c:pt idx="3">
                  <c:v>1.845</c:v>
                </c:pt>
                <c:pt idx="4">
                  <c:v>0.79500000000000004</c:v>
                </c:pt>
              </c:numCache>
            </c:numRef>
          </c:xVal>
          <c:yVal>
            <c:numRef>
              <c:f>工作表1!$L$11:$L$15</c:f>
              <c:numCache>
                <c:formatCode>General</c:formatCode>
                <c:ptCount val="5"/>
                <c:pt idx="0">
                  <c:v>84.3</c:v>
                </c:pt>
                <c:pt idx="1">
                  <c:v>80.7</c:v>
                </c:pt>
                <c:pt idx="2">
                  <c:v>74.900000000000006</c:v>
                </c:pt>
                <c:pt idx="3">
                  <c:v>31.1</c:v>
                </c:pt>
                <c:pt idx="4">
                  <c:v>81.099999999999994</c:v>
                </c:pt>
              </c:numCache>
            </c:numRef>
          </c:yVal>
          <c:bubbleSize>
            <c:numRef>
              <c:f>工作表1!$M$11:$M$15</c:f>
              <c:numCache>
                <c:formatCode>General</c:formatCode>
                <c:ptCount val="5"/>
                <c:pt idx="0">
                  <c:v>3713</c:v>
                </c:pt>
                <c:pt idx="1">
                  <c:v>3252</c:v>
                </c:pt>
                <c:pt idx="2">
                  <c:v>2609</c:v>
                </c:pt>
                <c:pt idx="3">
                  <c:v>422</c:v>
                </c:pt>
                <c:pt idx="4">
                  <c:v>3271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工作表1!$J$11:$J$15</c15:f>
                <c15:dlblRangeCache>
                  <c:ptCount val="5"/>
                  <c:pt idx="0">
                    <c:v>Channel 1 - Komoran</c:v>
                  </c:pt>
                  <c:pt idx="1">
                    <c:v>Channel 1 - Mecab</c:v>
                  </c:pt>
                  <c:pt idx="2">
                    <c:v>Channel 1 - Okt</c:v>
                  </c:pt>
                  <c:pt idx="3">
                    <c:v>Channel 2 (LLM)</c:v>
                  </c:pt>
                  <c:pt idx="4">
                    <c:v>Channel 3 (混合)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545A-4E6E-A3DC-97EFA9BEA42C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bubbleScale val="50"/>
        <c:showNegBubbles val="0"/>
        <c:axId val="560050904"/>
        <c:axId val="560049264"/>
      </c:bubbleChart>
      <c:valAx>
        <c:axId val="560050904"/>
        <c:scaling>
          <c:orientation val="minMax"/>
          <c:max val="1.9"/>
          <c:min val="0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sz="1000" b="0" i="0" u="none" strike="noStrike" baseline="0" dirty="0"/>
                  <a:t>平均時間預算比</a:t>
                </a:r>
                <a:endParaRPr lang="zh-TW" alt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0049264"/>
        <c:crosses val="autoZero"/>
        <c:crossBetween val="midCat"/>
      </c:valAx>
      <c:valAx>
        <c:axId val="560049264"/>
        <c:scaling>
          <c:orientation val="minMax"/>
          <c:max val="92"/>
          <c:min val="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sz="1000" b="0" i="0" u="none" strike="noStrike" baseline="0" dirty="0"/>
                  <a:t>平均有效準確率 </a:t>
                </a:r>
                <a:r>
                  <a:rPr lang="en-US" altLang="zh-TW" sz="1000" b="0" i="0" u="none" strike="noStrike" baseline="0" dirty="0"/>
                  <a:t>(%)</a:t>
                </a:r>
                <a:endParaRPr lang="zh-TW" alt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60050904"/>
        <c:crosses val="autoZero"/>
        <c:crossBetween val="midCat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0.39627</cdr:x>
      <cdr:y>0.09492</cdr:y>
    </cdr:from>
    <cdr:to>
      <cdr:x>0.39627</cdr:x>
      <cdr:y>0.87603</cdr:y>
    </cdr:to>
    <cdr:cxnSp macro="">
      <cdr:nvCxnSpPr>
        <cdr:cNvPr id="5" name="直線接點 4" title="X = 1.0"/>
        <cdr:cNvCxnSpPr/>
      </cdr:nvCxnSpPr>
      <cdr:spPr>
        <a:xfrm xmlns:a="http://schemas.openxmlformats.org/drawingml/2006/main" flipH="1" flipV="1">
          <a:off x="2729439" y="437449"/>
          <a:ext cx="0" cy="3600000"/>
        </a:xfrm>
        <a:prstGeom xmlns:a="http://schemas.openxmlformats.org/drawingml/2006/main" prst="line">
          <a:avLst/>
        </a:prstGeom>
        <a:ln xmlns:a="http://schemas.openxmlformats.org/drawingml/2006/main" w="19050">
          <a:solidFill>
            <a:srgbClr val="FF0000"/>
          </a:solidFill>
          <a:prstDash val="dash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0.34721</cdr:x>
      <cdr:y>0.89029</cdr:y>
    </cdr:from>
    <cdr:to>
      <cdr:x>0.45174</cdr:x>
      <cdr:y>0.9593</cdr:y>
    </cdr:to>
    <cdr:sp macro="" textlink="">
      <cdr:nvSpPr>
        <cdr:cNvPr id="6" name="文字方塊 5"/>
        <cdr:cNvSpPr txBox="1"/>
      </cdr:nvSpPr>
      <cdr:spPr>
        <a:xfrm xmlns:a="http://schemas.openxmlformats.org/drawingml/2006/main">
          <a:off x="2391509" y="4103208"/>
          <a:ext cx="720000" cy="31805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en-US" altLang="zh-TW" sz="1100">
              <a:solidFill>
                <a:srgbClr val="FF0000"/>
              </a:solidFill>
            </a:rPr>
            <a:t>X = 1.0</a:t>
          </a:r>
          <a:endParaRPr lang="zh-TW" altLang="en-US" sz="1100">
            <a:solidFill>
              <a:srgbClr val="FF0000"/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5E9C6-4F51-4599-8DEA-64FF093434C4}" type="datetimeFigureOut">
              <a:rPr lang="zh-TW" altLang="en-US" smtClean="0"/>
              <a:t>2026/10/14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 smtClean="0"/>
              <a:t>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D217B-F26A-49C5-8C15-643A2B2BC492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118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D217B-F26A-49C5-8C15-643A2B2BC49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3136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D217B-F26A-49C5-8C15-643A2B2BC49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4224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D217B-F26A-49C5-8C15-643A2B2BC49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3894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D217B-F26A-49C5-8C15-643A2B2BC49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5600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D217B-F26A-49C5-8C15-643A2B2BC49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3576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D217B-F26A-49C5-8C15-643A2B2BC49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4833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290" y="-1"/>
            <a:ext cx="596265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000" y="1303145"/>
            <a:ext cx="6408000" cy="4251707"/>
          </a:xfrm>
          <a:prstGeom prst="roundRect">
            <a:avLst>
              <a:gd name="adj" fmla="val 10998"/>
            </a:avLst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76200"/>
          </a:effectLst>
        </p:spPr>
      </p:pic>
      <p:sp>
        <p:nvSpPr>
          <p:cNvPr id="2" name="Rounded Rectangle 1"/>
          <p:cNvSpPr/>
          <p:nvPr/>
        </p:nvSpPr>
        <p:spPr>
          <a:xfrm>
            <a:off x="2311161" y="1037285"/>
            <a:ext cx="2533278" cy="840528"/>
          </a:xfrm>
          <a:prstGeom prst="roundRect">
            <a:avLst>
              <a:gd name="adj" fmla="val 33189"/>
            </a:avLst>
          </a:prstGeom>
          <a:solidFill>
            <a:srgbClr val="1E293B">
              <a:alpha val="40000"/>
            </a:srgbClr>
          </a:solidFill>
          <a:ln>
            <a:noFill/>
          </a:ln>
          <a:effectLst>
            <a:softEdge rad="101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62000" y="4778573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62000" y="2546151"/>
            <a:ext cx="5700712" cy="128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TW" altLang="en-US" sz="4200" b="1" i="0" u="none" dirty="0" smtClean="0">
                <a:solidFill>
                  <a:srgbClr val="F8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語言學習</a:t>
            </a:r>
            <a:endParaRPr lang="en-US" altLang="zh-TW" sz="4200" b="1" i="0" u="none" dirty="0" smtClean="0">
              <a:solidFill>
                <a:srgbClr val="F8FAF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ts val="5040"/>
              </a:lnSpc>
            </a:pPr>
            <a:r>
              <a:rPr lang="zh-TW" altLang="en-US" sz="4200" b="1" i="0" u="none" dirty="0" smtClean="0">
                <a:solidFill>
                  <a:srgbClr val="F8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影片字幕抓取工具</a:t>
            </a:r>
            <a:endParaRPr lang="zh-TW" altLang="en-US" sz="4200" b="1" i="0" u="none" dirty="0">
              <a:solidFill>
                <a:srgbClr val="F8FAF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4054673"/>
            <a:ext cx="2077492" cy="312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 err="1" smtClean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架構介紹與</a:t>
            </a:r>
            <a:r>
              <a:rPr lang="zh-TW" altLang="en-US" sz="1800" b="0" i="0" u="none" dirty="0" smtClean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</a:t>
            </a:r>
            <a:r>
              <a:rPr sz="1800" b="0" i="0" u="none" dirty="0" err="1" smtClean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報告</a:t>
            </a:r>
            <a:endParaRPr sz="1800" b="0" i="0" u="none" dirty="0">
              <a:solidFill>
                <a:srgbClr val="94A3B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02159"/>
            <a:ext cx="2200275" cy="276225"/>
          </a:xfrm>
          <a:prstGeom prst="roundRect">
            <a:avLst>
              <a:gd name="adj" fmla="val 1379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" name="群組 14"/>
          <p:cNvGrpSpPr/>
          <p:nvPr/>
        </p:nvGrpSpPr>
        <p:grpSpPr>
          <a:xfrm>
            <a:off x="6324600" y="3152268"/>
            <a:ext cx="5143500" cy="1767780"/>
            <a:chOff x="6286500" y="3288059"/>
            <a:chExt cx="5143500" cy="1767780"/>
          </a:xfrm>
        </p:grpSpPr>
        <p:grpSp>
          <p:nvGrpSpPr>
            <p:cNvPr id="13" name="群組 12"/>
            <p:cNvGrpSpPr/>
            <p:nvPr/>
          </p:nvGrpSpPr>
          <p:grpSpPr>
            <a:xfrm>
              <a:off x="6286500" y="3288059"/>
              <a:ext cx="5143500" cy="1767780"/>
              <a:chOff x="6286500" y="3288059"/>
              <a:chExt cx="5143500" cy="1767780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6286500" y="3288059"/>
                <a:ext cx="5143500" cy="1767780"/>
              </a:xfrm>
              <a:prstGeom prst="roundRect">
                <a:avLst>
                  <a:gd name="adj" fmla="val 6465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6286500" y="3288059"/>
                <a:ext cx="38100" cy="1767780"/>
              </a:xfrm>
              <a:prstGeom prst="rect">
                <a:avLst/>
              </a:prstGeom>
              <a:solidFill>
                <a:srgbClr val="3B82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6705600" y="3669059"/>
              <a:ext cx="461665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00" b="1" i="0" u="none" dirty="0" err="1" smtClean="0">
                  <a:solidFill>
                    <a:srgbClr val="0F172A"/>
                  </a:solidFill>
                  <a:latin typeface="微軟正黑體" panose="020B0604030504040204" pitchFamily="34" charset="-120"/>
                </a:rPr>
                <a:t>需求</a:t>
              </a:r>
              <a:endParaRPr sz="1800" b="1" i="0" u="none" dirty="0">
                <a:solidFill>
                  <a:srgbClr val="0F172A"/>
                </a:solidFill>
                <a:latin typeface="微軟正黑體" panose="020B0604030504040204" pitchFamily="34" charset="-12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705600" y="4126259"/>
              <a:ext cx="4438650" cy="5334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sz="1350" b="0" i="0" u="none" dirty="0" err="1">
                  <a:solidFill>
                    <a:srgbClr val="475569"/>
                  </a:solidFill>
                  <a:latin typeface="微軟正黑體" panose="020B0604030504040204" pitchFamily="34" charset="-120"/>
                </a:rPr>
                <a:t>擺脫環境依賴，僅憑影片與內嵌原生硬字幕，即可自動化製作單字卡</a:t>
              </a:r>
              <a:r>
                <a:rPr sz="1350" b="0" i="0" u="none" dirty="0">
                  <a:solidFill>
                    <a:srgbClr val="475569"/>
                  </a:solidFill>
                  <a:latin typeface="微軟正黑體" panose="020B0604030504040204" pitchFamily="34" charset="-120"/>
                </a:rPr>
                <a:t>。</a:t>
              </a: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607368" y="3152268"/>
            <a:ext cx="5143500" cy="1767780"/>
            <a:chOff x="762000" y="3288059"/>
            <a:chExt cx="5143500" cy="1767780"/>
          </a:xfrm>
        </p:grpSpPr>
        <p:grpSp>
          <p:nvGrpSpPr>
            <p:cNvPr id="7" name="群組 6"/>
            <p:cNvGrpSpPr/>
            <p:nvPr/>
          </p:nvGrpSpPr>
          <p:grpSpPr>
            <a:xfrm>
              <a:off x="762000" y="3288059"/>
              <a:ext cx="5143500" cy="1767780"/>
              <a:chOff x="762000" y="3288059"/>
              <a:chExt cx="5143500" cy="1767780"/>
            </a:xfrm>
          </p:grpSpPr>
          <p:sp>
            <p:nvSpPr>
              <p:cNvPr id="3" name="Rounded Rectangle 2"/>
              <p:cNvSpPr/>
              <p:nvPr/>
            </p:nvSpPr>
            <p:spPr>
              <a:xfrm>
                <a:off x="762000" y="3288059"/>
                <a:ext cx="5143500" cy="1767780"/>
              </a:xfrm>
              <a:prstGeom prst="roundRect">
                <a:avLst>
                  <a:gd name="adj" fmla="val 6465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762000" y="3288059"/>
                <a:ext cx="38100" cy="1767780"/>
              </a:xfrm>
              <a:prstGeom prst="rect">
                <a:avLst/>
              </a:prstGeom>
              <a:solidFill>
                <a:srgbClr val="EF444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181100" y="3669059"/>
              <a:ext cx="461665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00" b="1" i="0" u="none" dirty="0" err="1" smtClean="0">
                  <a:solidFill>
                    <a:srgbClr val="0F172A"/>
                  </a:solidFill>
                  <a:latin typeface="微軟正黑體" panose="020B0604030504040204" pitchFamily="34" charset="-120"/>
                </a:rPr>
                <a:t>痛點</a:t>
              </a:r>
              <a:endParaRPr sz="1800" b="1" i="0" u="none" dirty="0">
                <a:solidFill>
                  <a:srgbClr val="0F172A"/>
                </a:solidFill>
                <a:latin typeface="微軟正黑體" panose="020B0604030504040204" pitchFamily="34" charset="-12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81100" y="4126259"/>
              <a:ext cx="4438650" cy="5334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sz="1350" b="0" i="0" u="none" dirty="0" err="1">
                  <a:solidFill>
                    <a:srgbClr val="475569"/>
                  </a:solidFill>
                  <a:latin typeface="微軟正黑體" panose="020B0604030504040204" pitchFamily="34" charset="-120"/>
                </a:rPr>
                <a:t>現有工具高度依賴平台</a:t>
              </a:r>
              <a:r>
                <a:rPr sz="1350" b="0" i="0" u="none" dirty="0">
                  <a:solidFill>
                    <a:srgbClr val="475569"/>
                  </a:solidFill>
                  <a:latin typeface="微軟正黑體" panose="020B0604030504040204" pitchFamily="34" charset="-120"/>
                </a:rPr>
                <a:t> CC </a:t>
              </a:r>
              <a:r>
                <a:rPr sz="1350" b="0" i="0" u="none" dirty="0" err="1">
                  <a:solidFill>
                    <a:srgbClr val="475569"/>
                  </a:solidFill>
                  <a:latin typeface="微軟正黑體" panose="020B0604030504040204" pitchFamily="34" charset="-120"/>
                </a:rPr>
                <a:t>軟字幕，無法處理自帶原生硬字幕的影視內容</a:t>
              </a:r>
              <a:r>
                <a:rPr sz="1350" b="0" i="0" u="none" dirty="0">
                  <a:solidFill>
                    <a:srgbClr val="475569"/>
                  </a:solidFill>
                  <a:latin typeface="微軟正黑體" panose="020B0604030504040204" pitchFamily="34" charset="-120"/>
                </a:rPr>
                <a:t>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762000"/>
            <a:ext cx="1771650" cy="276225"/>
          </a:xfrm>
          <a:prstGeom prst="roundRect">
            <a:avLst>
              <a:gd name="adj" fmla="val 1379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62000" y="3171825"/>
            <a:ext cx="34035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394150" y="3171825"/>
            <a:ext cx="34035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026300" y="3171825"/>
            <a:ext cx="34035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3514725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050" y="3514725"/>
            <a:ext cx="3048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200" y="3514725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300" y="819150"/>
            <a:ext cx="1638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050" b="1" i="0" u="none" dirty="0">
              <a:solidFill>
                <a:srgbClr val="334155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1266825"/>
            <a:ext cx="153888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開發概念</a:t>
            </a:r>
            <a:endParaRPr sz="300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4900" y="3971925"/>
            <a:ext cx="1503617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由外而內收斂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4371975"/>
            <a:ext cx="2813000" cy="439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拒絕盲目假設，由實驗數據反向固化技術規格。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7050" y="3971925"/>
            <a:ext cx="129202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功能模組化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7050" y="4371975"/>
            <a:ext cx="2813000" cy="439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功能獨立切分，增減或修改模組不引發連鎖牽連。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9200" y="3971925"/>
            <a:ext cx="125194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I/O 標準化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9200" y="4371975"/>
            <a:ext cx="2813000" cy="20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統一介面並外置設定檔，杜絕寫死魔數。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90712"/>
            <a:ext cx="2028825" cy="276225"/>
          </a:xfrm>
          <a:prstGeom prst="roundRect">
            <a:avLst>
              <a:gd name="adj" fmla="val 1379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86212"/>
            <a:ext cx="10668000" cy="38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1947862"/>
            <a:ext cx="1895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395537"/>
            <a:ext cx="307776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系統架構與資料流</a:t>
            </a:r>
            <a:endParaRPr sz="300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681412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3681412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3681412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681412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3681412"/>
            <a:ext cx="609600" cy="609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5412" y="3871912"/>
            <a:ext cx="2571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5700" y="3871912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5987" y="3871912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9125" y="3871912"/>
            <a:ext cx="2857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2275" y="3871912"/>
            <a:ext cx="1714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7751" y="4481512"/>
            <a:ext cx="69249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影片輸入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17" y="4786312"/>
            <a:ext cx="94256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畫格擷取與採樣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313" y="4481512"/>
            <a:ext cx="51937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前處理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6043" y="4786312"/>
            <a:ext cx="80791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影像特徵強化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9751" y="4481512"/>
            <a:ext cx="69249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光學辨識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9870" y="4786312"/>
            <a:ext cx="99225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OCR 與時序去重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5714" y="4481512"/>
            <a:ext cx="73257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NLP 解析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0717" y="4786312"/>
            <a:ext cx="94256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多通道資料擴充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35189" y="4481512"/>
            <a:ext cx="86562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格式化輸出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9391" y="4786312"/>
            <a:ext cx="10772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建立單字卡資料庫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57375"/>
            <a:ext cx="2743200" cy="276225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933825"/>
            <a:ext cx="3803650" cy="685800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-1"/>
            <a:ext cx="5334000" cy="74498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4848226"/>
            <a:ext cx="243370" cy="2433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2362200"/>
            <a:ext cx="173124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zh-TW" altLang="en-US" sz="2700" b="1" i="0" u="none" dirty="0" smtClean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取樣率</a:t>
            </a:r>
            <a:r>
              <a:rPr sz="2700" b="1" i="0" u="none" dirty="0" err="1" smtClean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設立</a:t>
            </a:r>
            <a:endParaRPr sz="270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3019425"/>
            <a:ext cx="4857750" cy="5827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zh-TW" altLang="en-US" sz="1500" b="0" i="0" u="none" dirty="0" smtClean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盲目提高取樣率</a:t>
            </a:r>
            <a:r>
              <a:rPr lang="zh-TW" altLang="en-US" sz="1500" dirty="0" smtClean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5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運算</a:t>
            </a:r>
            <a:r>
              <a:rPr lang="zh-TW" altLang="en-US" sz="1500" dirty="0" smtClean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負擔呈線性</a:t>
            </a:r>
            <a:r>
              <a:rPr lang="zh-TW" altLang="en-US" sz="1500" b="0" i="0" u="none" dirty="0" smtClean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增長，</a:t>
            </a:r>
            <a:endParaRPr lang="en-US" altLang="zh-TW" sz="1500" b="0" i="0" u="none" dirty="0" smtClean="0">
              <a:solidFill>
                <a:srgbClr val="4755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ts val="2400"/>
              </a:lnSpc>
            </a:pPr>
            <a:r>
              <a:rPr lang="zh-TW" altLang="en-US" sz="1500" b="0" i="0" u="none" dirty="0" smtClean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透過實驗，在取樣率與效果間，取得最佳平衡。</a:t>
            </a:r>
            <a:endParaRPr lang="en-US" altLang="zh-TW" sz="1500" b="0" i="0" u="none" dirty="0" smtClean="0">
              <a:solidFill>
                <a:srgbClr val="4755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889" y="4883349"/>
            <a:ext cx="2234586" cy="173124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ctr"/>
            <a:r>
              <a:rPr lang="en-US" sz="1125" b="1" dirty="0">
                <a:solidFill>
                  <a:srgbClr val="1F72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Sampling_Rate_Analysis.xlsx</a:t>
            </a:r>
            <a:endParaRPr sz="1125" b="1" i="0" u="none" dirty="0">
              <a:solidFill>
                <a:srgbClr val="1F724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44426" y="4092059"/>
            <a:ext cx="144751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i="0" u="none" dirty="0" smtClean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0.375</a:t>
            </a:r>
            <a:r>
              <a:rPr lang="zh-TW" altLang="en-US" sz="2400" b="1" i="0" u="none" dirty="0" smtClean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i="0" u="none" dirty="0" smtClean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FPS</a:t>
            </a:r>
            <a:endParaRPr sz="240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8042" y="4153614"/>
            <a:ext cx="17615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zh-TW" sz="1600" b="1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2.667 </a:t>
            </a:r>
            <a:r>
              <a:rPr lang="zh-TW" altLang="en-US" sz="1600" b="1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  <a:r>
              <a:rPr lang="en-US" altLang="zh-TW" sz="1600" b="1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幀</a:t>
            </a:r>
            <a:endParaRPr sz="1600" b="1" i="0" u="none" dirty="0">
              <a:solidFill>
                <a:srgbClr val="4755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57375"/>
            <a:ext cx="2743200" cy="276225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933825"/>
            <a:ext cx="1924050" cy="685800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4848226"/>
            <a:ext cx="243370" cy="2433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1914525"/>
            <a:ext cx="26098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4ED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OBSERVATION-DRIVEN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362200"/>
            <a:ext cx="173124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採樣率設立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19425"/>
            <a:ext cx="4857750" cy="5827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zh-TW" altLang="en-US" sz="1500" b="0" i="0" u="none" dirty="0" smtClean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盲目提高採樣</a:t>
            </a:r>
            <a:r>
              <a:rPr lang="zh-TW" altLang="en-US" sz="15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率，運算</a:t>
            </a:r>
            <a:r>
              <a:rPr lang="zh-TW" altLang="en-US" sz="1500" dirty="0" smtClean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負擔呈現</a:t>
            </a:r>
            <a:r>
              <a:rPr lang="zh-TW" altLang="en-US" sz="150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指數</a:t>
            </a:r>
            <a:r>
              <a:rPr lang="zh-TW" altLang="en-US" sz="1500" b="0" i="0" u="none" dirty="0" smtClean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增長，</a:t>
            </a:r>
            <a:endParaRPr lang="en-US" altLang="zh-TW" sz="1500" b="0" i="0" u="none" dirty="0" smtClean="0">
              <a:solidFill>
                <a:srgbClr val="4755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ts val="2400"/>
              </a:lnSpc>
            </a:pPr>
            <a:r>
              <a:rPr lang="zh-TW" altLang="en-US" sz="1500" b="0" i="0" u="none" dirty="0" smtClean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透過實驗，在採樣率與效果間，取得最佳平衡。</a:t>
            </a:r>
            <a:endParaRPr lang="en-US" altLang="zh-TW" sz="1500" b="0" i="0" u="none" dirty="0" smtClean="0">
              <a:solidFill>
                <a:srgbClr val="4755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889" y="4883349"/>
            <a:ext cx="2234586" cy="173124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ctr"/>
            <a:r>
              <a:rPr lang="en-US" sz="1125" b="1" dirty="0">
                <a:solidFill>
                  <a:srgbClr val="1F72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Sampling_Rate_Analysis.xlsx</a:t>
            </a:r>
            <a:endParaRPr sz="1125" b="1" i="0" u="none" dirty="0">
              <a:solidFill>
                <a:srgbClr val="1F724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0600" y="4086225"/>
            <a:ext cx="79829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i="0" u="none" dirty="0" smtClean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i="0" u="none" dirty="0" smtClean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i="0" u="none" dirty="0" smtClean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FPS</a:t>
            </a:r>
            <a:endParaRPr sz="240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68182" y="4184329"/>
            <a:ext cx="4953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25" b="1" i="0" u="none" dirty="0" smtClean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1125" b="1" i="0" u="none" dirty="0" smtClean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Hz</a:t>
            </a:r>
            <a:endParaRPr sz="1125" b="1" i="0" u="none" dirty="0">
              <a:solidFill>
                <a:srgbClr val="47556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812738"/>
              </p:ext>
            </p:extLst>
          </p:nvPr>
        </p:nvGraphicFramePr>
        <p:xfrm>
          <a:off x="-2" y="0"/>
          <a:ext cx="5619752" cy="68434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02469">
                  <a:extLst>
                    <a:ext uri="{9D8B030D-6E8A-4147-A177-3AD203B41FA5}">
                      <a16:colId xmlns:a16="http://schemas.microsoft.com/office/drawing/2014/main" val="3651958906"/>
                    </a:ext>
                  </a:extLst>
                </a:gridCol>
                <a:gridCol w="702469">
                  <a:extLst>
                    <a:ext uri="{9D8B030D-6E8A-4147-A177-3AD203B41FA5}">
                      <a16:colId xmlns:a16="http://schemas.microsoft.com/office/drawing/2014/main" val="1624881991"/>
                    </a:ext>
                  </a:extLst>
                </a:gridCol>
                <a:gridCol w="702469">
                  <a:extLst>
                    <a:ext uri="{9D8B030D-6E8A-4147-A177-3AD203B41FA5}">
                      <a16:colId xmlns:a16="http://schemas.microsoft.com/office/drawing/2014/main" val="3961449967"/>
                    </a:ext>
                  </a:extLst>
                </a:gridCol>
                <a:gridCol w="702469">
                  <a:extLst>
                    <a:ext uri="{9D8B030D-6E8A-4147-A177-3AD203B41FA5}">
                      <a16:colId xmlns:a16="http://schemas.microsoft.com/office/drawing/2014/main" val="3017589315"/>
                    </a:ext>
                  </a:extLst>
                </a:gridCol>
                <a:gridCol w="702469">
                  <a:extLst>
                    <a:ext uri="{9D8B030D-6E8A-4147-A177-3AD203B41FA5}">
                      <a16:colId xmlns:a16="http://schemas.microsoft.com/office/drawing/2014/main" val="3738553121"/>
                    </a:ext>
                  </a:extLst>
                </a:gridCol>
                <a:gridCol w="702469">
                  <a:extLst>
                    <a:ext uri="{9D8B030D-6E8A-4147-A177-3AD203B41FA5}">
                      <a16:colId xmlns:a16="http://schemas.microsoft.com/office/drawing/2014/main" val="3752251484"/>
                    </a:ext>
                  </a:extLst>
                </a:gridCol>
                <a:gridCol w="702469">
                  <a:extLst>
                    <a:ext uri="{9D8B030D-6E8A-4147-A177-3AD203B41FA5}">
                      <a16:colId xmlns:a16="http://schemas.microsoft.com/office/drawing/2014/main" val="2722151788"/>
                    </a:ext>
                  </a:extLst>
                </a:gridCol>
                <a:gridCol w="702469">
                  <a:extLst>
                    <a:ext uri="{9D8B030D-6E8A-4147-A177-3AD203B41FA5}">
                      <a16:colId xmlns:a16="http://schemas.microsoft.com/office/drawing/2014/main" val="1102365751"/>
                    </a:ext>
                  </a:extLst>
                </a:gridCol>
              </a:tblGrid>
              <a:tr h="9818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effectLst/>
                          <a:latin typeface="+mj-ea"/>
                          <a:ea typeface="+mj-ea"/>
                        </a:rPr>
                        <a:t>FPS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u="none" strike="noStrike" dirty="0">
                          <a:effectLst/>
                          <a:latin typeface="+mj-ea"/>
                          <a:ea typeface="+mj-ea"/>
                        </a:rPr>
                        <a:t>影格數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effectLst/>
                          <a:latin typeface="+mj-ea"/>
                          <a:ea typeface="+mj-ea"/>
                        </a:rPr>
                        <a:t>OCR</a:t>
                      </a:r>
                      <a:r>
                        <a:rPr lang="zh-TW" altLang="en-US" sz="1100" b="0" u="none" strike="noStrike" dirty="0">
                          <a:effectLst/>
                          <a:latin typeface="+mj-ea"/>
                          <a:ea typeface="+mj-ea"/>
                        </a:rPr>
                        <a:t>總耗時</a:t>
                      </a:r>
                      <a:r>
                        <a:rPr lang="en-US" altLang="zh-TW" sz="1100" b="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100" b="0" u="none" strike="noStrike" dirty="0">
                          <a:effectLst/>
                          <a:latin typeface="+mj-ea"/>
                          <a:ea typeface="+mj-ea"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u="none" strike="noStrike" dirty="0">
                          <a:effectLst/>
                          <a:latin typeface="+mj-ea"/>
                          <a:ea typeface="+mj-ea"/>
                        </a:rPr>
                        <a:t>去重後句數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u="none" strike="noStrike" dirty="0">
                          <a:effectLst/>
                          <a:latin typeface="+mj-ea"/>
                          <a:ea typeface="+mj-ea"/>
                        </a:rPr>
                        <a:t>總詞彙數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u="none" strike="noStrike" dirty="0">
                          <a:effectLst/>
                          <a:latin typeface="+mj-ea"/>
                          <a:ea typeface="+mj-ea"/>
                        </a:rPr>
                        <a:t>字典命中數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u="none" strike="noStrike" dirty="0">
                          <a:effectLst/>
                          <a:latin typeface="+mj-ea"/>
                          <a:ea typeface="+mj-ea"/>
                        </a:rPr>
                        <a:t>命中率</a:t>
                      </a:r>
                      <a:r>
                        <a:rPr lang="en-US" altLang="zh-TW" sz="1100" b="0" u="none" strike="noStrike" dirty="0">
                          <a:effectLst/>
                          <a:latin typeface="+mj-ea"/>
                          <a:ea typeface="+mj-ea"/>
                        </a:rPr>
                        <a:t>(%)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u="none" strike="noStrike" dirty="0">
                          <a:effectLst/>
                          <a:latin typeface="+mj-ea"/>
                          <a:ea typeface="+mj-ea"/>
                        </a:rPr>
                        <a:t>單位時間句數</a:t>
                      </a:r>
                      <a:r>
                        <a:rPr lang="en-US" altLang="zh-TW" sz="1100" b="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zh-TW" altLang="en-US" sz="1100" b="0" u="none" strike="noStrike" dirty="0">
                          <a:effectLst/>
                          <a:latin typeface="+mj-ea"/>
                          <a:ea typeface="+mj-ea"/>
                        </a:rPr>
                        <a:t>句</a:t>
                      </a:r>
                      <a:r>
                        <a:rPr lang="en-US" altLang="zh-TW" sz="1100" b="0" u="none" strike="noStrike" dirty="0">
                          <a:effectLst/>
                          <a:latin typeface="+mj-ea"/>
                          <a:ea typeface="+mj-ea"/>
                        </a:rPr>
                        <a:t>/s)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65434845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0.25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92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36.1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161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122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75.8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1.30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0530417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0.375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138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48.6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69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206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167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81.1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1.41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91300967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0.5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184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64.81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90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296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219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1.38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86881711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0.6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221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77.89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97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296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230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77.7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1.24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34625775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0.7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257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90.54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96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289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220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76.1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1.06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97797922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0.8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299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105.9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112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332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249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1.05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26311736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0.9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335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118.95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134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408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315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77.2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1.12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42945920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368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129.43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141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445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327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73.5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1.08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82115756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1.1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409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145.09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139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430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324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75.3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0.95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15937276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1.2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442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156.2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141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409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313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76.5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0.90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31768912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1.3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480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168.97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154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455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353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77.6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0.91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57732626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1.4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526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185.56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167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494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366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74.1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0.89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52741001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1.5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552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207.99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179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534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406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0.86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99386622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736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277.22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211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632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466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73.7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0.76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96627595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2.5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919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329.26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243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719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541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75.2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0.73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554670"/>
                  </a:ext>
                </a:extLst>
              </a:tr>
              <a:tr h="36635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1103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387.3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270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832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619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>
                          <a:effectLst/>
                        </a:rPr>
                        <a:t>74.4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u="none" strike="noStrike" dirty="0" smtClean="0">
                          <a:effectLst/>
                        </a:rPr>
                        <a:t>0.69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6088201"/>
                  </a:ext>
                </a:extLst>
              </a:tr>
            </a:tbl>
          </a:graphicData>
        </a:graphic>
      </p:graphicFrame>
      <p:graphicFrame>
        <p:nvGraphicFramePr>
          <p:cNvPr id="14" name="圖表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8532616"/>
              </p:ext>
            </p:extLst>
          </p:nvPr>
        </p:nvGraphicFramePr>
        <p:xfrm>
          <a:off x="5619750" y="71704"/>
          <a:ext cx="6613071" cy="68434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242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圖表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0204945"/>
              </p:ext>
            </p:extLst>
          </p:nvPr>
        </p:nvGraphicFramePr>
        <p:xfrm>
          <a:off x="0" y="0"/>
          <a:ext cx="5862084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圖表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727916"/>
              </p:ext>
            </p:extLst>
          </p:nvPr>
        </p:nvGraphicFramePr>
        <p:xfrm>
          <a:off x="5862084" y="0"/>
          <a:ext cx="632798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5737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圖表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7269698"/>
              </p:ext>
            </p:extLst>
          </p:nvPr>
        </p:nvGraphicFramePr>
        <p:xfrm>
          <a:off x="0" y="6803"/>
          <a:ext cx="12192000" cy="6851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849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群組 19"/>
          <p:cNvGrpSpPr/>
          <p:nvPr/>
        </p:nvGrpSpPr>
        <p:grpSpPr>
          <a:xfrm>
            <a:off x="6553200" y="3117850"/>
            <a:ext cx="1846659" cy="1007849"/>
            <a:chOff x="1028700" y="3114675"/>
            <a:chExt cx="1846659" cy="1007849"/>
          </a:xfrm>
        </p:grpSpPr>
        <p:sp>
          <p:nvSpPr>
            <p:cNvPr id="12" name="TextBox 11"/>
            <p:cNvSpPr txBox="1"/>
            <p:nvPr/>
          </p:nvSpPr>
          <p:spPr>
            <a:xfrm>
              <a:off x="1028700" y="3114675"/>
              <a:ext cx="1846659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00" b="1" i="0" u="none" dirty="0" err="1">
                  <a:solidFill>
                    <a:srgbClr val="0F172A"/>
                  </a:solidFill>
                  <a:latin typeface="微軟正黑體" panose="020B0604030504040204" pitchFamily="34" charset="-120"/>
                </a:rPr>
                <a:t>捨棄：去雜訊處理</a:t>
              </a:r>
              <a:endParaRPr sz="1800" b="1" i="0" u="none" dirty="0">
                <a:solidFill>
                  <a:srgbClr val="0F172A"/>
                </a:solidFill>
                <a:latin typeface="微軟正黑體" panose="020B0604030504040204" pitchFamily="34" charset="-12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28700" y="3571875"/>
              <a:ext cx="1279196" cy="207749"/>
            </a:xfrm>
            <a:prstGeom prst="rect">
              <a:avLst/>
            </a:prstGeom>
            <a:noFill/>
          </p:spPr>
          <p:txBody>
            <a:bodyPr wrap="none" lIns="238125" tIns="0" rIns="0" bIns="0" anchor="t">
              <a:spAutoFit/>
            </a:bodyPr>
            <a:lstStyle/>
            <a:p>
              <a:pPr algn="l"/>
              <a:r>
                <a:rPr lang="zh-TW" altLang="en-US" sz="1350" b="0" i="0" u="none" dirty="0" smtClean="0">
                  <a:solidFill>
                    <a:srgbClr val="475569"/>
                  </a:solidFill>
                  <a:latin typeface="微軟正黑體" panose="020B0604030504040204" pitchFamily="34" charset="-120"/>
                </a:rPr>
                <a:t>高成本低收益</a:t>
              </a:r>
              <a:endParaRPr sz="1350" b="0" i="0" u="none" dirty="0">
                <a:solidFill>
                  <a:srgbClr val="475569"/>
                </a:solidFill>
                <a:latin typeface="微軟正黑體" panose="020B0604030504040204" pitchFamily="34" charset="-12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28700" y="3914775"/>
              <a:ext cx="1651093" cy="207749"/>
            </a:xfrm>
            <a:prstGeom prst="rect">
              <a:avLst/>
            </a:prstGeom>
            <a:noFill/>
          </p:spPr>
          <p:txBody>
            <a:bodyPr wrap="none" lIns="238125" tIns="0" rIns="0" bIns="0" anchor="t">
              <a:spAutoFit/>
            </a:bodyPr>
            <a:lstStyle/>
            <a:p>
              <a:pPr algn="l"/>
              <a:r>
                <a:rPr lang="zh-TW" altLang="en-US" sz="1350" b="0" i="0" u="none" dirty="0" smtClean="0">
                  <a:solidFill>
                    <a:srgbClr val="475569"/>
                  </a:solidFill>
                  <a:latin typeface="微軟正黑體" panose="020B0604030504040204" pitchFamily="34" charset="-120"/>
                </a:rPr>
                <a:t>降低</a:t>
              </a:r>
              <a:r>
                <a:rPr lang="en-US" altLang="zh-TW" sz="1350" b="0" i="0" u="none" dirty="0" smtClean="0">
                  <a:solidFill>
                    <a:srgbClr val="475569"/>
                  </a:solidFill>
                  <a:latin typeface="微軟正黑體" panose="020B0604030504040204" pitchFamily="34" charset="-120"/>
                </a:rPr>
                <a:t>OCR</a:t>
              </a:r>
              <a:r>
                <a:rPr lang="zh-TW" altLang="en-US" sz="1350" b="0" i="0" u="none" dirty="0" smtClean="0">
                  <a:solidFill>
                    <a:srgbClr val="475569"/>
                  </a:solidFill>
                  <a:latin typeface="微軟正黑體" panose="020B0604030504040204" pitchFamily="34" charset="-120"/>
                </a:rPr>
                <a:t>辨識效果</a:t>
              </a:r>
              <a:endParaRPr sz="1350" b="0" i="0" u="none" dirty="0">
                <a:solidFill>
                  <a:srgbClr val="475569"/>
                </a:solidFill>
                <a:latin typeface="微軟正黑體" panose="020B0604030504040204" pitchFamily="34" charset="-12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6553200" y="3587422"/>
            <a:ext cx="123825" cy="523875"/>
            <a:chOff x="1028700" y="3595687"/>
            <a:chExt cx="123825" cy="523875"/>
          </a:xfrm>
        </p:grpSpPr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700" y="3595687"/>
              <a:ext cx="123825" cy="180975"/>
            </a:xfrm>
            <a:prstGeom prst="rect">
              <a:avLst/>
            </a:prstGeom>
          </p:spPr>
        </p:pic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8700" y="3938587"/>
              <a:ext cx="123825" cy="180975"/>
            </a:xfrm>
            <a:prstGeom prst="rect">
              <a:avLst/>
            </a:prstGeom>
          </p:spPr>
        </p:pic>
      </p:grpSp>
      <p:sp>
        <p:nvSpPr>
          <p:cNvPr id="2" name="Rounded Rectangle 1"/>
          <p:cNvSpPr/>
          <p:nvPr/>
        </p:nvSpPr>
        <p:spPr>
          <a:xfrm>
            <a:off x="762000" y="1476375"/>
            <a:ext cx="1800225" cy="276225"/>
          </a:xfrm>
          <a:prstGeom prst="roundRect">
            <a:avLst>
              <a:gd name="adj" fmla="val 1379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群組 23"/>
          <p:cNvGrpSpPr/>
          <p:nvPr/>
        </p:nvGrpSpPr>
        <p:grpSpPr>
          <a:xfrm>
            <a:off x="1028700" y="3114675"/>
            <a:ext cx="2308324" cy="1007849"/>
            <a:chOff x="1028700" y="3114675"/>
            <a:chExt cx="2308324" cy="1007849"/>
          </a:xfrm>
        </p:grpSpPr>
        <p:grpSp>
          <p:nvGrpSpPr>
            <p:cNvPr id="21" name="群組 20"/>
            <p:cNvGrpSpPr/>
            <p:nvPr/>
          </p:nvGrpSpPr>
          <p:grpSpPr>
            <a:xfrm>
              <a:off x="1028700" y="3114675"/>
              <a:ext cx="2308324" cy="1007849"/>
              <a:chOff x="6553200" y="3114675"/>
              <a:chExt cx="2308324" cy="1007849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6553200" y="3114675"/>
                <a:ext cx="2308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800" b="1" i="0" u="none" dirty="0" err="1">
                    <a:solidFill>
                      <a:srgbClr val="0F172A"/>
                    </a:solidFill>
                    <a:latin typeface="微軟正黑體" panose="020B0604030504040204" pitchFamily="34" charset="-120"/>
                  </a:rPr>
                  <a:t>保留：灰階與對比強化</a:t>
                </a:r>
                <a:endParaRPr sz="1800" b="1" i="0" u="none" dirty="0">
                  <a:solidFill>
                    <a:srgbClr val="0F172A"/>
                  </a:solidFill>
                  <a:latin typeface="微軟正黑體" panose="020B0604030504040204" pitchFamily="34" charset="-12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553200" y="3571875"/>
                <a:ext cx="1776127" cy="207749"/>
              </a:xfrm>
              <a:prstGeom prst="rect">
                <a:avLst/>
              </a:prstGeom>
              <a:noFill/>
            </p:spPr>
            <p:txBody>
              <a:bodyPr wrap="none" lIns="266700" tIns="0" rIns="0" bIns="0" anchor="t">
                <a:spAutoFit/>
              </a:bodyPr>
              <a:lstStyle/>
              <a:p>
                <a:pPr algn="l"/>
                <a:r>
                  <a:rPr sz="1350" b="0" i="0" u="none" dirty="0" err="1" smtClean="0">
                    <a:solidFill>
                      <a:srgbClr val="475569"/>
                    </a:solidFill>
                    <a:latin typeface="微軟正黑體" panose="020B0604030504040204" pitchFamily="34" charset="-120"/>
                  </a:rPr>
                  <a:t>提升</a:t>
                </a:r>
                <a:r>
                  <a:rPr sz="1350" b="0" i="0" u="none" dirty="0" smtClean="0">
                    <a:solidFill>
                      <a:srgbClr val="475569"/>
                    </a:solidFill>
                    <a:latin typeface="微軟正黑體" panose="020B0604030504040204" pitchFamily="34" charset="-120"/>
                  </a:rPr>
                  <a:t> </a:t>
                </a:r>
                <a:r>
                  <a:rPr sz="1350" b="0" i="0" u="none" dirty="0">
                    <a:solidFill>
                      <a:srgbClr val="475569"/>
                    </a:solidFill>
                    <a:latin typeface="微軟正黑體" panose="020B0604030504040204" pitchFamily="34" charset="-120"/>
                  </a:rPr>
                  <a:t>OCR </a:t>
                </a:r>
                <a:r>
                  <a:rPr sz="1350" b="0" i="0" u="none" dirty="0" err="1">
                    <a:solidFill>
                      <a:srgbClr val="475569"/>
                    </a:solidFill>
                    <a:latin typeface="微軟正黑體" panose="020B0604030504040204" pitchFamily="34" charset="-120"/>
                  </a:rPr>
                  <a:t>信心度</a:t>
                </a:r>
                <a:r>
                  <a:rPr sz="1350" b="0" i="0" u="none" dirty="0">
                    <a:solidFill>
                      <a:srgbClr val="475569"/>
                    </a:solidFill>
                    <a:latin typeface="微軟正黑體" panose="020B0604030504040204" pitchFamily="34" charset="-120"/>
                  </a:rPr>
                  <a:t>。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553200" y="3914775"/>
                <a:ext cx="1654299" cy="207749"/>
              </a:xfrm>
              <a:prstGeom prst="rect">
                <a:avLst/>
              </a:prstGeom>
              <a:noFill/>
            </p:spPr>
            <p:txBody>
              <a:bodyPr wrap="none" lIns="266700" tIns="0" rIns="0" bIns="0" anchor="t">
                <a:spAutoFit/>
              </a:bodyPr>
              <a:lstStyle/>
              <a:p>
                <a:pPr algn="l"/>
                <a:r>
                  <a:rPr sz="1350" b="0" i="0" u="none" dirty="0" err="1" smtClean="0">
                    <a:solidFill>
                      <a:srgbClr val="475569"/>
                    </a:solidFill>
                    <a:latin typeface="微軟正黑體" panose="020B0604030504040204" pitchFamily="34" charset="-120"/>
                  </a:rPr>
                  <a:t>低運算時間成本</a:t>
                </a:r>
                <a:r>
                  <a:rPr sz="1350" b="0" i="0" u="none" dirty="0">
                    <a:solidFill>
                      <a:srgbClr val="475569"/>
                    </a:solidFill>
                    <a:latin typeface="微軟正黑體" panose="020B0604030504040204" pitchFamily="34" charset="-120"/>
                  </a:rPr>
                  <a:t>。</a:t>
                </a:r>
              </a:p>
            </p:txBody>
          </p:sp>
        </p:grpSp>
        <p:grpSp>
          <p:nvGrpSpPr>
            <p:cNvPr id="22" name="群組 21"/>
            <p:cNvGrpSpPr/>
            <p:nvPr/>
          </p:nvGrpSpPr>
          <p:grpSpPr>
            <a:xfrm>
              <a:off x="1028700" y="3589551"/>
              <a:ext cx="152400" cy="523875"/>
              <a:chOff x="6553200" y="3595687"/>
              <a:chExt cx="152400" cy="523875"/>
            </a:xfrm>
          </p:grpSpPr>
          <p:pic>
            <p:nvPicPr>
              <p:cNvPr id="7" name="Picture 6" descr="imag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53200" y="3595687"/>
                <a:ext cx="152400" cy="180975"/>
              </a:xfrm>
              <a:prstGeom prst="rect">
                <a:avLst/>
              </a:prstGeom>
            </p:spPr>
          </p:pic>
          <p:pic>
            <p:nvPicPr>
              <p:cNvPr id="8" name="Picture 7" descr="imag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53200" y="3938587"/>
                <a:ext cx="152400" cy="180975"/>
              </a:xfrm>
              <a:prstGeom prst="rect">
                <a:avLst/>
              </a:prstGeom>
            </p:spPr>
          </p:pic>
        </p:grpSp>
      </p:grpSp>
      <p:sp>
        <p:nvSpPr>
          <p:cNvPr id="10" name="TextBox 9"/>
          <p:cNvSpPr txBox="1"/>
          <p:nvPr/>
        </p:nvSpPr>
        <p:spPr>
          <a:xfrm>
            <a:off x="762000" y="1981200"/>
            <a:ext cx="269304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影像前處理權衡</a:t>
            </a:r>
          </a:p>
        </p:txBody>
      </p:sp>
      <p:grpSp>
        <p:nvGrpSpPr>
          <p:cNvPr id="9" name="群組 8"/>
          <p:cNvGrpSpPr/>
          <p:nvPr/>
        </p:nvGrpSpPr>
        <p:grpSpPr>
          <a:xfrm>
            <a:off x="762000" y="4714875"/>
            <a:ext cx="10668000" cy="666750"/>
            <a:chOff x="762000" y="4714875"/>
            <a:chExt cx="10668000" cy="666750"/>
          </a:xfrm>
        </p:grpSpPr>
        <p:sp>
          <p:nvSpPr>
            <p:cNvPr id="3" name="Rounded Rectangle 2"/>
            <p:cNvSpPr/>
            <p:nvPr/>
          </p:nvSpPr>
          <p:spPr>
            <a:xfrm>
              <a:off x="762000" y="4714875"/>
              <a:ext cx="10668000" cy="666750"/>
            </a:xfrm>
            <a:prstGeom prst="roundRect">
              <a:avLst>
                <a:gd name="adj" fmla="val 11428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9" name="群組 18"/>
            <p:cNvGrpSpPr/>
            <p:nvPr/>
          </p:nvGrpSpPr>
          <p:grpSpPr>
            <a:xfrm>
              <a:off x="4322834" y="4926565"/>
              <a:ext cx="3546331" cy="243370"/>
              <a:chOff x="3833330" y="4908352"/>
              <a:chExt cx="3546331" cy="243370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3897939" y="4943475"/>
                <a:ext cx="3481722" cy="173124"/>
              </a:xfrm>
              <a:prstGeom prst="rect">
                <a:avLst/>
              </a:prstGeom>
              <a:noFill/>
            </p:spPr>
            <p:txBody>
              <a:bodyPr wrap="none" lIns="190500" tIns="0" rIns="0" bIns="0" anchor="t">
                <a:spAutoFit/>
              </a:bodyPr>
              <a:lstStyle/>
              <a:p>
                <a:pPr algn="ctr"/>
                <a:r>
                  <a:rPr lang="en-US" altLang="zh-TW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Phase9_</a:t>
                </a:r>
                <a:r>
                  <a:rPr lang="zh-TW" altLang="en-US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通道與</a:t>
                </a:r>
                <a:r>
                  <a:rPr lang="en-US" altLang="zh-TW" sz="1125" b="1" dirty="0" err="1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denoise</a:t>
                </a:r>
                <a:r>
                  <a:rPr lang="zh-TW" altLang="en-US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最終決策分析</a:t>
                </a:r>
                <a:r>
                  <a:rPr lang="en-US" altLang="zh-TW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_</a:t>
                </a:r>
                <a:r>
                  <a:rPr lang="zh-TW" altLang="en-US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複核版</a:t>
                </a:r>
                <a:r>
                  <a:rPr lang="en-US" altLang="zh-TW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.</a:t>
                </a:r>
                <a:r>
                  <a:rPr lang="en-US" altLang="zh-TW" sz="1125" b="1" dirty="0" err="1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xlsx</a:t>
                </a:r>
                <a:endParaRPr sz="1125" b="1" dirty="0">
                  <a:solidFill>
                    <a:srgbClr val="1F7244"/>
                  </a:solidFill>
                  <a:latin typeface="微軟正黑體" panose="020B0604030504040204" pitchFamily="34" charset="-120"/>
                </a:endParaRPr>
              </a:p>
            </p:txBody>
          </p:sp>
          <p:pic>
            <p:nvPicPr>
              <p:cNvPr id="18" name="Picture 5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33330" y="4908352"/>
                <a:ext cx="243370" cy="24337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681206"/>
              </p:ext>
            </p:extLst>
          </p:nvPr>
        </p:nvGraphicFramePr>
        <p:xfrm>
          <a:off x="-1" y="11105"/>
          <a:ext cx="6680199" cy="4833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30351">
                  <a:extLst>
                    <a:ext uri="{9D8B030D-6E8A-4147-A177-3AD203B41FA5}">
                      <a16:colId xmlns:a16="http://schemas.microsoft.com/office/drawing/2014/main" val="2166509628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1303799519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3171975862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1081671216"/>
                    </a:ext>
                  </a:extLst>
                </a:gridCol>
                <a:gridCol w="1593849">
                  <a:extLst>
                    <a:ext uri="{9D8B030D-6E8A-4147-A177-3AD203B41FA5}">
                      <a16:colId xmlns:a16="http://schemas.microsoft.com/office/drawing/2014/main" val="3881706516"/>
                    </a:ext>
                  </a:extLst>
                </a:gridCol>
              </a:tblGrid>
              <a:tr h="60424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denoise_on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denoise_off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差異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說明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5900178"/>
                  </a:ext>
                </a:extLst>
              </a:tr>
              <a:tr h="60424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偵測數量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3326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3347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 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多偵測到 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93241324"/>
                  </a:ext>
                </a:extLst>
              </a:tr>
              <a:tr h="60424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平均信心分數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只比 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 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 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</a:t>
                      </a:r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1707891"/>
                  </a:ext>
                </a:extLst>
              </a:tr>
              <a:tr h="60424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低信心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(&lt;0.5)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比例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0.0857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 </a:t>
                      </a:r>
                      <a:r>
                        <a:rPr 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反而略低（更好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1801041"/>
                  </a:ext>
                </a:extLst>
              </a:tr>
              <a:tr h="60424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Phase1 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擷取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秒</a:t>
                      </a:r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TW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27.85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27.85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兩版本共用，無差異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54119"/>
                  </a:ext>
                </a:extLst>
              </a:tr>
              <a:tr h="60424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Phase2 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前處理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秒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122.82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11.85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10.36x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 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 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的倍數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794391"/>
                  </a:ext>
                </a:extLst>
              </a:tr>
              <a:tr h="60424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Phase3 OCR(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秒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206.83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206.32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OCR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受前處理影響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233340"/>
                  </a:ext>
                </a:extLst>
              </a:tr>
              <a:tr h="60424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總時間 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P1+P2+P3(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秒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357.5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246.02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31.2%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 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整體快 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31.2%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24883917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877952"/>
              </p:ext>
            </p:extLst>
          </p:nvPr>
        </p:nvGraphicFramePr>
        <p:xfrm>
          <a:off x="0" y="4845050"/>
          <a:ext cx="6680198" cy="20129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3624231445"/>
                    </a:ext>
                  </a:extLst>
                </a:gridCol>
                <a:gridCol w="775241">
                  <a:extLst>
                    <a:ext uri="{9D8B030D-6E8A-4147-A177-3AD203B41FA5}">
                      <a16:colId xmlns:a16="http://schemas.microsoft.com/office/drawing/2014/main" val="4182829528"/>
                    </a:ext>
                  </a:extLst>
                </a:gridCol>
                <a:gridCol w="3504657">
                  <a:extLst>
                    <a:ext uri="{9D8B030D-6E8A-4147-A177-3AD203B41FA5}">
                      <a16:colId xmlns:a16="http://schemas.microsoft.com/office/drawing/2014/main" val="2522766645"/>
                    </a:ext>
                  </a:extLst>
                </a:gridCol>
              </a:tblGrid>
              <a:tr h="67098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逐影格文字集合完全相同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比例</a:t>
                      </a:r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個共同影格）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18.2%</a:t>
                      </a:r>
                    </a:p>
                  </a:txBody>
                  <a:tcPr marL="0" marR="0" marT="0" marB="0" anchor="ctr"/>
                </a:tc>
                <a:tc rowSpan="3"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off 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比 </a:t>
                      </a:r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抓到額外文字的影格</a:t>
                      </a:r>
                      <a:r>
                        <a:rPr lang="zh-TW" altLang="en-US" sz="110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更多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TW" sz="11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denoise</a:t>
                      </a:r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無法穩定提升辨識細節。</a:t>
                      </a:r>
                    </a:p>
                    <a:p>
                      <a:pPr marL="0" algn="ctr" defTabSz="457200" rtl="0" eaLnBrk="1" fontAlgn="b" latinLnBrk="0" hangingPunct="1"/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39191603"/>
                  </a:ext>
                </a:extLst>
              </a:tr>
              <a:tr h="67098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denoise_off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額外抓到文字的影格數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2136353"/>
                  </a:ext>
                </a:extLst>
              </a:tr>
              <a:tr h="670983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denoise_on</a:t>
                      </a:r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額外抓到文字的影格數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5609776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95038"/>
              </p:ext>
            </p:extLst>
          </p:nvPr>
        </p:nvGraphicFramePr>
        <p:xfrm>
          <a:off x="6680199" y="4241801"/>
          <a:ext cx="5511801" cy="26463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11801">
                  <a:extLst>
                    <a:ext uri="{9D8B030D-6E8A-4147-A177-3AD203B41FA5}">
                      <a16:colId xmlns:a16="http://schemas.microsoft.com/office/drawing/2014/main" val="2627777963"/>
                    </a:ext>
                  </a:extLst>
                </a:gridCol>
              </a:tblGrid>
              <a:tr h="603249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結論</a:t>
                      </a:r>
                      <a:endParaRPr lang="zh-TW" altLang="en-US" sz="1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4558118"/>
                  </a:ext>
                </a:extLst>
              </a:tr>
              <a:tr h="2043061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denoise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TW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對辨識率的實測提升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僅 </a:t>
                      </a:r>
                      <a:r>
                        <a:rPr lang="en-US" altLang="zh-TW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</a:t>
                      </a:r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，總處理時間增加 </a:t>
                      </a:r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31.2%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endParaRPr lang="en-US" altLang="zh-TW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且多項指標並不一致支持「</a:t>
                      </a:r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較好」。</a:t>
                      </a:r>
                      <a:endParaRPr lang="en-US" altLang="zh-TW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因收益遠低於成本，且耗時增加有為設立之整體標準，因此選擇</a:t>
                      </a:r>
                      <a:r>
                        <a:rPr lang="en-US" altLang="zh-TW" sz="11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denoice</a:t>
                      </a: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27384647"/>
                  </a:ext>
                </a:extLst>
              </a:tr>
            </a:tbl>
          </a:graphicData>
        </a:graphic>
      </p:graphicFrame>
      <p:graphicFrame>
        <p:nvGraphicFramePr>
          <p:cNvPr id="22" name="圖表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9535749"/>
              </p:ext>
            </p:extLst>
          </p:nvPr>
        </p:nvGraphicFramePr>
        <p:xfrm>
          <a:off x="6680199" y="11104"/>
          <a:ext cx="5549899" cy="4230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5639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01700" y="1429169"/>
            <a:ext cx="1676400" cy="276225"/>
          </a:xfrm>
          <a:prstGeom prst="roundRect">
            <a:avLst>
              <a:gd name="adj" fmla="val 1379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1700" y="3067469"/>
            <a:ext cx="414144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67040" y="3076994"/>
            <a:ext cx="5802659" cy="1447800"/>
          </a:xfrm>
          <a:prstGeom prst="roundRect">
            <a:avLst>
              <a:gd name="adj" fmla="val 78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740" y="3648494"/>
            <a:ext cx="2667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1700" y="1933994"/>
            <a:ext cx="230832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 smtClean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時序去重機制</a:t>
            </a:r>
            <a:endParaRPr sz="300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339" y="3457994"/>
            <a:ext cx="115416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原始硬比對</a:t>
            </a:r>
            <a:endParaRPr sz="180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3673" y="3915194"/>
            <a:ext cx="207749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F444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因多字詞打亂排序而失效。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8793" y="3457994"/>
            <a:ext cx="253915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TW" altLang="en-US" sz="1800" b="1" i="0" u="none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雜湊校驗與</a:t>
            </a:r>
            <a:r>
              <a:rPr sz="1800" b="1" i="0" u="none" dirty="0" err="1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生命週期管理</a:t>
            </a:r>
            <a:endParaRPr sz="1800" b="1" i="0" u="none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37126" y="3915194"/>
            <a:ext cx="346248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 dirty="0" err="1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賦予字詞存活時間，成功過濾同源字幕事件</a:t>
            </a:r>
            <a:r>
              <a:rPr sz="1350" b="0" i="0" u="none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grpSp>
        <p:nvGrpSpPr>
          <p:cNvPr id="12" name="群組 11"/>
          <p:cNvGrpSpPr/>
          <p:nvPr/>
        </p:nvGrpSpPr>
        <p:grpSpPr>
          <a:xfrm>
            <a:off x="354414" y="5362994"/>
            <a:ext cx="10668000" cy="666750"/>
            <a:chOff x="762000" y="4714875"/>
            <a:chExt cx="10668000" cy="666750"/>
          </a:xfrm>
        </p:grpSpPr>
        <p:sp>
          <p:nvSpPr>
            <p:cNvPr id="13" name="Rounded Rectangle 2"/>
            <p:cNvSpPr/>
            <p:nvPr/>
          </p:nvSpPr>
          <p:spPr>
            <a:xfrm>
              <a:off x="762000" y="4714875"/>
              <a:ext cx="10668000" cy="666750"/>
            </a:xfrm>
            <a:prstGeom prst="roundRect">
              <a:avLst>
                <a:gd name="adj" fmla="val 11428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4" name="群組 13"/>
            <p:cNvGrpSpPr/>
            <p:nvPr/>
          </p:nvGrpSpPr>
          <p:grpSpPr>
            <a:xfrm>
              <a:off x="4322834" y="4926565"/>
              <a:ext cx="3546331" cy="243370"/>
              <a:chOff x="3833330" y="4908352"/>
              <a:chExt cx="3546331" cy="243370"/>
            </a:xfrm>
          </p:grpSpPr>
          <p:sp>
            <p:nvSpPr>
              <p:cNvPr id="15" name="TextBox 10"/>
              <p:cNvSpPr txBox="1"/>
              <p:nvPr/>
            </p:nvSpPr>
            <p:spPr>
              <a:xfrm>
                <a:off x="3897939" y="4943475"/>
                <a:ext cx="3481722" cy="173124"/>
              </a:xfrm>
              <a:prstGeom prst="rect">
                <a:avLst/>
              </a:prstGeom>
              <a:noFill/>
            </p:spPr>
            <p:txBody>
              <a:bodyPr wrap="none" lIns="190500" tIns="0" rIns="0" bIns="0" anchor="t">
                <a:spAutoFit/>
              </a:bodyPr>
              <a:lstStyle/>
              <a:p>
                <a:pPr algn="ctr"/>
                <a:r>
                  <a:rPr lang="en-US" altLang="zh-TW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Phase9_</a:t>
                </a:r>
                <a:r>
                  <a:rPr lang="zh-TW" altLang="en-US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通道與</a:t>
                </a:r>
                <a:r>
                  <a:rPr lang="en-US" altLang="zh-TW" sz="1125" b="1" dirty="0" err="1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denoise</a:t>
                </a:r>
                <a:r>
                  <a:rPr lang="zh-TW" altLang="en-US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最終決策分析</a:t>
                </a:r>
                <a:r>
                  <a:rPr lang="en-US" altLang="zh-TW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_</a:t>
                </a:r>
                <a:r>
                  <a:rPr lang="zh-TW" altLang="en-US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複核版</a:t>
                </a:r>
                <a:r>
                  <a:rPr lang="en-US" altLang="zh-TW" sz="1125" b="1" dirty="0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.</a:t>
                </a:r>
                <a:r>
                  <a:rPr lang="en-US" altLang="zh-TW" sz="1125" b="1" dirty="0" err="1">
                    <a:solidFill>
                      <a:srgbClr val="1F7244"/>
                    </a:solidFill>
                    <a:latin typeface="微軟正黑體" panose="020B0604030504040204" pitchFamily="34" charset="-120"/>
                  </a:rPr>
                  <a:t>xlsx</a:t>
                </a:r>
                <a:endParaRPr sz="1125" b="1" dirty="0">
                  <a:solidFill>
                    <a:srgbClr val="1F7244"/>
                  </a:solidFill>
                  <a:latin typeface="微軟正黑體" panose="020B0604030504040204" pitchFamily="34" charset="-120"/>
                </a:endParaRPr>
              </a:p>
            </p:txBody>
          </p:sp>
          <p:pic>
            <p:nvPicPr>
              <p:cNvPr id="16" name="Picture 5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33330" y="4908352"/>
                <a:ext cx="243370" cy="24337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2304162"/>
              </p:ext>
            </p:extLst>
          </p:nvPr>
        </p:nvGraphicFramePr>
        <p:xfrm>
          <a:off x="-1" y="0"/>
          <a:ext cx="5777023" cy="360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2670448"/>
              </p:ext>
            </p:extLst>
          </p:nvPr>
        </p:nvGraphicFramePr>
        <p:xfrm>
          <a:off x="6796800" y="0"/>
          <a:ext cx="5400000" cy="36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6048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90441" cy="6858000"/>
          </a:xfrm>
          <a:prstGeom prst="rect">
            <a:avLst/>
          </a:prstGeom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680893"/>
              </p:ext>
            </p:extLst>
          </p:nvPr>
        </p:nvGraphicFramePr>
        <p:xfrm>
          <a:off x="3190441" y="1"/>
          <a:ext cx="5754676" cy="36850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38759">
                  <a:extLst>
                    <a:ext uri="{9D8B030D-6E8A-4147-A177-3AD203B41FA5}">
                      <a16:colId xmlns:a16="http://schemas.microsoft.com/office/drawing/2014/main" val="3817689725"/>
                    </a:ext>
                  </a:extLst>
                </a:gridCol>
                <a:gridCol w="1038579">
                  <a:extLst>
                    <a:ext uri="{9D8B030D-6E8A-4147-A177-3AD203B41FA5}">
                      <a16:colId xmlns:a16="http://schemas.microsoft.com/office/drawing/2014/main" val="2489884524"/>
                    </a:ext>
                  </a:extLst>
                </a:gridCol>
                <a:gridCol w="1076733">
                  <a:extLst>
                    <a:ext uri="{9D8B030D-6E8A-4147-A177-3AD203B41FA5}">
                      <a16:colId xmlns:a16="http://schemas.microsoft.com/office/drawing/2014/main" val="3332132754"/>
                    </a:ext>
                  </a:extLst>
                </a:gridCol>
                <a:gridCol w="1800605">
                  <a:extLst>
                    <a:ext uri="{9D8B030D-6E8A-4147-A177-3AD203B41FA5}">
                      <a16:colId xmlns:a16="http://schemas.microsoft.com/office/drawing/2014/main" val="3549084589"/>
                    </a:ext>
                  </a:extLst>
                </a:gridCol>
              </a:tblGrid>
              <a:tr h="61417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 smtClean="0">
                          <a:effectLst/>
                        </a:rPr>
                        <a:t>評估指標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 smtClean="0">
                          <a:effectLst/>
                        </a:rPr>
                        <a:t>原始方法</a:t>
                      </a:r>
                      <a:endParaRPr lang="en-US" altLang="zh-TW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>
                          <a:effectLst/>
                        </a:rPr>
                        <a:t>優</a:t>
                      </a:r>
                      <a:r>
                        <a:rPr lang="zh-TW" altLang="en-US" sz="1100" u="none" strike="noStrike" kern="1200" dirty="0" smtClean="0">
                          <a:effectLst/>
                        </a:rPr>
                        <a:t>化方法</a:t>
                      </a:r>
                      <a:endParaRPr lang="en-US" altLang="zh-TW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>
                          <a:effectLst/>
                        </a:rPr>
                        <a:t>差異</a:t>
                      </a:r>
                      <a:r>
                        <a:rPr lang="zh-TW" altLang="en-US" sz="1100" u="none" strike="noStrike" kern="1200" dirty="0" smtClean="0">
                          <a:effectLst/>
                        </a:rPr>
                        <a:t>與效益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extLst>
                  <a:ext uri="{0D108BD9-81ED-4DB2-BD59-A6C34878D82A}">
                    <a16:rowId xmlns:a16="http://schemas.microsoft.com/office/drawing/2014/main" val="3563193521"/>
                  </a:ext>
                </a:extLst>
              </a:tr>
              <a:tr h="61417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 smtClean="0">
                          <a:effectLst/>
                        </a:rPr>
                        <a:t>OCR 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辨識</a:t>
                      </a:r>
                      <a:r>
                        <a:rPr lang="zh-TW" altLang="en-US" sz="1100" u="none" strike="noStrike" kern="1200" dirty="0" smtClean="0">
                          <a:effectLst/>
                        </a:rPr>
                        <a:t>數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effectLst/>
                        </a:rPr>
                        <a:t>2,569 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筆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effectLst/>
                        </a:rPr>
                        <a:t>2,569 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筆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dirty="0" smtClean="0"/>
                        <a:t>控制變因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extLst>
                  <a:ext uri="{0D108BD9-81ED-4DB2-BD59-A6C34878D82A}">
                    <a16:rowId xmlns:a16="http://schemas.microsoft.com/office/drawing/2014/main" val="838332705"/>
                  </a:ext>
                </a:extLst>
              </a:tr>
              <a:tr h="61417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>
                          <a:effectLst/>
                        </a:rPr>
                        <a:t>去重</a:t>
                      </a:r>
                      <a:r>
                        <a:rPr lang="zh-TW" altLang="en-US" sz="1100" u="none" strike="noStrike" kern="1200" dirty="0" smtClean="0">
                          <a:effectLst/>
                        </a:rPr>
                        <a:t>後字數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effectLst/>
                        </a:rPr>
                        <a:t>2,443 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筆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effectLst/>
                        </a:rPr>
                        <a:t>225 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筆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 smtClean="0">
                          <a:effectLst/>
                        </a:rPr>
                        <a:t>下降↓ </a:t>
                      </a:r>
                      <a:r>
                        <a:rPr lang="en-US" altLang="zh-TW" sz="1100" u="none" strike="noStrike" kern="1200" dirty="0">
                          <a:effectLst/>
                        </a:rPr>
                        <a:t>90.8</a:t>
                      </a:r>
                      <a:r>
                        <a:rPr lang="en-US" altLang="zh-TW" sz="1100" u="none" strike="noStrike" kern="1200" dirty="0" smtClean="0">
                          <a:effectLst/>
                        </a:rPr>
                        <a:t>%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extLst>
                  <a:ext uri="{0D108BD9-81ED-4DB2-BD59-A6C34878D82A}">
                    <a16:rowId xmlns:a16="http://schemas.microsoft.com/office/drawing/2014/main" val="3960530793"/>
                  </a:ext>
                </a:extLst>
              </a:tr>
              <a:tr h="61417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 smtClean="0">
                          <a:effectLst/>
                        </a:rPr>
                        <a:t>輸入壓縮率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effectLst/>
                        </a:rPr>
                        <a:t>4.90%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effectLst/>
                        </a:rPr>
                        <a:t>91.24%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 smtClean="0">
                          <a:effectLst/>
                        </a:rPr>
                        <a:t>提升↑ </a:t>
                      </a:r>
                      <a:r>
                        <a:rPr lang="en-US" altLang="zh-TW" sz="1100" u="none" strike="noStrike" kern="1200" dirty="0" smtClean="0">
                          <a:effectLst/>
                        </a:rPr>
                        <a:t>+86.34%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extLst>
                  <a:ext uri="{0D108BD9-81ED-4DB2-BD59-A6C34878D82A}">
                    <a16:rowId xmlns:a16="http://schemas.microsoft.com/office/drawing/2014/main" val="2106903845"/>
                  </a:ext>
                </a:extLst>
              </a:tr>
              <a:tr h="61417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effectLst/>
                        </a:rPr>
                        <a:t>0 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秒碎片佔</a:t>
                      </a:r>
                      <a:r>
                        <a:rPr lang="zh-TW" altLang="en-US" sz="1100" u="none" strike="noStrike" kern="1200" dirty="0" smtClean="0">
                          <a:effectLst/>
                        </a:rPr>
                        <a:t>比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effectLst/>
                        </a:rPr>
                        <a:t>99.18</a:t>
                      </a:r>
                      <a:r>
                        <a:rPr lang="en-US" altLang="zh-TW" sz="1100" u="none" strike="noStrike" kern="1200" dirty="0" smtClean="0">
                          <a:effectLst/>
                        </a:rPr>
                        <a:t>%</a:t>
                      </a:r>
                    </a:p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 smtClean="0">
                          <a:effectLst/>
                        </a:rPr>
                        <a:t>(</a:t>
                      </a:r>
                      <a:r>
                        <a:rPr lang="en-US" altLang="zh-TW" sz="1100" u="none" strike="noStrike" kern="1200" dirty="0">
                          <a:effectLst/>
                        </a:rPr>
                        <a:t>2,424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筆</a:t>
                      </a:r>
                      <a:r>
                        <a:rPr lang="en-US" altLang="zh-TW" sz="1100" u="none" strike="noStrike" kern="1200" dirty="0">
                          <a:effectLst/>
                        </a:rPr>
                        <a:t>)</a:t>
                      </a:r>
                      <a:endParaRPr lang="en-US" altLang="zh-TW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effectLst/>
                        </a:rPr>
                        <a:t>16.44</a:t>
                      </a:r>
                      <a:r>
                        <a:rPr lang="en-US" altLang="zh-TW" sz="1100" u="none" strike="noStrike" kern="1200" dirty="0" smtClean="0">
                          <a:effectLst/>
                        </a:rPr>
                        <a:t>%</a:t>
                      </a:r>
                    </a:p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 smtClean="0">
                          <a:effectLst/>
                        </a:rPr>
                        <a:t>(</a:t>
                      </a:r>
                      <a:r>
                        <a:rPr lang="en-US" altLang="zh-TW" sz="1100" u="none" strike="noStrike" kern="1200" dirty="0">
                          <a:effectLst/>
                        </a:rPr>
                        <a:t>37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筆</a:t>
                      </a:r>
                      <a:r>
                        <a:rPr lang="en-US" altLang="zh-TW" sz="1100" u="none" strike="noStrike" kern="1200" dirty="0">
                          <a:effectLst/>
                        </a:rPr>
                        <a:t>)</a:t>
                      </a:r>
                      <a:endParaRPr lang="en-US" altLang="zh-TW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 smtClean="0">
                          <a:effectLst/>
                        </a:rPr>
                        <a:t>下降↓ </a:t>
                      </a:r>
                      <a:r>
                        <a:rPr lang="en-US" altLang="zh-TW" sz="1100" u="none" strike="noStrike" kern="1200" dirty="0" smtClean="0">
                          <a:effectLst/>
                        </a:rPr>
                        <a:t>82.74%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extLst>
                  <a:ext uri="{0D108BD9-81ED-4DB2-BD59-A6C34878D82A}">
                    <a16:rowId xmlns:a16="http://schemas.microsoft.com/office/drawing/2014/main" val="2422456151"/>
                  </a:ext>
                </a:extLst>
              </a:tr>
              <a:tr h="61417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it-IT" sz="1100" u="none" strike="noStrike" kern="1200" dirty="0" smtClean="0">
                          <a:effectLst/>
                        </a:rPr>
                        <a:t>多影格有效聚合率</a:t>
                      </a:r>
                      <a:endParaRPr lang="it-IT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effectLst/>
                        </a:rPr>
                        <a:t>0.78%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 </a:t>
                      </a:r>
                      <a:r>
                        <a:rPr lang="en-US" altLang="zh-TW" sz="1100" u="none" strike="noStrike" kern="1200" dirty="0">
                          <a:effectLst/>
                        </a:rPr>
                        <a:t>(19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筆</a:t>
                      </a:r>
                      <a:r>
                        <a:rPr lang="en-US" altLang="zh-TW" sz="1100" u="none" strike="noStrike" kern="1200" dirty="0">
                          <a:effectLst/>
                        </a:rPr>
                        <a:t>)</a:t>
                      </a:r>
                      <a:endParaRPr lang="en-US" altLang="zh-TW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altLang="zh-TW" sz="1100" u="none" strike="noStrike" kern="1200" dirty="0">
                          <a:effectLst/>
                        </a:rPr>
                        <a:t>83.56%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 </a:t>
                      </a:r>
                      <a:r>
                        <a:rPr lang="en-US" altLang="zh-TW" sz="1100" u="none" strike="noStrike" kern="1200" dirty="0">
                          <a:effectLst/>
                        </a:rPr>
                        <a:t>(188</a:t>
                      </a:r>
                      <a:r>
                        <a:rPr lang="zh-TW" altLang="en-US" sz="1100" u="none" strike="noStrike" kern="1200" dirty="0">
                          <a:effectLst/>
                        </a:rPr>
                        <a:t>筆</a:t>
                      </a:r>
                      <a:r>
                        <a:rPr lang="en-US" altLang="zh-TW" sz="1100" u="none" strike="noStrike" kern="1200" dirty="0">
                          <a:effectLst/>
                        </a:rPr>
                        <a:t>)</a:t>
                      </a:r>
                      <a:endParaRPr lang="en-US" altLang="zh-TW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100" u="none" strike="noStrike" kern="1200" dirty="0" smtClean="0">
                          <a:effectLst/>
                        </a:rPr>
                        <a:t>提升↑ </a:t>
                      </a:r>
                      <a:r>
                        <a:rPr lang="en-US" altLang="zh-TW" sz="1100" u="none" strike="noStrike" kern="1200" dirty="0" smtClean="0">
                          <a:effectLst/>
                        </a:rPr>
                        <a:t>82.78%</a:t>
                      </a:r>
                      <a:endParaRPr lang="zh-TW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404" marR="65404" marT="32702" marB="32702" anchor="ctr"/>
                </a:tc>
                <a:extLst>
                  <a:ext uri="{0D108BD9-81ED-4DB2-BD59-A6C34878D82A}">
                    <a16:rowId xmlns:a16="http://schemas.microsoft.com/office/drawing/2014/main" val="1770883837"/>
                  </a:ext>
                </a:extLst>
              </a:tr>
            </a:tbl>
          </a:graphicData>
        </a:graphic>
      </p:graphicFrame>
      <p:grpSp>
        <p:nvGrpSpPr>
          <p:cNvPr id="31" name="群組 30"/>
          <p:cNvGrpSpPr/>
          <p:nvPr/>
        </p:nvGrpSpPr>
        <p:grpSpPr>
          <a:xfrm>
            <a:off x="9001558" y="1"/>
            <a:ext cx="3190442" cy="6858000"/>
            <a:chOff x="8945114" y="1"/>
            <a:chExt cx="3190442" cy="6858000"/>
          </a:xfrm>
        </p:grpSpPr>
        <p:grpSp>
          <p:nvGrpSpPr>
            <p:cNvPr id="30" name="群組 29"/>
            <p:cNvGrpSpPr/>
            <p:nvPr/>
          </p:nvGrpSpPr>
          <p:grpSpPr>
            <a:xfrm>
              <a:off x="8945114" y="1"/>
              <a:ext cx="3190442" cy="6858000"/>
              <a:chOff x="8945114" y="1"/>
              <a:chExt cx="3190442" cy="6858000"/>
            </a:xfrm>
          </p:grpSpPr>
          <p:grpSp>
            <p:nvGrpSpPr>
              <p:cNvPr id="26" name="群組 25"/>
              <p:cNvGrpSpPr/>
              <p:nvPr/>
            </p:nvGrpSpPr>
            <p:grpSpPr>
              <a:xfrm>
                <a:off x="8945114" y="1"/>
                <a:ext cx="3190442" cy="6858000"/>
                <a:chOff x="-1" y="0"/>
                <a:chExt cx="3190442" cy="5392263"/>
              </a:xfrm>
            </p:grpSpPr>
            <p:pic>
              <p:nvPicPr>
                <p:cNvPr id="24" name="圖片 23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545028"/>
                  <a:ext cx="3190441" cy="4847235"/>
                </a:xfrm>
                <a:prstGeom prst="rect">
                  <a:avLst/>
                </a:prstGeom>
              </p:spPr>
            </p:pic>
            <p:sp>
              <p:nvSpPr>
                <p:cNvPr id="25" name="文字方塊 24"/>
                <p:cNvSpPr txBox="1"/>
                <p:nvPr/>
              </p:nvSpPr>
              <p:spPr>
                <a:xfrm>
                  <a:off x="-1" y="0"/>
                  <a:ext cx="3190441" cy="266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TW" altLang="en-US" sz="1600" dirty="0" smtClean="0"/>
                    <a:t>優化方案</a:t>
                  </a:r>
                  <a:endParaRPr lang="zh-TW" altLang="en-US" sz="1600" dirty="0"/>
                </a:p>
              </p:txBody>
            </p:sp>
          </p:grpSp>
          <p:sp>
            <p:nvSpPr>
              <p:cNvPr id="29" name="矩形 28"/>
              <p:cNvSpPr/>
              <p:nvPr/>
            </p:nvSpPr>
            <p:spPr>
              <a:xfrm>
                <a:off x="10170766" y="2456689"/>
                <a:ext cx="674399" cy="231266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7" name="文字方塊 26"/>
            <p:cNvSpPr txBox="1"/>
            <p:nvPr/>
          </p:nvSpPr>
          <p:spPr>
            <a:xfrm>
              <a:off x="9856072" y="2384800"/>
              <a:ext cx="13037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1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資料庫</a:t>
              </a:r>
              <a:r>
                <a:rPr lang="zh-TW" altLang="en-US" sz="1100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檢索</a:t>
              </a:r>
              <a:endPara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71597"/>
              </p:ext>
            </p:extLst>
          </p:nvPr>
        </p:nvGraphicFramePr>
        <p:xfrm>
          <a:off x="3190441" y="3685032"/>
          <a:ext cx="5754676" cy="317296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754676">
                  <a:extLst>
                    <a:ext uri="{9D8B030D-6E8A-4147-A177-3AD203B41FA5}">
                      <a16:colId xmlns:a16="http://schemas.microsoft.com/office/drawing/2014/main" val="4050833506"/>
                    </a:ext>
                  </a:extLst>
                </a:gridCol>
              </a:tblGrid>
              <a:tr h="723305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結論</a:t>
                      </a:r>
                      <a:endParaRPr lang="zh-TW" altLang="en-US" sz="1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00184518"/>
                  </a:ext>
                </a:extLst>
              </a:tr>
              <a:tr h="2449662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基於狀態表與時間窗機制，成功提供了乾淨、連續且具備精確時間戳記的結構化語料。</a:t>
                      </a:r>
                      <a:endParaRPr lang="en-US" altLang="zh-TW" sz="11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49637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49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90712"/>
            <a:ext cx="1704975" cy="276225"/>
          </a:xfrm>
          <a:prstGeom prst="roundRect">
            <a:avLst>
              <a:gd name="adj" fmla="val 1379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376612"/>
            <a:ext cx="340355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3376612"/>
            <a:ext cx="340355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3376612"/>
            <a:ext cx="340355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6300" y="1947862"/>
            <a:ext cx="15716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NLP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95537"/>
            <a:ext cx="384720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多通道競爭與實證留存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681412"/>
            <a:ext cx="85279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CHANNEL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995737"/>
            <a:ext cx="1904367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傳統引擎＋本地字典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433887"/>
            <a:ext cx="190436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追求極致穩定與低延遲。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8950" y="3681412"/>
            <a:ext cx="85279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CHANNEL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8950" y="3995737"/>
            <a:ext cx="133049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 單軌處理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8950" y="4433887"/>
            <a:ext cx="190436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測試一站式擴充可行性。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3681412"/>
            <a:ext cx="149079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CHANNEL 03 (HYBRID)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100" y="3995737"/>
            <a:ext cx="1769459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混合 Fallback 架構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100" y="4433887"/>
            <a:ext cx="190436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以大模型挽回未登錄詞。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3512875" y="3349406"/>
            <a:ext cx="41444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TW" altLang="en-US" sz="36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✔</a:t>
            </a:r>
          </a:p>
        </p:txBody>
      </p:sp>
      <p:sp>
        <p:nvSpPr>
          <p:cNvPr id="19" name="文字方塊 18"/>
          <p:cNvSpPr txBox="1"/>
          <p:nvPr/>
        </p:nvSpPr>
        <p:spPr>
          <a:xfrm>
            <a:off x="7006802" y="3381672"/>
            <a:ext cx="421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❌</a:t>
            </a:r>
            <a:endParaRPr lang="zh-TW" altLang="en-US" sz="24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0638952" y="3381672"/>
            <a:ext cx="421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❌</a:t>
            </a:r>
            <a:endParaRPr lang="zh-TW" altLang="en-US" sz="24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640" y="0"/>
            <a:ext cx="5986360" cy="171878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640" y="1718788"/>
            <a:ext cx="5986360" cy="234331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222" y="4062102"/>
            <a:ext cx="7854777" cy="279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6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6049943"/>
                  </p:ext>
                </p:extLst>
              </p:nvPr>
            </p:nvGraphicFramePr>
            <p:xfrm>
              <a:off x="1936800" y="92099"/>
              <a:ext cx="7128000" cy="3108302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7128000">
                      <a:extLst>
                        <a:ext uri="{9D8B030D-6E8A-4147-A177-3AD203B41FA5}">
                          <a16:colId xmlns:a16="http://schemas.microsoft.com/office/drawing/2014/main" val="3358542588"/>
                        </a:ext>
                      </a:extLst>
                    </a:gridCol>
                  </a:tblGrid>
                  <a:tr h="708564"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zh-TW" altLang="en-US" sz="1400" b="1" u="none" strike="noStrike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結論</a:t>
                          </a:r>
                          <a:endParaRPr lang="zh-TW" altLang="en-US" sz="1400" b="1" u="none" strike="noStrike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607136948"/>
                      </a:ext>
                    </a:extLst>
                  </a:tr>
                  <a:tr h="2399738"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100" u="none" strike="noStrike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在專案標準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sz="1100" i="1" u="none" strike="noStrike" kern="120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1100" i="1" u="none" strike="noStrike" kern="120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總耗時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zh-TW" altLang="en-US" sz="1100" u="none" strike="noStrike" kern="1200" dirty="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影片時長</m:t>
                                  </m:r>
                                </m:den>
                              </m:f>
                            </m:oMath>
                          </a14:m>
                          <a:r>
                            <a:rPr lang="zh-TW" altLang="en-US" sz="1100" u="none" strike="noStrike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zh-TW" sz="1100" u="none" strike="noStrike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&lt;=</a:t>
                          </a:r>
                          <a:r>
                            <a:rPr lang="zh-TW" altLang="en-US" sz="1100" u="none" strike="noStrike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altLang="zh-TW" sz="1100" u="none" strike="noStrike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1.0</a:t>
                          </a:r>
                          <a:r>
                            <a:rPr lang="zh-TW" altLang="en-US" sz="1100" u="none" strike="noStrike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的標準與系統穩健性的標準下，</a:t>
                          </a:r>
                          <a:r>
                            <a:rPr lang="en-US" altLang="zh-TW" sz="1100" dirty="0" smtClean="0"/>
                            <a:t>Channel 2</a:t>
                          </a:r>
                          <a:r>
                            <a:rPr lang="zh-TW" altLang="en-US" sz="1100" dirty="0" smtClean="0"/>
                            <a:t>（</a:t>
                          </a:r>
                          <a:r>
                            <a:rPr lang="en-US" altLang="zh-TW" sz="1100" dirty="0" smtClean="0"/>
                            <a:t>LLM</a:t>
                          </a:r>
                          <a:r>
                            <a:rPr lang="zh-TW" altLang="en-US" sz="1100" dirty="0" smtClean="0"/>
                            <a:t>） 首先被淘汰。</a:t>
                          </a:r>
                          <a:endParaRPr lang="en-US" altLang="zh-TW" sz="1100" dirty="0" smtClean="0"/>
                        </a:p>
                        <a:p>
                          <a:pPr marL="0" marR="0" indent="0" algn="ctr" defTabSz="4572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100" dirty="0" smtClean="0"/>
                            <a:t>其次，</a:t>
                          </a:r>
                          <a:r>
                            <a:rPr lang="en-US" altLang="zh-TW" sz="1100" dirty="0" smtClean="0"/>
                            <a:t>Channel</a:t>
                          </a:r>
                          <a:r>
                            <a:rPr lang="zh-TW" altLang="en-US" sz="1100" dirty="0" smtClean="0"/>
                            <a:t> </a:t>
                          </a:r>
                          <a:r>
                            <a:rPr lang="en-US" altLang="zh-TW" sz="1100" dirty="0" smtClean="0"/>
                            <a:t>3</a:t>
                          </a:r>
                          <a:r>
                            <a:rPr lang="zh-TW" altLang="en-US" sz="1100" dirty="0" smtClean="0"/>
                            <a:t>（混合架構）之邊際效益低，數倍時間成本換取不到 </a:t>
                          </a:r>
                          <a:r>
                            <a:rPr lang="en-US" altLang="zh-TW" sz="1100" dirty="0" smtClean="0"/>
                            <a:t>1%</a:t>
                          </a:r>
                          <a:r>
                            <a:rPr lang="zh-TW" altLang="en-US" sz="1100" dirty="0" smtClean="0"/>
                            <a:t> 精度提升。</a:t>
                          </a:r>
                          <a:endParaRPr lang="en-US" altLang="zh-TW" sz="1100" dirty="0" smtClean="0"/>
                        </a:p>
                        <a:p>
                          <a:pPr marL="0" marR="0" indent="0" algn="ctr" defTabSz="4572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100" dirty="0" smtClean="0"/>
                            <a:t>Channel</a:t>
                          </a:r>
                          <a:r>
                            <a:rPr lang="zh-TW" altLang="en-US" sz="1100" dirty="0" smtClean="0"/>
                            <a:t> </a:t>
                          </a:r>
                          <a:r>
                            <a:rPr lang="en-US" altLang="zh-TW" sz="1100" dirty="0" smtClean="0"/>
                            <a:t>1</a:t>
                          </a:r>
                          <a:r>
                            <a:rPr lang="zh-TW" altLang="en-US" sz="1100" dirty="0" smtClean="0"/>
                            <a:t>（本地索引）成為首選，在此之上又為</a:t>
                          </a:r>
                          <a:r>
                            <a:rPr lang="en-US" altLang="zh-TW" sz="1100" dirty="0" err="1" smtClean="0"/>
                            <a:t>Komoran</a:t>
                          </a:r>
                          <a:r>
                            <a:rPr lang="zh-TW" altLang="en-US" sz="1100" dirty="0" smtClean="0"/>
                            <a:t>引擎之精度最高。</a:t>
                          </a:r>
                          <a:endParaRPr lang="en-US" altLang="zh-TW" sz="1100" dirty="0" smtClean="0"/>
                        </a:p>
                        <a:p>
                          <a:pPr marL="0" marR="0" indent="0" algn="ctr" defTabSz="4572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100" dirty="0" smtClean="0"/>
                        </a:p>
                        <a:p>
                          <a:pPr marL="0" marR="0" indent="0" algn="ctr" defTabSz="4572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100" u="none" strike="noStrike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901361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6049943"/>
                  </p:ext>
                </p:extLst>
              </p:nvPr>
            </p:nvGraphicFramePr>
            <p:xfrm>
              <a:off x="1936800" y="92099"/>
              <a:ext cx="7128000" cy="3108302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7128000">
                      <a:extLst>
                        <a:ext uri="{9D8B030D-6E8A-4147-A177-3AD203B41FA5}">
                          <a16:colId xmlns:a16="http://schemas.microsoft.com/office/drawing/2014/main" val="3358542588"/>
                        </a:ext>
                      </a:extLst>
                    </a:gridCol>
                  </a:tblGrid>
                  <a:tr h="708564"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zh-TW" altLang="en-US" sz="1400" b="1" u="none" strike="noStrike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結論</a:t>
                          </a:r>
                          <a:endParaRPr lang="zh-TW" altLang="en-US" sz="1400" b="1" u="none" strike="noStrike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607136948"/>
                      </a:ext>
                    </a:extLst>
                  </a:tr>
                  <a:tr h="239973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85" t="-29620" r="-342" b="-5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13610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圖表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2428774"/>
              </p:ext>
            </p:extLst>
          </p:nvPr>
        </p:nvGraphicFramePr>
        <p:xfrm>
          <a:off x="6093807" y="3253029"/>
          <a:ext cx="6098193" cy="36115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圖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8254865"/>
              </p:ext>
            </p:extLst>
          </p:nvPr>
        </p:nvGraphicFramePr>
        <p:xfrm>
          <a:off x="0" y="3200401"/>
          <a:ext cx="5745600" cy="3664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366921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419" y="1957837"/>
            <a:ext cx="8671163" cy="5780775"/>
          </a:xfrm>
          <a:prstGeom prst="rect">
            <a:avLst/>
          </a:prstGeom>
        </p:spPr>
      </p:pic>
      <p:grpSp>
        <p:nvGrpSpPr>
          <p:cNvPr id="16" name="群組 15"/>
          <p:cNvGrpSpPr/>
          <p:nvPr/>
        </p:nvGrpSpPr>
        <p:grpSpPr>
          <a:xfrm>
            <a:off x="7861935" y="2552687"/>
            <a:ext cx="2324398" cy="479941"/>
            <a:chOff x="762000" y="3881437"/>
            <a:chExt cx="2324398" cy="479941"/>
          </a:xfrm>
        </p:grpSpPr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" y="3914775"/>
              <a:ext cx="171450" cy="20002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085850" y="3881437"/>
              <a:ext cx="1423467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1" i="0" u="none" dirty="0">
                  <a:solidFill>
                    <a:srgbClr val="0F172A"/>
                  </a:solidFill>
                  <a:latin typeface="微軟正黑體" panose="020B0604030504040204" pitchFamily="34" charset="-120"/>
                </a:rPr>
                <a:t>SQLite </a:t>
              </a:r>
              <a:r>
                <a:rPr sz="1500" b="1" i="0" u="none" dirty="0" err="1">
                  <a:solidFill>
                    <a:srgbClr val="0F172A"/>
                  </a:solidFill>
                  <a:latin typeface="微軟正黑體" panose="020B0604030504040204" pitchFamily="34" charset="-120"/>
                </a:rPr>
                <a:t>狀態管理</a:t>
              </a:r>
              <a:endParaRPr sz="1500" b="1" i="0" u="none" dirty="0">
                <a:solidFill>
                  <a:srgbClr val="0F172A"/>
                </a:solidFill>
                <a:latin typeface="微軟正黑體" panose="020B0604030504040204" pitchFamily="34" charset="-12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85850" y="4176712"/>
              <a:ext cx="2000548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0" i="0" u="none" dirty="0" err="1">
                  <a:solidFill>
                    <a:srgbClr val="475569"/>
                  </a:solidFill>
                  <a:latin typeface="微軟正黑體" panose="020B0604030504040204" pitchFamily="34" charset="-120"/>
                </a:rPr>
                <a:t>非同步的底層任務追蹤機制</a:t>
              </a:r>
              <a:r>
                <a:rPr sz="1200" b="0" i="0" u="none" dirty="0">
                  <a:solidFill>
                    <a:srgbClr val="475569"/>
                  </a:solidFill>
                  <a:latin typeface="微軟正黑體" panose="020B0604030504040204" pitchFamily="34" charset="-120"/>
                </a:rPr>
                <a:t>。</a:t>
              </a:r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434340" y="665336"/>
            <a:ext cx="4503420" cy="696104"/>
          </a:xfrm>
          <a:prstGeom prst="roundRect">
            <a:avLst>
              <a:gd name="adj" fmla="val 1379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2942" y="745330"/>
            <a:ext cx="153888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zh-TW" altLang="en-US" sz="3000" b="1" dirty="0" smtClean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串接架構</a:t>
            </a:r>
            <a:endParaRPr sz="300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5031661" y="2550002"/>
            <a:ext cx="2779914" cy="479941"/>
            <a:chOff x="762000" y="3148012"/>
            <a:chExt cx="2779914" cy="479941"/>
          </a:xfrm>
        </p:grpSpPr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0" y="3181350"/>
              <a:ext cx="190500" cy="20002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104900" y="3148012"/>
              <a:ext cx="1311578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1" i="0" u="none" dirty="0" err="1">
                  <a:solidFill>
                    <a:srgbClr val="0F172A"/>
                  </a:solidFill>
                  <a:latin typeface="微軟正黑體" panose="020B0604030504040204" pitchFamily="34" charset="-120"/>
                </a:rPr>
                <a:t>FastAPI</a:t>
              </a:r>
              <a:r>
                <a:rPr sz="1500" b="1" i="0" u="none" dirty="0">
                  <a:solidFill>
                    <a:srgbClr val="0F172A"/>
                  </a:solidFill>
                  <a:latin typeface="微軟正黑體" panose="020B0604030504040204" pitchFamily="34" charset="-120"/>
                </a:rPr>
                <a:t> </a:t>
              </a:r>
              <a:r>
                <a:rPr sz="1500" b="1" i="0" u="none" dirty="0" err="1">
                  <a:solidFill>
                    <a:srgbClr val="0F172A"/>
                  </a:solidFill>
                  <a:latin typeface="微軟正黑體" panose="020B0604030504040204" pitchFamily="34" charset="-120"/>
                </a:rPr>
                <a:t>中介層</a:t>
              </a:r>
              <a:endParaRPr sz="1500" b="1" i="0" u="none" dirty="0">
                <a:solidFill>
                  <a:srgbClr val="0F172A"/>
                </a:solidFill>
                <a:latin typeface="微軟正黑體" panose="020B0604030504040204" pitchFamily="34" charset="-12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04900" y="3443287"/>
              <a:ext cx="243701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0" i="0" u="none" dirty="0" err="1">
                  <a:solidFill>
                    <a:srgbClr val="475569"/>
                  </a:solidFill>
                  <a:latin typeface="微軟正黑體" panose="020B0604030504040204" pitchFamily="34" charset="-120"/>
                </a:rPr>
                <a:t>串接</a:t>
              </a:r>
              <a:r>
                <a:rPr sz="1200" b="0" i="0" u="none" dirty="0">
                  <a:solidFill>
                    <a:srgbClr val="475569"/>
                  </a:solidFill>
                  <a:latin typeface="微軟正黑體" panose="020B0604030504040204" pitchFamily="34" charset="-120"/>
                </a:rPr>
                <a:t> Python </a:t>
              </a:r>
              <a:r>
                <a:rPr sz="1200" b="0" i="0" u="none" dirty="0" err="1">
                  <a:solidFill>
                    <a:srgbClr val="475569"/>
                  </a:solidFill>
                  <a:latin typeface="微軟正黑體" panose="020B0604030504040204" pitchFamily="34" charset="-120"/>
                </a:rPr>
                <a:t>核心運算與前端介面</a:t>
              </a:r>
              <a:r>
                <a:rPr sz="1200" b="0" i="0" u="none" dirty="0">
                  <a:solidFill>
                    <a:srgbClr val="475569"/>
                  </a:solidFill>
                  <a:latin typeface="微軟正黑體" panose="020B0604030504040204" pitchFamily="34" charset="-120"/>
                </a:rPr>
                <a:t>。</a:t>
              </a: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2450386" y="2426176"/>
            <a:ext cx="2218134" cy="479941"/>
            <a:chOff x="762000" y="4614862"/>
            <a:chExt cx="2218134" cy="479941"/>
          </a:xfrm>
        </p:grpSpPr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2000" y="4648200"/>
              <a:ext cx="219075" cy="200025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133475" y="4614862"/>
              <a:ext cx="1115498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1" i="0" u="none" dirty="0">
                  <a:solidFill>
                    <a:srgbClr val="0F172A"/>
                  </a:solidFill>
                  <a:latin typeface="微軟正黑體" panose="020B0604030504040204" pitchFamily="34" charset="-120"/>
                </a:rPr>
                <a:t>Web UI </a:t>
              </a:r>
              <a:r>
                <a:rPr sz="1500" b="1" i="0" u="none" dirty="0" err="1">
                  <a:solidFill>
                    <a:srgbClr val="0F172A"/>
                  </a:solidFill>
                  <a:latin typeface="微軟正黑體" panose="020B0604030504040204" pitchFamily="34" charset="-120"/>
                </a:rPr>
                <a:t>介面</a:t>
              </a:r>
              <a:endParaRPr sz="1500" b="1" i="0" u="none" dirty="0">
                <a:solidFill>
                  <a:srgbClr val="0F172A"/>
                </a:solidFill>
                <a:latin typeface="微軟正黑體" panose="020B0604030504040204" pitchFamily="34" charset="-12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33475" y="4910137"/>
              <a:ext cx="1846659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0" i="0" u="none" dirty="0" err="1">
                  <a:solidFill>
                    <a:srgbClr val="475569"/>
                  </a:solidFill>
                  <a:latin typeface="微軟正黑體" panose="020B0604030504040204" pitchFamily="34" charset="-120"/>
                </a:rPr>
                <a:t>友善啟動並即時監控進度</a:t>
              </a:r>
              <a:r>
                <a:rPr sz="1200" b="0" i="0" u="none" dirty="0">
                  <a:solidFill>
                    <a:srgbClr val="475569"/>
                  </a:solidFill>
                  <a:latin typeface="微軟正黑體" panose="020B0604030504040204" pitchFamily="34" charset="-120"/>
                </a:rPr>
                <a:t>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1577" y="1983730"/>
            <a:ext cx="514884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EFF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SLA</a:t>
            </a:r>
            <a:r>
              <a:rPr lang="en-US" altLang="zh-TW" sz="2400" b="1" dirty="0">
                <a:solidFill>
                  <a:srgbClr val="EFF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(Service Level Agreement)</a:t>
            </a:r>
            <a:r>
              <a:rPr lang="en-US" sz="2400" b="1" dirty="0" smtClean="0">
                <a:solidFill>
                  <a:srgbClr val="EFF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solidFill>
                  <a:srgbClr val="EFF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閾</a:t>
            </a:r>
            <a:r>
              <a:rPr lang="zh-TW" altLang="en-US" sz="2400" b="1" dirty="0" smtClean="0">
                <a:solidFill>
                  <a:srgbClr val="EFF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值</a:t>
            </a:r>
            <a:endParaRPr sz="2400" b="1" i="0" u="none" dirty="0">
              <a:solidFill>
                <a:srgbClr val="EFF6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8355" y="2860030"/>
            <a:ext cx="7535140" cy="10002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sz="7800" b="1" i="0" u="none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sz="6500" b="1" i="0" u="none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process</a:t>
            </a:r>
            <a:r>
              <a:rPr sz="7800" b="1" i="0" u="none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≤ </a:t>
            </a:r>
            <a:r>
              <a:rPr sz="7800" b="1" i="0" u="none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sz="6500" b="1" i="0" u="none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video</a:t>
            </a:r>
            <a:endParaRPr sz="6500" b="1" i="0" u="none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81375" y="4264669"/>
            <a:ext cx="54292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EFF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系統處理總耗時，必須小於影片播放時長。</a:t>
            </a:r>
            <a: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  <a:t>
</a:t>
            </a:r>
            <a:r>
              <a:rPr sz="1800" b="0" i="0" u="none">
                <a:solidFill>
                  <a:srgbClr val="EFF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確保觀影結束即可立即複習。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7400" y="4330005"/>
            <a:ext cx="4572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85283" y="2499419"/>
            <a:ext cx="102143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B82F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928044"/>
            <a:ext cx="10001250" cy="551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由效能指標反向定義技術規格的成功實踐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878</Words>
  <Application>Microsoft Office PowerPoint</Application>
  <PresentationFormat>寬螢幕</PresentationFormat>
  <Paragraphs>368</Paragraphs>
  <Slides>19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微軟正黑體</vt:lpstr>
      <vt:lpstr>新細明體</vt:lpstr>
      <vt:lpstr>Arial</vt:lpstr>
      <vt:lpstr>Cambria Math</vt:lpstr>
      <vt:lpstr>Calibri</vt:lpstr>
      <vt:lpstr>微軟正黑體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Windows 使用者</cp:lastModifiedBy>
  <cp:revision>65</cp:revision>
  <dcterms:created xsi:type="dcterms:W3CDTF">2013-01-27T09:14:16Z</dcterms:created>
  <dcterms:modified xsi:type="dcterms:W3CDTF">2026-10-14T10:17:11Z</dcterms:modified>
  <cp:category/>
</cp:coreProperties>
</file>